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3" r:id="rId3"/>
    <p:sldId id="286" r:id="rId4"/>
    <p:sldId id="293" r:id="rId5"/>
    <p:sldId id="262" r:id="rId6"/>
    <p:sldId id="258" r:id="rId7"/>
    <p:sldId id="260" r:id="rId8"/>
    <p:sldId id="257" r:id="rId9"/>
    <p:sldId id="263" r:id="rId10"/>
    <p:sldId id="265" r:id="rId11"/>
    <p:sldId id="266" r:id="rId12"/>
    <p:sldId id="267" r:id="rId13"/>
    <p:sldId id="269" r:id="rId14"/>
    <p:sldId id="270" r:id="rId15"/>
    <p:sldId id="271" r:id="rId16"/>
    <p:sldId id="273" r:id="rId17"/>
    <p:sldId id="274" r:id="rId18"/>
    <p:sldId id="275" r:id="rId19"/>
    <p:sldId id="276" r:id="rId20"/>
    <p:sldId id="277" r:id="rId21"/>
    <p:sldId id="284" r:id="rId22"/>
    <p:sldId id="287" r:id="rId23"/>
    <p:sldId id="288" r:id="rId24"/>
    <p:sldId id="279" r:id="rId25"/>
    <p:sldId id="280" r:id="rId26"/>
    <p:sldId id="281" r:id="rId27"/>
    <p:sldId id="282" r:id="rId28"/>
    <p:sldId id="289" r:id="rId29"/>
    <p:sldId id="290" r:id="rId30"/>
    <p:sldId id="291"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B898"/>
    <a:srgbClr val="BD3D58"/>
    <a:srgbClr val="BE002E"/>
    <a:srgbClr val="2727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96"/>
    <p:restoredTop sz="71606"/>
  </p:normalViewPr>
  <p:slideViewPr>
    <p:cSldViewPr snapToGrid="0" snapToObjects="1">
      <p:cViewPr varScale="1">
        <p:scale>
          <a:sx n="72" d="100"/>
          <a:sy n="72" d="100"/>
        </p:scale>
        <p:origin x="3168" y="200"/>
      </p:cViewPr>
      <p:guideLst/>
    </p:cSldViewPr>
  </p:slideViewPr>
  <p:outlineViewPr>
    <p:cViewPr>
      <p:scale>
        <a:sx n="33" d="100"/>
        <a:sy n="33" d="100"/>
      </p:scale>
      <p:origin x="0" y="-1536"/>
    </p:cViewPr>
  </p:outlineViewPr>
  <p:notesTextViewPr>
    <p:cViewPr>
      <p:scale>
        <a:sx n="1" d="1"/>
        <a:sy n="1" d="1"/>
      </p:scale>
      <p:origin x="0" y="0"/>
    </p:cViewPr>
  </p:notesTextViewPr>
  <p:notesViewPr>
    <p:cSldViewPr snapToGrid="0" snapToObjects="1">
      <p:cViewPr varScale="1">
        <p:scale>
          <a:sx n="59" d="100"/>
          <a:sy n="59" d="100"/>
        </p:scale>
        <p:origin x="400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1685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with a calm promise: this is a workflow workshop, not a coding spectacle.
TALK TRACK
Today we will use AI to shorten the distance between an instructional idea and something students can actually use. The faculty member still supplies the purpose, expertise, and judgment.
TRANSITION
Introduce the recurring Ideate → Iterate → Implement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Help faculty understand RAG without turning the session into infrastructure training.
TALK TRACK
Retrieval means the model can work with material beyond the words in the current prompt. Build outward from project materials to a durable project record, then to connected sources when useful. Quality depends on whether information is trustworthy, relevant, organized, and retrievable.
TRANSITION
Move from production context into lens-based testing and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Present SCORM calmly as packaging, not as the center of the session.
TALK TRACK
We are using SCORM as a portable media container. Unless there is a separate assessment design, do not make it the gradebook. Package the files, upload, launch, then place the launch where it supports the synthetic object.
TRANSITION
Troubleshoot by identifying which layer failed.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Normalize versioning and archiving as part of faculty AI literacy.
TALK TRACK
Save editable sources, generated assets, the four-category design record, successful prompts, verified content, test results, and a short change history. Keep the deployable package separate. When a conversation loses context, restart from the durable project record.
TRANSITION
Point participants to A Simple Project Workflow, then use the next slide to model recovery from a lost chat.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Set realistic expectations about production effort without discouraging experimentation.
TALK TRACK
The numbers are heuristic, not a universal score. Use them to ask where the cost lives. A simulation may need custom graphics, domain logic, and heavy testing. A timeline can often derive much of its presentation from simple HTML and structured text. AI leverage is uneven.
TRANSITION
Once cost is visible, choose the experience that fits the assets and purpose.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Create productive uncertainty and surface the myth that the best result requires the cleverest single prompt.
TALK TRACK
Replace the two placeholders with the Fable examples you referenced. Ask: Which one do you think required more prompting? Take a quick show of hands. Do not reveal the answer immediately.
TRANSITION
Reveal that the iterative example needed less clever prompting and more deliberate process.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Avoid treating one-shot prompting as universally bad; place it where it is genuinely useful.
TALK TRACK
One-shot work is excellent for opening the field of possibility. It becomes fragile when the deliverable contains interdependent instructional, content, visual, technical, accessibility, and delivery decisions.
TRANSITION
Use the mansion analogy to explain why production needs iteration.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the recurring instructional design workflow that organizes the workshop.
TALK TRACK
Ideate frames a worthwhile possibility and gradually fills the four buckets. Iterate reviews the generated artifact through those same four categories as lenses. Implement tests, packages, places, preserves, and deploys the learning experience. New evidence can send us back into either earlier phase.
TRANSITION
Begin Ideate with the Fable comparison.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Add asset dependence to the early production decision.
TALK TRACK
A sophisticated interaction may still be relatively low-asset if it relies on code-generated state and simple visual systems. A seemingly simple idea can become expensive when it depends on custom illustration, animation, audio, video, or 3D assets. Consider the interaction and asset profile together.
TRANSITION
Use the Interaction Design Guide to choose the form and instructional role.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the complete Interactive Design Map before explaining individual fields.
TALK TRACK
During Ideate, the four categories are buckets that we gradually fill before and during the first build. They are not a rigid form. Faculty may begin with a partially formed idea—or only an outcome, assessment, and possible source asset.
TRANSITION
Zoom into learning context through backward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Learning Context a complete, dedicated treatment and connect it to backward design.
TALK TRACK
Capture where the artifact lives, which outcomes and assessment it supports, who the students are, what they already know, and how much time the experience can reasonably take. Backward design still governs the sequence: outcome, assessment evidence, then interaction.
TRANSITION
Use the Learning Context Guide, then move to the learner experience itself.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Interaction Design more than a list of formats by connecting species, alignment, learner action, and ecological role.
TALK TRACK
A simulation, narrative, case study, visual stimulus, timeline, decision tree, guided conversation, game, or reflection is only useful when its learner action supports the objective. Then ask what role it plays inside the larger synthetic object.
TRANSITION
Visualize the synthetic object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Broaden expert content beyond textbook excerpts and explain its production implications.
TALK TRACK
Expert content includes notes, PDFs, diagrams, images, data, examples, rubrics, research, assignments, vocabulary, and known misconceptions. A low-asset start is possible, but AI will fill more gaps. A high-asset start usually improves specificity and makes verification easier.
TRANSITION
Use the Expert Content Guide, then specify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Artifact Specification equal status with the other three buckets.
TALK TRACK
Specify the deliverable, learner experience, accessibility, responsive behavior, brand and visual system, navigation, completion, feedback, export, technical constraints, LMS placement, and integrations. These details make the output testable rather than merely attractive.
TRANSITION
Transition from buckets to the same four categories used as iteration lenses.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conceptual turn from ideation to iteration explicit.
TALK TRACK
The framework does not acquire a fifth category during review. We use the same four categories differently: first to make decisions, then to inspect what was built. Accessibility and quality assurance remain within Artifact Specification.
TRANSITION
Introduce each review lens with a concrete targeted revision prompt.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Demonstrate that a useful revision prompt begins with a diagnosed learning mismatch.
TALK TRACK
Learning Context asks whether the artifact belongs in this course moment and advances the stated outcome. The example changes the cognitive demand while explicitly preserving the functioning layout and controls.
TRANSITION
Move to the Interaction Design lens.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Distinguish a functioning interface from a meaningful interaction.
TALK TRACK
Interaction Design reviews the learner action, the consequence, and the feedback loop. The prompt asks for one branch and makes the expected behavior visible without reopening the entire scenario or visual design.
TRANSITION
Move to the Expert Content lens.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why disciplinary review cannot be delegated to surface polish.
TALK TRACK
Expert Content includes accuracy, examples, reasoning, language, assumptions, and limits. The targeted prompt supplies an authority and narrows the correction while preserving validated calculations and interface behavior.
TRANSITION
Move to Artifact Specification, where accessibility and delivery are tested.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Keep accessibility, visual quality, and technical testing inside the fourth category.
TALK TRACK
Artifact Specification is broader than file format. It governs visual behavior, access, responsive layout, navigation, packaging, media requirements, and delivery constraints. The prompt names a testable repair and preserves validated content and structure.
TRANSITION
Combine the four lenses into a repeatable loop.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participants a compact visual they can reuse after the workshop.
TALK TRACK
The lenses are not a mandatory waterfall. Begin where risk or mismatch is greatest. Record the requested change, what must remain unchanged, and how the revision will be tested. Continue until the artifact is fit for implementation.
TRANSITION
Apply the loop to the two case studies.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practical failure language without turning the workshop into a debugging clinic.
TALK TRACK
When something fails, classify it using the same four lenses used for review. Accessibility, visual behavior, navigation, files, and packaging belong within Artifact Specification—not in a fifth category. Change the smallest responsible dimension and retest.
TRANSITION
Protect progress so starting over is a choice, not a loss.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Reconnect deployment to the synthetic-object definition.
TALK TRACK
The artifact is only one component. Decide what Canvas should introduce, instruct, sequence, assess, and preserve. Keep course workflow and graded assessment in intentional Canvas tools unless the design requires otherwise.
TRANSITION
Move into the live eight-step build.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Frame the live demo as application of the process, not entertainment.
TALK TRACK
Invite an ambitious idea, then bound it. Narrate the decision-making aloud. The memorable moment should be that an impossible idea becomes manageable when the group chooses one learner action and one testable slice.
TRANSITION
Use the next slide to collect inputs without losing structure.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that low-asset does not mean low-value.
TALK TRACK
The instructor does not start with a fully designed activity. They have one outcome and one image. The design challenge is to move learners from naming visual elements to using evidence in an interpretive claim.
TRANSITION
Complete the design map before generating.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how each bucket constrains a different kind of variation.
TALK TRACK
Show the first build, then diagnose the most important mismatch through the Interaction Design lens. A targeted prompt preserves the painting, layout, and verified vocabulary while changing the learner task from recognition to evidence comparison. Test keyboard access and place the artifact before discussion or visual-analysis writing.
TRANSITION
Contrast this with a high-model, high-testing STEM case.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why a visually similar artifact may have a radically different production profile.
TALK TRACK
This case needs deterministic calculations, explicit assumptions, expected values, accessible controls, and an honest disclaimer that it is not a real mission-planning tool. The source material becomes part of the specification.
TRANSITION
Show what the prompt can now control and what testing must prove.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Reframe a long prompt as an accountable design and testing document.
TALK TRACK
The prompt is useful because it controls the model and makes failure visible. If the baseline calculations are wrong, the artifact is wrong even if it looks polished. This is where domain expertise remains indispensable.
TRANSITION
Synthesize the two cases into rules of thumb.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Provide an editable capture surface during the live demo.
TALK TRACK
Type directly into the four cards in PowerPoint Presenter mode or duplicate this slide for additional ideas. Keep inputs short. When the room offers a feature, translate it into the bucket it belongs to.
TRANSITION
Close by returning responsibility and judgment to faculty.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End the conceptual arc with a reflective question rather than a tool recap.
TALK TRACK
Invite a few answers before revealing the list. The point is not to reassure by minimizing AI. It is to identify the human responsibilities that become more important as implementation gets easier.
TRANSITION
Finish with the central affirmation and practical next step.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with confidence and point participants to reusable artifacts.
TALK TRACK
The goal is not to leave with a perfect prompt. Leave with a design process you can repeat: define the learning context, choose the interaction, supply expert content, constrain the artifact, and improve one thing at a time.
TRANSITION
Invite questions or ask participants to name one small object they want to build next.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ohntgalaxy.github.io/ideate-iterate-implement-presentation-resources/#to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partyrock.aws/u/Consent3241/OR_KgMdzA/Interactive-Design-Map-Studio"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54E"/>
        </a:solidFill>
        <a:effectLst/>
      </p:bgPr>
    </p:bg>
    <p:spTree>
      <p:nvGrpSpPr>
        <p:cNvPr id="1" name=""/>
        <p:cNvGrpSpPr/>
        <p:nvPr/>
      </p:nvGrpSpPr>
      <p:grpSpPr>
        <a:xfrm>
          <a:off x="0" y="0"/>
          <a:ext cx="0" cy="0"/>
          <a:chOff x="0" y="0"/>
          <a:chExt cx="0" cy="0"/>
        </a:xfrm>
      </p:grpSpPr>
      <p:sp>
        <p:nvSpPr>
          <p:cNvPr id="6" name="Text 4"/>
          <p:cNvSpPr>
            <a:spLocks noGrp="1"/>
          </p:cNvSpPr>
          <p:nvPr>
            <p:ph type="title" idx="4294967295"/>
          </p:nvPr>
        </p:nvSpPr>
        <p:spPr>
          <a:xfrm>
            <a:off x="731520" y="1298448"/>
            <a:ext cx="7452360" cy="9144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Ideate. Iterate. Implement.</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3"/>
          <p:cNvSpPr/>
          <p:nvPr/>
        </p:nvSpPr>
        <p:spPr>
          <a:xfrm>
            <a:off x="731520" y="621792"/>
            <a:ext cx="3474720" cy="274320"/>
          </a:xfrm>
          <a:prstGeom prst="rect">
            <a:avLst/>
          </a:prstGeom>
          <a:noFill/>
          <a:ln/>
        </p:spPr>
        <p:txBody>
          <a:bodyPr wrap="square" lIns="0" tIns="0" rIns="0" bIns="0" rtlCol="0" anchor="ctr">
            <a:normAutofit/>
          </a:bodyPr>
          <a:lstStyle/>
          <a:p>
            <a:pPr marL="0" indent="0">
              <a:buNone/>
            </a:pPr>
            <a:r>
              <a:rPr lang="en-US" sz="1100" b="1" kern="0" spc="240" dirty="0">
                <a:solidFill>
                  <a:srgbClr val="D5B979"/>
                </a:solidFill>
                <a:latin typeface="Aptos" pitchFamily="34" charset="0"/>
                <a:ea typeface="Aptos" pitchFamily="34" charset="-122"/>
                <a:cs typeface="Aptos" pitchFamily="34" charset="-120"/>
              </a:rPr>
              <a:t>SUMMER INSTITUTE 2026</a:t>
            </a:r>
            <a:endParaRPr lang="en-US" sz="1100" dirty="0"/>
          </a:p>
        </p:txBody>
      </p:sp>
      <p:sp>
        <p:nvSpPr>
          <p:cNvPr id="7" name="Text 5"/>
          <p:cNvSpPr/>
          <p:nvPr/>
        </p:nvSpPr>
        <p:spPr>
          <a:xfrm>
            <a:off x="731520" y="1755648"/>
            <a:ext cx="7315200" cy="594360"/>
          </a:xfrm>
          <a:prstGeom prst="rect">
            <a:avLst/>
          </a:prstGeom>
          <a:noFill/>
          <a:ln/>
        </p:spPr>
        <p:txBody>
          <a:bodyPr wrap="square" lIns="0" tIns="0" rIns="0" bIns="0" rtlCol="0" anchor="ctr">
            <a:normAutofit/>
          </a:bodyPr>
          <a:lstStyle/>
          <a:p>
            <a:pPr marL="0" indent="0">
              <a:buNone/>
            </a:pPr>
            <a:r>
              <a:rPr lang="en-US" sz="2100" dirty="0">
                <a:solidFill>
                  <a:srgbClr val="DCE4F2"/>
                </a:solidFill>
                <a:latin typeface="Aptos" pitchFamily="34" charset="0"/>
                <a:ea typeface="Aptos" pitchFamily="34" charset="-122"/>
                <a:cs typeface="Aptos" pitchFamily="34" charset="-120"/>
              </a:rPr>
              <a:t>AI-Assisted Interactive Learning Design</a:t>
            </a:r>
            <a:endParaRPr lang="en-US" sz="2100" dirty="0"/>
          </a:p>
        </p:txBody>
      </p:sp>
      <p:sp>
        <p:nvSpPr>
          <p:cNvPr id="4" name="Shape 2">
            <a:extLst>
              <a:ext uri="{C183D7F6-B498-43B3-948B-1728B52AA6E4}">
                <adec:decorative xmlns:adec="http://schemas.microsoft.com/office/drawing/2017/decorative" val="1"/>
              </a:ext>
            </a:extLst>
          </p:cNvPr>
          <p:cNvSpPr/>
          <p:nvPr/>
        </p:nvSpPr>
        <p:spPr>
          <a:xfrm>
            <a:off x="0" y="0"/>
            <a:ext cx="164592" cy="6858000"/>
          </a:xfrm>
          <a:prstGeom prst="rect">
            <a:avLst/>
          </a:prstGeom>
          <a:solidFill>
            <a:srgbClr val="149966"/>
          </a:solidFill>
          <a:ln w="12700">
            <a:solidFill>
              <a:srgbClr val="149966"/>
            </a:solidFill>
            <a:prstDash val="solid"/>
          </a:ln>
        </p:spPr>
        <p:txBody>
          <a:bodyPr/>
          <a:lstStyle/>
          <a:p>
            <a:endParaRPr lang="en-US"/>
          </a:p>
        </p:txBody>
      </p:sp>
      <p:sp>
        <p:nvSpPr>
          <p:cNvPr id="2" name="Text 0"/>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
        <p:nvSpPr>
          <p:cNvPr id="25" name="Rounded Rectangle 24">
            <a:extLst>
              <a:ext uri="{FF2B5EF4-FFF2-40B4-BE49-F238E27FC236}">
                <a16:creationId xmlns:a16="http://schemas.microsoft.com/office/drawing/2014/main" id="{433C50DF-41AD-96DD-AE5C-4953FA045303}"/>
              </a:ext>
              <a:ext uri="{C183D7F6-B498-43B3-948B-1728B52AA6E4}">
                <adec:decorative xmlns:adec="http://schemas.microsoft.com/office/drawing/2017/decorative" val="1"/>
              </a:ext>
            </a:extLst>
          </p:cNvPr>
          <p:cNvSpPr/>
          <p:nvPr/>
        </p:nvSpPr>
        <p:spPr>
          <a:xfrm>
            <a:off x="634701" y="2931191"/>
            <a:ext cx="10922598" cy="2844861"/>
          </a:xfrm>
          <a:prstGeom prst="roundRect">
            <a:avLst>
              <a:gd name="adj" fmla="val 4062"/>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5">
            <a:extLst>
              <a:ext uri="{FF2B5EF4-FFF2-40B4-BE49-F238E27FC236}">
                <a16:creationId xmlns:a16="http://schemas.microsoft.com/office/drawing/2014/main" id="{08510B24-1BFD-9367-3F17-0381849B1AB1}"/>
              </a:ext>
            </a:extLst>
          </p:cNvPr>
          <p:cNvSpPr/>
          <p:nvPr/>
        </p:nvSpPr>
        <p:spPr>
          <a:xfrm>
            <a:off x="1473796" y="3011021"/>
            <a:ext cx="9252470" cy="594360"/>
          </a:xfrm>
          <a:prstGeom prst="rect">
            <a:avLst/>
          </a:prstGeom>
          <a:noFill/>
          <a:ln/>
        </p:spPr>
        <p:txBody>
          <a:bodyPr wrap="square" lIns="0" tIns="0" rIns="0" bIns="0" rtlCol="0" anchor="ctr">
            <a:normAutofit/>
          </a:bodyPr>
          <a:lstStyle/>
          <a:p>
            <a:pPr marL="0" indent="0">
              <a:buNone/>
            </a:pPr>
            <a:r>
              <a:rPr lang="en-US" sz="2100" b="1" dirty="0">
                <a:latin typeface="Aptos" pitchFamily="34" charset="0"/>
                <a:ea typeface="Aptos" pitchFamily="34" charset="-122"/>
                <a:cs typeface="Aptos" pitchFamily="34" charset="-120"/>
              </a:rPr>
              <a:t>    ACCESS THE PRESENTATION RESOURCE SITE AND PROMPT BUILDER APP</a:t>
            </a:r>
            <a:endParaRPr lang="en-US" sz="2100" b="1" dirty="0"/>
          </a:p>
        </p:txBody>
      </p:sp>
      <p:sp>
        <p:nvSpPr>
          <p:cNvPr id="28" name="Text 5">
            <a:extLst>
              <a:ext uri="{FF2B5EF4-FFF2-40B4-BE49-F238E27FC236}">
                <a16:creationId xmlns:a16="http://schemas.microsoft.com/office/drawing/2014/main" id="{7B7FCFC5-57E4-BCF0-1B3C-BBD235D71835}"/>
              </a:ext>
            </a:extLst>
          </p:cNvPr>
          <p:cNvSpPr/>
          <p:nvPr/>
        </p:nvSpPr>
        <p:spPr>
          <a:xfrm>
            <a:off x="879435" y="3086845"/>
            <a:ext cx="7834259" cy="2998154"/>
          </a:xfrm>
          <a:prstGeom prst="rect">
            <a:avLst/>
          </a:prstGeom>
          <a:noFill/>
          <a:ln/>
        </p:spPr>
        <p:txBody>
          <a:bodyPr wrap="square" lIns="0" tIns="0" rIns="0" bIns="0" rtlCol="0" anchor="ctr">
            <a:normAutofit/>
          </a:bodyPr>
          <a:lstStyle/>
          <a:p>
            <a:pPr marL="0" indent="0">
              <a:buNone/>
            </a:pPr>
            <a:r>
              <a:rPr lang="en-US" sz="2100" dirty="0">
                <a:latin typeface="Aptos" pitchFamily="34" charset="0"/>
                <a:ea typeface="Aptos" pitchFamily="34" charset="-122"/>
                <a:cs typeface="Aptos" pitchFamily="34" charset="-120"/>
              </a:rPr>
              <a:t>Visit the </a:t>
            </a:r>
            <a:r>
              <a:rPr lang="en-US" sz="2100" dirty="0">
                <a:latin typeface="Aptos" pitchFamily="34" charset="0"/>
                <a:ea typeface="Aptos" pitchFamily="34" charset="-122"/>
                <a:cs typeface="Aptos" pitchFamily="34" charset="-120"/>
                <a:hlinkClick r:id="rId3"/>
              </a:rPr>
              <a:t>resource site</a:t>
            </a:r>
            <a:r>
              <a:rPr lang="en-US" sz="2100" dirty="0">
                <a:latin typeface="Aptos" pitchFamily="34" charset="0"/>
                <a:ea typeface="Aptos" pitchFamily="34" charset="-122"/>
                <a:cs typeface="Aptos" pitchFamily="34" charset="-120"/>
              </a:rPr>
              <a:t> to view and print out the handouts and case studies at your leisure. </a:t>
            </a:r>
          </a:p>
          <a:p>
            <a:pPr marL="0" indent="0">
              <a:buNone/>
            </a:pPr>
            <a:endParaRPr lang="en-US" sz="2100" dirty="0">
              <a:latin typeface="Aptos" pitchFamily="34" charset="0"/>
            </a:endParaRPr>
          </a:p>
          <a:p>
            <a:pPr marL="0" indent="0">
              <a:buNone/>
            </a:pPr>
            <a:r>
              <a:rPr lang="en-US" sz="2100" dirty="0">
                <a:latin typeface="Aptos" pitchFamily="34" charset="0"/>
              </a:rPr>
              <a:t>Your also welcome to use this </a:t>
            </a:r>
            <a:r>
              <a:rPr lang="en-US" sz="2100" dirty="0">
                <a:latin typeface="Aptos" pitchFamily="34" charset="0"/>
                <a:hlinkClick r:id="rId3"/>
              </a:rPr>
              <a:t>prompt and context builder app</a:t>
            </a:r>
            <a:r>
              <a:rPr lang="en-US" sz="2100" dirty="0">
                <a:latin typeface="Aptos" pitchFamily="34" charset="0"/>
              </a:rPr>
              <a:t> that’s based on the workflow and model discussed in this same presentation.</a:t>
            </a:r>
            <a:endParaRPr lang="en-US" sz="2100" dirty="0"/>
          </a:p>
        </p:txBody>
      </p:sp>
      <p:pic>
        <p:nvPicPr>
          <p:cNvPr id="8" name="Graphic 7" descr="Internet with solid fill">
            <a:extLst>
              <a:ext uri="{FF2B5EF4-FFF2-40B4-BE49-F238E27FC236}">
                <a16:creationId xmlns:a16="http://schemas.microsoft.com/office/drawing/2014/main" id="{CDBBAA35-14EA-B484-78BD-EC378F88B0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9435" y="2990984"/>
            <a:ext cx="594361" cy="5943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Everything is retrieval-augmented (RAG) now</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Expert content becomes organized, retrievable working context—not an enormous prompt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868680" y="4892040"/>
            <a:ext cx="2423160" cy="1325880"/>
          </a:xfrm>
          <a:prstGeom prst="roundRect">
            <a:avLst>
              <a:gd name="adj" fmla="val 8000"/>
            </a:avLst>
          </a:prstGeom>
          <a:solidFill>
            <a:srgbClr val="F5F6F8"/>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33272" y="5056632"/>
            <a:ext cx="438912" cy="438912"/>
          </a:xfrm>
          <a:prstGeom prst="ellipse">
            <a:avLst/>
          </a:prstGeom>
          <a:solidFill>
            <a:srgbClr val="576173"/>
          </a:solidFill>
          <a:ln w="12700">
            <a:solidFill>
              <a:srgbClr val="576173"/>
            </a:solidFill>
            <a:prstDash val="solid"/>
          </a:ln>
        </p:spPr>
        <p:txBody>
          <a:bodyPr/>
          <a:lstStyle/>
          <a:p>
            <a:endParaRPr lang="en-US"/>
          </a:p>
        </p:txBody>
      </p:sp>
      <p:sp>
        <p:nvSpPr>
          <p:cNvPr id="10" name="Text 8"/>
          <p:cNvSpPr/>
          <p:nvPr/>
        </p:nvSpPr>
        <p:spPr>
          <a:xfrm>
            <a:off x="1033272" y="5056632"/>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11" name="Text 9"/>
          <p:cNvSpPr/>
          <p:nvPr/>
        </p:nvSpPr>
        <p:spPr>
          <a:xfrm>
            <a:off x="1051560" y="5678424"/>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PROMPT ONLY</a:t>
            </a:r>
            <a:endParaRPr lang="en-US" sz="1100" dirty="0"/>
          </a:p>
        </p:txBody>
      </p:sp>
      <p:sp>
        <p:nvSpPr>
          <p:cNvPr id="13" name="Shape 11">
            <a:extLst>
              <a:ext uri="{C183D7F6-B498-43B3-948B-1728B52AA6E4}">
                <adec:decorative xmlns:adec="http://schemas.microsoft.com/office/drawing/2017/decorative" val="1"/>
              </a:ext>
            </a:extLst>
          </p:cNvPr>
          <p:cNvSpPr/>
          <p:nvPr/>
        </p:nvSpPr>
        <p:spPr>
          <a:xfrm>
            <a:off x="3630168" y="4178808"/>
            <a:ext cx="2423160" cy="2039112"/>
          </a:xfrm>
          <a:prstGeom prst="roundRect">
            <a:avLst>
              <a:gd name="adj" fmla="val 4494"/>
            </a:avLst>
          </a:prstGeom>
          <a:solidFill>
            <a:srgbClr val="F4EEDD"/>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3794760" y="4343400"/>
            <a:ext cx="438912" cy="438912"/>
          </a:xfrm>
          <a:prstGeom prst="ellipse">
            <a:avLst/>
          </a:prstGeom>
          <a:solidFill>
            <a:srgbClr val="17254E"/>
          </a:solidFill>
          <a:ln w="12700">
            <a:solidFill>
              <a:srgbClr val="17254E"/>
            </a:solidFill>
            <a:prstDash val="solid"/>
          </a:ln>
        </p:spPr>
        <p:txBody>
          <a:bodyPr/>
          <a:lstStyle/>
          <a:p>
            <a:endParaRPr lang="en-US"/>
          </a:p>
        </p:txBody>
      </p:sp>
      <p:sp>
        <p:nvSpPr>
          <p:cNvPr id="15" name="Text 13"/>
          <p:cNvSpPr/>
          <p:nvPr/>
        </p:nvSpPr>
        <p:spPr>
          <a:xfrm>
            <a:off x="3794760" y="4343400"/>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6" name="Text 14"/>
          <p:cNvSpPr/>
          <p:nvPr/>
        </p:nvSpPr>
        <p:spPr>
          <a:xfrm>
            <a:off x="3813048" y="4965192"/>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PROJECT MATERIALS</a:t>
            </a:r>
            <a:endParaRPr lang="en-US" sz="1100" dirty="0"/>
          </a:p>
        </p:txBody>
      </p:sp>
      <p:sp>
        <p:nvSpPr>
          <p:cNvPr id="17" name="Text 15"/>
          <p:cNvSpPr/>
          <p:nvPr/>
        </p:nvSpPr>
        <p:spPr>
          <a:xfrm>
            <a:off x="3858768" y="5440680"/>
            <a:ext cx="1965960" cy="502920"/>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Uploads, course documents, local folders, examples, images, and data</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6391656" y="3465576"/>
            <a:ext cx="2423160" cy="2752344"/>
          </a:xfrm>
          <a:prstGeom prst="roundRect">
            <a:avLst>
              <a:gd name="adj" fmla="val 3125"/>
            </a:avLst>
          </a:prstGeom>
          <a:solidFill>
            <a:srgbClr val="E7F4EE"/>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556248" y="3630168"/>
            <a:ext cx="438912" cy="438912"/>
          </a:xfrm>
          <a:prstGeom prst="ellipse">
            <a:avLst/>
          </a:prstGeom>
          <a:solidFill>
            <a:srgbClr val="0B7049"/>
          </a:solidFill>
          <a:ln w="12700">
            <a:solidFill>
              <a:srgbClr val="0B7049"/>
            </a:solidFill>
            <a:prstDash val="solid"/>
          </a:ln>
        </p:spPr>
        <p:txBody>
          <a:bodyPr/>
          <a:lstStyle/>
          <a:p>
            <a:endParaRPr lang="en-US"/>
          </a:p>
        </p:txBody>
      </p:sp>
      <p:sp>
        <p:nvSpPr>
          <p:cNvPr id="20" name="Text 18"/>
          <p:cNvSpPr/>
          <p:nvPr/>
        </p:nvSpPr>
        <p:spPr>
          <a:xfrm>
            <a:off x="6556248" y="3630168"/>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21" name="Text 19"/>
          <p:cNvSpPr/>
          <p:nvPr/>
        </p:nvSpPr>
        <p:spPr>
          <a:xfrm>
            <a:off x="6574536" y="4251960"/>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PROJECT MEMORY</a:t>
            </a:r>
            <a:endParaRPr lang="en-US" sz="1100" dirty="0"/>
          </a:p>
        </p:txBody>
      </p:sp>
      <p:sp>
        <p:nvSpPr>
          <p:cNvPr id="22" name="Text 20"/>
          <p:cNvSpPr/>
          <p:nvPr/>
        </p:nvSpPr>
        <p:spPr>
          <a:xfrm>
            <a:off x="6620256" y="4727448"/>
            <a:ext cx="1965960" cy="896112"/>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Design records, previous prompts, archived iterations, and verified decisions</a:t>
            </a:r>
            <a:endParaRPr lang="en-US" sz="1100" dirty="0"/>
          </a:p>
        </p:txBody>
      </p:sp>
      <p:sp>
        <p:nvSpPr>
          <p:cNvPr id="23" name="Shape 21">
            <a:extLst>
              <a:ext uri="{C183D7F6-B498-43B3-948B-1728B52AA6E4}">
                <adec:decorative xmlns:adec="http://schemas.microsoft.com/office/drawing/2017/decorative" val="1"/>
              </a:ext>
            </a:extLst>
          </p:cNvPr>
          <p:cNvSpPr/>
          <p:nvPr/>
        </p:nvSpPr>
        <p:spPr>
          <a:xfrm>
            <a:off x="9153144" y="2752344"/>
            <a:ext cx="2423160" cy="3465576"/>
          </a:xfrm>
          <a:prstGeom prst="roundRect">
            <a:avLst>
              <a:gd name="adj" fmla="val 3019"/>
            </a:avLst>
          </a:prstGeom>
          <a:solidFill>
            <a:srgbClr val="DDE7F6"/>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9317736" y="2916936"/>
            <a:ext cx="438912" cy="438912"/>
          </a:xfrm>
          <a:prstGeom prst="ellipse">
            <a:avLst/>
          </a:prstGeom>
          <a:solidFill>
            <a:srgbClr val="40547F"/>
          </a:solidFill>
          <a:ln w="12700">
            <a:solidFill>
              <a:srgbClr val="40547F"/>
            </a:solidFill>
            <a:prstDash val="solid"/>
          </a:ln>
        </p:spPr>
        <p:txBody>
          <a:bodyPr/>
          <a:lstStyle/>
          <a:p>
            <a:endParaRPr lang="en-US"/>
          </a:p>
        </p:txBody>
      </p:sp>
      <p:sp>
        <p:nvSpPr>
          <p:cNvPr id="25" name="Text 23"/>
          <p:cNvSpPr/>
          <p:nvPr/>
        </p:nvSpPr>
        <p:spPr>
          <a:xfrm>
            <a:off x="9317736" y="2916936"/>
            <a:ext cx="438912" cy="438912"/>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6" name="Text 24"/>
          <p:cNvSpPr/>
          <p:nvPr/>
        </p:nvSpPr>
        <p:spPr>
          <a:xfrm>
            <a:off x="9336024" y="3538728"/>
            <a:ext cx="2057400" cy="365760"/>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 CONNECTED SOURCES</a:t>
            </a:r>
            <a:endParaRPr lang="en-US" sz="1100" dirty="0"/>
          </a:p>
        </p:txBody>
      </p:sp>
      <p:sp>
        <p:nvSpPr>
          <p:cNvPr id="27" name="Text 25"/>
          <p:cNvSpPr/>
          <p:nvPr/>
        </p:nvSpPr>
        <p:spPr>
          <a:xfrm>
            <a:off x="9381744" y="4014216"/>
            <a:ext cx="1965960" cy="1609344"/>
          </a:xfrm>
          <a:prstGeom prst="rect">
            <a:avLst/>
          </a:prstGeom>
          <a:noFill/>
          <a:ln/>
        </p:spPr>
        <p:txBody>
          <a:bodyPr wrap="square" lIns="0" tIns="0" rIns="0" bIns="0" rtlCol="0" anchor="t">
            <a:normAutofit/>
          </a:bodyPr>
          <a:lstStyle/>
          <a:p>
            <a:pPr marL="0" indent="0" algn="ctr">
              <a:buNone/>
            </a:pPr>
            <a:r>
              <a:rPr lang="en-US" sz="1100" dirty="0">
                <a:solidFill>
                  <a:srgbClr val="202532"/>
                </a:solidFill>
                <a:latin typeface="Aptos" pitchFamily="34" charset="0"/>
                <a:ea typeface="Aptos" pitchFamily="34" charset="-122"/>
                <a:cs typeface="Aptos" pitchFamily="34" charset="-120"/>
              </a:rPr>
              <a:t>Institutional resources, current sources, APIs, and search—when appropriate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
        <p:nvSpPr>
          <p:cNvPr id="12" name="Shape 1">
            <a:extLst>
              <a:ext uri="{FF2B5EF4-FFF2-40B4-BE49-F238E27FC236}">
                <a16:creationId xmlns:a16="http://schemas.microsoft.com/office/drawing/2014/main" id="{B3A9AF9A-061B-5BBD-969B-6F3256982E65}"/>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28" name="Text 2">
            <a:extLst>
              <a:ext uri="{FF2B5EF4-FFF2-40B4-BE49-F238E27FC236}">
                <a16:creationId xmlns:a16="http://schemas.microsoft.com/office/drawing/2014/main" id="{451DB6DC-4810-2B8C-34FA-0A12EC8C80F7}"/>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2">
    <p:bg>
      <p:bgPr>
        <a:solidFill>
          <a:srgbClr val="FFFEFA"/>
        </a:solidFill>
        <a:effectLst/>
      </p:bgPr>
    </p:bg>
    <p:spTree>
      <p:nvGrpSpPr>
        <p:cNvPr id="1" name=""/>
        <p:cNvGrpSpPr/>
        <p:nvPr/>
      </p:nvGrpSpPr>
      <p:grpSpPr>
        <a:xfrm>
          <a:off x="0" y="0"/>
          <a:ext cx="0" cy="0"/>
          <a:chOff x="0" y="0"/>
          <a:chExt cx="0" cy="0"/>
        </a:xfrm>
      </p:grpSpPr>
      <p:sp>
        <p:nvSpPr>
          <p:cNvPr id="31" name="Shape 1">
            <a:extLst>
              <a:ext uri="{FF2B5EF4-FFF2-40B4-BE49-F238E27FC236}">
                <a16:creationId xmlns:a16="http://schemas.microsoft.com/office/drawing/2014/main" id="{4BF63834-2AC0-5F6C-B126-02CF00CC16FD}"/>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Use SCORM as a media container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32" name="Text 2">
            <a:extLst>
              <a:ext uri="{FF2B5EF4-FFF2-40B4-BE49-F238E27FC236}">
                <a16:creationId xmlns:a16="http://schemas.microsoft.com/office/drawing/2014/main" id="{A35E760F-49CC-2EBB-145C-AC7DB60B299A}"/>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Keep assessment in intentional Canvas tools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86384" y="1847088"/>
            <a:ext cx="3977640" cy="3566160"/>
          </a:xfrm>
          <a:prstGeom prst="roundRect">
            <a:avLst>
              <a:gd name="adj" fmla="val 2564"/>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1097280" y="2212848"/>
            <a:ext cx="3337560" cy="411480"/>
          </a:xfrm>
          <a:prstGeom prst="rect">
            <a:avLst/>
          </a:prstGeom>
          <a:noFill/>
          <a:ln/>
        </p:spPr>
        <p:txBody>
          <a:bodyPr wrap="square" lIns="0" tIns="0" rIns="0" bIns="0" rtlCol="0" anchor="ctr">
            <a:normAutofit/>
          </a:bodyPr>
          <a:lstStyle/>
          <a:p>
            <a:pPr marL="0" indent="0" algn="ctr">
              <a:buNone/>
            </a:pPr>
            <a:r>
              <a:rPr lang="en-US" sz="1200" b="1" dirty="0">
                <a:solidFill>
                  <a:srgbClr val="D5B979"/>
                </a:solidFill>
                <a:latin typeface="Aptos" pitchFamily="34" charset="0"/>
                <a:ea typeface="Aptos" pitchFamily="34" charset="-122"/>
                <a:cs typeface="Aptos" pitchFamily="34" charset="-120"/>
              </a:rPr>
              <a:t>SCORM PACKAGE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1298448" y="2907792"/>
            <a:ext cx="2971800" cy="438912"/>
          </a:xfrm>
          <a:prstGeom prst="roundRect">
            <a:avLst>
              <a:gd name="adj" fmla="val 12500"/>
            </a:avLst>
          </a:prstGeom>
          <a:solidFill>
            <a:srgbClr val="FFFFFF"/>
          </a:solidFill>
          <a:ln w="12700">
            <a:solidFill>
              <a:srgbClr val="FFFFFF"/>
            </a:solidFill>
            <a:prstDash val="solid"/>
          </a:ln>
        </p:spPr>
        <p:txBody>
          <a:bodyPr/>
          <a:lstStyle/>
          <a:p>
            <a:endParaRPr lang="en-US"/>
          </a:p>
        </p:txBody>
      </p:sp>
      <p:sp>
        <p:nvSpPr>
          <p:cNvPr id="11" name="Text 9"/>
          <p:cNvSpPr/>
          <p:nvPr/>
        </p:nvSpPr>
        <p:spPr>
          <a:xfrm>
            <a:off x="1481328" y="2907792"/>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index.html</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1298448" y="3566160"/>
            <a:ext cx="2971800" cy="438912"/>
          </a:xfrm>
          <a:prstGeom prst="roundRect">
            <a:avLst>
              <a:gd name="adj" fmla="val 12500"/>
            </a:avLst>
          </a:prstGeom>
          <a:solidFill>
            <a:srgbClr val="DCE4F2"/>
          </a:solidFill>
          <a:ln w="12700">
            <a:solidFill>
              <a:srgbClr val="DCE4F2"/>
            </a:solidFill>
            <a:prstDash val="solid"/>
          </a:ln>
        </p:spPr>
        <p:txBody>
          <a:bodyPr/>
          <a:lstStyle/>
          <a:p>
            <a:endParaRPr lang="en-US"/>
          </a:p>
        </p:txBody>
      </p:sp>
      <p:sp>
        <p:nvSpPr>
          <p:cNvPr id="13" name="Text 11"/>
          <p:cNvSpPr/>
          <p:nvPr/>
        </p:nvSpPr>
        <p:spPr>
          <a:xfrm>
            <a:off x="1481328" y="3566160"/>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imsmanifest.xml</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1298448" y="4224528"/>
            <a:ext cx="2971800" cy="438912"/>
          </a:xfrm>
          <a:prstGeom prst="roundRect">
            <a:avLst>
              <a:gd name="adj" fmla="val 12500"/>
            </a:avLst>
          </a:prstGeom>
          <a:solidFill>
            <a:srgbClr val="DCE4F2"/>
          </a:solidFill>
          <a:ln w="12700">
            <a:solidFill>
              <a:srgbClr val="DCE4F2"/>
            </a:solidFill>
            <a:prstDash val="solid"/>
          </a:ln>
        </p:spPr>
        <p:txBody>
          <a:bodyPr/>
          <a:lstStyle/>
          <a:p>
            <a:endParaRPr lang="en-US"/>
          </a:p>
        </p:txBody>
      </p:sp>
      <p:sp>
        <p:nvSpPr>
          <p:cNvPr id="15" name="Text 13"/>
          <p:cNvSpPr/>
          <p:nvPr/>
        </p:nvSpPr>
        <p:spPr>
          <a:xfrm>
            <a:off x="1481328" y="4224528"/>
            <a:ext cx="2606040" cy="438912"/>
          </a:xfrm>
          <a:prstGeom prst="rect">
            <a:avLst/>
          </a:prstGeom>
          <a:noFill/>
          <a:ln/>
        </p:spPr>
        <p:txBody>
          <a:bodyPr wrap="square" lIns="0" tIns="0" rIns="0" bIns="0" rtlCol="0" anchor="ctr">
            <a:normAutofit/>
          </a:bodyPr>
          <a:lstStyle/>
          <a:p>
            <a:pPr marL="0" indent="0" algn="ctr">
              <a:buNone/>
            </a:pPr>
            <a:r>
              <a:rPr lang="en-US" sz="1200" dirty="0">
                <a:solidFill>
                  <a:srgbClr val="17254E"/>
                </a:solidFill>
                <a:latin typeface="Aptos Mono" pitchFamily="34" charset="0"/>
                <a:ea typeface="Aptos Mono" pitchFamily="34" charset="-122"/>
                <a:cs typeface="Aptos Mono" pitchFamily="34" charset="-120"/>
              </a:rPr>
              <a:t>assets / media</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5303520"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17" name="Text 15"/>
          <p:cNvSpPr/>
          <p:nvPr/>
        </p:nvSpPr>
        <p:spPr>
          <a:xfrm>
            <a:off x="5376672"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ZIP</a:t>
            </a:r>
            <a:endParaRPr lang="en-US" sz="950" dirty="0"/>
          </a:p>
        </p:txBody>
      </p:sp>
      <p:sp>
        <p:nvSpPr>
          <p:cNvPr id="18" name="Shape 16">
            <a:extLst>
              <a:ext uri="{C183D7F6-B498-43B3-948B-1728B52AA6E4}">
                <adec:decorative xmlns:adec="http://schemas.microsoft.com/office/drawing/2017/decorative" val="1"/>
              </a:ext>
            </a:extLst>
          </p:cNvPr>
          <p:cNvSpPr/>
          <p:nvPr/>
        </p:nvSpPr>
        <p:spPr>
          <a:xfrm>
            <a:off x="6364224"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876288"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20" name="Text 18"/>
          <p:cNvSpPr/>
          <p:nvPr/>
        </p:nvSpPr>
        <p:spPr>
          <a:xfrm>
            <a:off x="6949440"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UPLOAD</a:t>
            </a:r>
            <a:endParaRPr lang="en-US" sz="950" dirty="0"/>
          </a:p>
        </p:txBody>
      </p:sp>
      <p:sp>
        <p:nvSpPr>
          <p:cNvPr id="21" name="Shape 19">
            <a:extLst>
              <a:ext uri="{C183D7F6-B498-43B3-948B-1728B52AA6E4}">
                <adec:decorative xmlns:adec="http://schemas.microsoft.com/office/drawing/2017/decorative" val="1"/>
              </a:ext>
            </a:extLst>
          </p:cNvPr>
          <p:cNvSpPr/>
          <p:nvPr/>
        </p:nvSpPr>
        <p:spPr>
          <a:xfrm>
            <a:off x="7936992"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22" name="Shape 20">
            <a:extLst>
              <a:ext uri="{C183D7F6-B498-43B3-948B-1728B52AA6E4}">
                <adec:decorative xmlns:adec="http://schemas.microsoft.com/office/drawing/2017/decorative" val="1"/>
              </a:ext>
            </a:extLst>
          </p:cNvPr>
          <p:cNvSpPr/>
          <p:nvPr/>
        </p:nvSpPr>
        <p:spPr>
          <a:xfrm>
            <a:off x="8449056" y="2907792"/>
            <a:ext cx="987552" cy="987552"/>
          </a:xfrm>
          <a:prstGeom prst="ellipse">
            <a:avLst/>
          </a:prstGeom>
          <a:solidFill>
            <a:srgbClr val="149966"/>
          </a:solidFill>
          <a:ln w="12700">
            <a:solidFill>
              <a:srgbClr val="149966"/>
            </a:solidFill>
            <a:prstDash val="solid"/>
          </a:ln>
        </p:spPr>
        <p:txBody>
          <a:bodyPr/>
          <a:lstStyle/>
          <a:p>
            <a:endParaRPr lang="en-US"/>
          </a:p>
        </p:txBody>
      </p:sp>
      <p:sp>
        <p:nvSpPr>
          <p:cNvPr id="23" name="Text 21"/>
          <p:cNvSpPr/>
          <p:nvPr/>
        </p:nvSpPr>
        <p:spPr>
          <a:xfrm>
            <a:off x="8522208"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LAUNCH</a:t>
            </a:r>
            <a:endParaRPr lang="en-US" sz="950" dirty="0"/>
          </a:p>
        </p:txBody>
      </p:sp>
      <p:sp>
        <p:nvSpPr>
          <p:cNvPr id="24" name="Shape 22">
            <a:extLst>
              <a:ext uri="{C183D7F6-B498-43B3-948B-1728B52AA6E4}">
                <adec:decorative xmlns:adec="http://schemas.microsoft.com/office/drawing/2017/decorative" val="1"/>
              </a:ext>
            </a:extLst>
          </p:cNvPr>
          <p:cNvSpPr/>
          <p:nvPr/>
        </p:nvSpPr>
        <p:spPr>
          <a:xfrm>
            <a:off x="9509760" y="3401568"/>
            <a:ext cx="411480" cy="0"/>
          </a:xfrm>
          <a:prstGeom prst="line">
            <a:avLst/>
          </a:prstGeom>
          <a:noFill/>
          <a:ln w="19050">
            <a:solidFill>
              <a:srgbClr val="0B7049"/>
            </a:solidFill>
            <a:prstDash val="solid"/>
            <a:headEnd type="none"/>
            <a:tailEnd type="triangle"/>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10021824" y="2907792"/>
            <a:ext cx="987552" cy="987552"/>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10094976" y="3072384"/>
            <a:ext cx="841248" cy="640080"/>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LINK / EMBED</a:t>
            </a:r>
            <a:endParaRPr lang="en-US" sz="950" dirty="0"/>
          </a:p>
        </p:txBody>
      </p:sp>
      <p:sp>
        <p:nvSpPr>
          <p:cNvPr id="27" name="Shape 25">
            <a:extLst>
              <a:ext uri="{C183D7F6-B498-43B3-948B-1728B52AA6E4}">
                <adec:decorative xmlns:adec="http://schemas.microsoft.com/office/drawing/2017/decorative" val="1"/>
              </a:ext>
            </a:extLst>
          </p:cNvPr>
          <p:cNvSpPr/>
          <p:nvPr/>
        </p:nvSpPr>
        <p:spPr>
          <a:xfrm>
            <a:off x="5349240" y="4709160"/>
            <a:ext cx="82296" cy="658368"/>
          </a:xfrm>
          <a:prstGeom prst="rect">
            <a:avLst/>
          </a:prstGeom>
          <a:solidFill>
            <a:srgbClr val="D5B979"/>
          </a:solidFill>
          <a:ln w="12700">
            <a:solidFill>
              <a:srgbClr val="D5B979"/>
            </a:solidFill>
            <a:prstDash val="solid"/>
          </a:ln>
        </p:spPr>
        <p:txBody>
          <a:bodyPr/>
          <a:lstStyle/>
          <a:p>
            <a:endParaRPr lang="en-US"/>
          </a:p>
        </p:txBody>
      </p:sp>
      <p:sp>
        <p:nvSpPr>
          <p:cNvPr id="28" name="Text 26"/>
          <p:cNvSpPr/>
          <p:nvPr/>
        </p:nvSpPr>
        <p:spPr>
          <a:xfrm>
            <a:off x="5641848" y="4709160"/>
            <a:ext cx="5376672" cy="658368"/>
          </a:xfrm>
          <a:prstGeom prst="rect">
            <a:avLst/>
          </a:prstGeom>
          <a:noFill/>
          <a:ln/>
        </p:spPr>
        <p:txBody>
          <a:bodyPr wrap="square" lIns="0" tIns="0" rIns="0" bIns="0" rtlCol="0" anchor="ctr">
            <a:normAutofit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The interactive supports thinking. Canvas manages the course workflow.</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Preserve the project as you iterate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Conversations are temporary; editable sources, decisions, and versions are durable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49808" y="182880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49808" y="1828800"/>
            <a:ext cx="73152" cy="1508760"/>
          </a:xfrm>
          <a:prstGeom prst="rect">
            <a:avLst/>
          </a:prstGeom>
          <a:solidFill>
            <a:srgbClr val="D5B979"/>
          </a:solidFill>
          <a:ln w="12700">
            <a:solidFill>
              <a:srgbClr val="D5B979"/>
            </a:solidFill>
            <a:prstDash val="solid"/>
          </a:ln>
        </p:spPr>
        <p:txBody>
          <a:bodyPr/>
          <a:lstStyle/>
          <a:p>
            <a:endParaRPr lang="en-US"/>
          </a:p>
        </p:txBody>
      </p:sp>
      <p:sp>
        <p:nvSpPr>
          <p:cNvPr id="10" name="Text 8"/>
          <p:cNvSpPr/>
          <p:nvPr/>
        </p:nvSpPr>
        <p:spPr>
          <a:xfrm>
            <a:off x="1005840"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KEEP SOURCE + PACKAGE SEPARATE</a:t>
            </a:r>
            <a:endParaRPr lang="en-US" sz="1700" dirty="0"/>
          </a:p>
        </p:txBody>
      </p:sp>
      <p:sp>
        <p:nvSpPr>
          <p:cNvPr id="11" name="Text 9"/>
          <p:cNvSpPr/>
          <p:nvPr/>
        </p:nvSpPr>
        <p:spPr>
          <a:xfrm>
            <a:off x="1005840" y="248716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Save editable HTML, CSS, scripts, and original media apart from the deployable zip or SCORM package.</a:t>
            </a:r>
            <a:endParaRPr lang="en-US" sz="1350" dirty="0"/>
          </a:p>
        </p:txBody>
      </p:sp>
      <p:sp>
        <p:nvSpPr>
          <p:cNvPr id="12" name="Shape 10">
            <a:extLst>
              <a:ext uri="{C183D7F6-B498-43B3-948B-1728B52AA6E4}">
                <adec:decorative xmlns:adec="http://schemas.microsoft.com/office/drawing/2017/decorative" val="1"/>
              </a:ext>
            </a:extLst>
          </p:cNvPr>
          <p:cNvSpPr/>
          <p:nvPr/>
        </p:nvSpPr>
        <p:spPr>
          <a:xfrm>
            <a:off x="6373368" y="182880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373368" y="1828800"/>
            <a:ext cx="73152" cy="1508760"/>
          </a:xfrm>
          <a:prstGeom prst="rect">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6629400"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RECORD THE FOUR CATEGORIES</a:t>
            </a:r>
            <a:endParaRPr lang="en-US" sz="1700" dirty="0"/>
          </a:p>
        </p:txBody>
      </p:sp>
      <p:sp>
        <p:nvSpPr>
          <p:cNvPr id="15" name="Text 13"/>
          <p:cNvSpPr/>
          <p:nvPr/>
        </p:nvSpPr>
        <p:spPr>
          <a:xfrm>
            <a:off x="6629400" y="248716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Keep the current Learning Context, Interaction Design, Expert Content, and Artifact Specification decisions.</a:t>
            </a:r>
            <a:endParaRPr lang="en-US" sz="1350" dirty="0"/>
          </a:p>
        </p:txBody>
      </p:sp>
      <p:sp>
        <p:nvSpPr>
          <p:cNvPr id="16" name="Shape 14">
            <a:extLst>
              <a:ext uri="{C183D7F6-B498-43B3-948B-1728B52AA6E4}">
                <adec:decorative xmlns:adec="http://schemas.microsoft.com/office/drawing/2017/decorative" val="1"/>
              </a:ext>
            </a:extLst>
          </p:cNvPr>
          <p:cNvSpPr/>
          <p:nvPr/>
        </p:nvSpPr>
        <p:spPr>
          <a:xfrm>
            <a:off x="749808" y="374904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749808" y="3749040"/>
            <a:ext cx="73152" cy="1508760"/>
          </a:xfrm>
          <a:prstGeom prst="rect">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1005840" y="393192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VERSION + CHECKPOINT</a:t>
            </a:r>
            <a:endParaRPr lang="en-US" sz="1700" dirty="0"/>
          </a:p>
        </p:txBody>
      </p:sp>
      <p:sp>
        <p:nvSpPr>
          <p:cNvPr id="19" name="Text 17"/>
          <p:cNvSpPr/>
          <p:nvPr/>
        </p:nvSpPr>
        <p:spPr>
          <a:xfrm>
            <a:off x="1005840" y="440740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Use meaningful names such as v01-structure, v02-behavior, v03-keyboard, and record what changed.</a:t>
            </a:r>
            <a:endParaRPr lang="en-US" sz="1350" dirty="0"/>
          </a:p>
        </p:txBody>
      </p:sp>
      <p:sp>
        <p:nvSpPr>
          <p:cNvPr id="20" name="Shape 18">
            <a:extLst>
              <a:ext uri="{C183D7F6-B498-43B3-948B-1728B52AA6E4}">
                <adec:decorative xmlns:adec="http://schemas.microsoft.com/office/drawing/2017/decorative" val="1"/>
              </a:ext>
            </a:extLst>
          </p:cNvPr>
          <p:cNvSpPr/>
          <p:nvPr/>
        </p:nvSpPr>
        <p:spPr>
          <a:xfrm>
            <a:off x="6373368" y="3749040"/>
            <a:ext cx="5166360" cy="1508760"/>
          </a:xfrm>
          <a:prstGeom prst="roundRect">
            <a:avLst>
              <a:gd name="adj" fmla="val 4848"/>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6373368" y="3749040"/>
            <a:ext cx="73152" cy="1508760"/>
          </a:xfrm>
          <a:prstGeom prst="rect">
            <a:avLst/>
          </a:prstGeom>
          <a:solidFill>
            <a:srgbClr val="17254E"/>
          </a:solidFill>
          <a:ln w="12700">
            <a:solidFill>
              <a:srgbClr val="17254E"/>
            </a:solidFill>
            <a:prstDash val="solid"/>
          </a:ln>
        </p:spPr>
        <p:txBody>
          <a:bodyPr/>
          <a:lstStyle/>
          <a:p>
            <a:endParaRPr lang="en-US"/>
          </a:p>
        </p:txBody>
      </p:sp>
      <p:sp>
        <p:nvSpPr>
          <p:cNvPr id="22" name="Text 20"/>
          <p:cNvSpPr/>
          <p:nvPr/>
        </p:nvSpPr>
        <p:spPr>
          <a:xfrm>
            <a:off x="6629400" y="3931920"/>
            <a:ext cx="4690872"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17254E"/>
                </a:solidFill>
                <a:latin typeface="Georgia" pitchFamily="34" charset="0"/>
                <a:ea typeface="Georgia" pitchFamily="34" charset="-122"/>
                <a:cs typeface="Georgia" pitchFamily="34" charset="-120"/>
              </a:rPr>
              <a:t>ARCHIVE PROMPTS, ASSETS + OPEN ISSUES</a:t>
            </a:r>
            <a:endParaRPr lang="en-US" sz="1700" dirty="0"/>
          </a:p>
        </p:txBody>
      </p:sp>
      <p:sp>
        <p:nvSpPr>
          <p:cNvPr id="23" name="Text 21"/>
          <p:cNvSpPr/>
          <p:nvPr/>
        </p:nvSpPr>
        <p:spPr>
          <a:xfrm>
            <a:off x="6629400" y="4407408"/>
            <a:ext cx="4690872" cy="685800"/>
          </a:xfrm>
          <a:prstGeom prst="rect">
            <a:avLst/>
          </a:prstGeom>
          <a:noFill/>
          <a:ln/>
        </p:spPr>
        <p:txBody>
          <a:bodyPr wrap="square" lIns="0" tIns="0" rIns="0" bIns="0" rtlCol="0" anchor="t">
            <a:normAutofit/>
          </a:bodyPr>
          <a:lstStyle/>
          <a:p>
            <a:pPr marL="0" indent="0">
              <a:buNone/>
            </a:pPr>
            <a:r>
              <a:rPr lang="en-US" sz="1350" dirty="0">
                <a:solidFill>
                  <a:srgbClr val="202532"/>
                </a:solidFill>
                <a:latin typeface="Aptos" pitchFamily="34" charset="0"/>
                <a:ea typeface="Aptos" pitchFamily="34" charset="-122"/>
                <a:cs typeface="Aptos" pitchFamily="34" charset="-120"/>
              </a:rPr>
              <a:t>Keep useful chats, prompts, sources, credits, generated assets, test results, and unresolved problems together.</a:t>
            </a:r>
            <a:endParaRPr lang="en-US" sz="1350" dirty="0"/>
          </a:p>
        </p:txBody>
      </p:sp>
      <p:sp>
        <p:nvSpPr>
          <p:cNvPr id="24" name="Shape 22">
            <a:extLst>
              <a:ext uri="{C183D7F6-B498-43B3-948B-1728B52AA6E4}">
                <adec:decorative xmlns:adec="http://schemas.microsoft.com/office/drawing/2017/decorative" val="1"/>
              </a:ext>
            </a:extLst>
          </p:cNvPr>
          <p:cNvSpPr/>
          <p:nvPr/>
        </p:nvSpPr>
        <p:spPr>
          <a:xfrm>
            <a:off x="2240280" y="5715000"/>
            <a:ext cx="82296" cy="457200"/>
          </a:xfrm>
          <a:prstGeom prst="rect">
            <a:avLst/>
          </a:prstGeom>
          <a:solidFill>
            <a:srgbClr val="D5B979"/>
          </a:solidFill>
          <a:ln w="12700">
            <a:solidFill>
              <a:srgbClr val="D5B979"/>
            </a:solidFill>
            <a:prstDash val="solid"/>
          </a:ln>
        </p:spPr>
        <p:txBody>
          <a:bodyPr/>
          <a:lstStyle/>
          <a:p>
            <a:endParaRPr lang="en-US"/>
          </a:p>
        </p:txBody>
      </p:sp>
      <p:sp>
        <p:nvSpPr>
          <p:cNvPr id="25" name="Text 23"/>
          <p:cNvSpPr/>
          <p:nvPr/>
        </p:nvSpPr>
        <p:spPr>
          <a:xfrm>
            <a:off x="2532888" y="5715000"/>
            <a:ext cx="7479792" cy="457200"/>
          </a:xfrm>
          <a:prstGeom prst="rect">
            <a:avLst/>
          </a:prstGeom>
          <a:noFill/>
          <a:ln/>
        </p:spPr>
        <p:txBody>
          <a:bodyPr wrap="square" lIns="0" tIns="0" rIns="0" bIns="0" rtlCol="0" anchor="ctr">
            <a:normAutofit fontScale="85000"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The chat is not the project. The project is the durable design record.</a:t>
            </a:r>
            <a:endParaRPr lang="en-US" sz="2200" dirty="0"/>
          </a:p>
        </p:txBody>
      </p:sp>
      <p:sp>
        <p:nvSpPr>
          <p:cNvPr id="26" name="Shape 24">
            <a:extLst>
              <a:ext uri="{C183D7F6-B498-43B3-948B-1728B52AA6E4}">
                <adec:decorative xmlns:adec="http://schemas.microsoft.com/office/drawing/2017/decorative" val="1"/>
              </a:ext>
            </a:extLst>
          </p:cNvPr>
          <p:cNvSpPr/>
          <p:nvPr/>
        </p:nvSpPr>
        <p:spPr>
          <a:xfrm>
            <a:off x="3246120" y="6199632"/>
            <a:ext cx="57150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7" name="Text 25"/>
          <p:cNvSpPr/>
          <p:nvPr/>
        </p:nvSpPr>
        <p:spPr>
          <a:xfrm>
            <a:off x="3355848" y="6199632"/>
            <a:ext cx="54955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A Simple Project Workflow</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Caution: every idea has a different cost profile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137" name="Shape 1">
            <a:extLst>
              <a:ext uri="{FF2B5EF4-FFF2-40B4-BE49-F238E27FC236}">
                <a16:creationId xmlns:a16="http://schemas.microsoft.com/office/drawing/2014/main" id="{4D16B1E6-BE1F-94A5-FBCC-366E6DE66CA0}"/>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38" name="Text 2">
            <a:extLst>
              <a:ext uri="{FF2B5EF4-FFF2-40B4-BE49-F238E27FC236}">
                <a16:creationId xmlns:a16="http://schemas.microsoft.com/office/drawing/2014/main" id="{A4FE6505-AE80-9E68-05FE-81D37075A1E4}"/>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Asset demand, AI suitability, and expected effort and time investment •  1 = low, 5 = high</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502920" y="1719072"/>
            <a:ext cx="2743200" cy="530352"/>
          </a:xfrm>
          <a:prstGeom prst="rect">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576072" y="1719072"/>
            <a:ext cx="2596896" cy="530352"/>
          </a:xfrm>
          <a:prstGeom prst="rect">
            <a:avLst/>
          </a:prstGeom>
          <a:noFill/>
          <a:ln/>
        </p:spPr>
        <p:txBody>
          <a:bodyPr wrap="square" lIns="0" tIns="0" rIns="0" bIns="0" rtlCol="0" anchor="ctr">
            <a:normAutofit/>
          </a:bodyPr>
          <a:lstStyle/>
          <a:p>
            <a:pPr marL="0" indent="0" algn="l">
              <a:buNone/>
            </a:pPr>
            <a:r>
              <a:rPr lang="en-US" sz="950" b="1" dirty="0">
                <a:solidFill>
                  <a:srgbClr val="FFFFFF"/>
                </a:solidFill>
                <a:latin typeface="Aptos" pitchFamily="34" charset="0"/>
                <a:ea typeface="Aptos" pitchFamily="34" charset="-122"/>
                <a:cs typeface="Aptos" pitchFamily="34" charset="-120"/>
              </a:rPr>
              <a:t>INTERACTION</a:t>
            </a:r>
            <a:endParaRPr lang="en-US" sz="950" dirty="0"/>
          </a:p>
        </p:txBody>
      </p:sp>
      <p:sp>
        <p:nvSpPr>
          <p:cNvPr id="10" name="Shape 8">
            <a:extLst>
              <a:ext uri="{C183D7F6-B498-43B3-948B-1728B52AA6E4}">
                <adec:decorative xmlns:adec="http://schemas.microsoft.com/office/drawing/2017/decorative" val="1"/>
              </a:ext>
            </a:extLst>
          </p:cNvPr>
          <p:cNvSpPr/>
          <p:nvPr/>
        </p:nvSpPr>
        <p:spPr>
          <a:xfrm>
            <a:off x="3246120"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1" name="Text 9"/>
          <p:cNvSpPr/>
          <p:nvPr/>
        </p:nvSpPr>
        <p:spPr>
          <a:xfrm>
            <a:off x="3319272"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TEXT</a:t>
            </a:r>
            <a:endParaRPr lang="en-US" sz="850" dirty="0"/>
          </a:p>
        </p:txBody>
      </p:sp>
      <p:sp>
        <p:nvSpPr>
          <p:cNvPr id="12" name="Shape 10">
            <a:extLst>
              <a:ext uri="{C183D7F6-B498-43B3-948B-1728B52AA6E4}">
                <adec:decorative xmlns:adec="http://schemas.microsoft.com/office/drawing/2017/decorative" val="1"/>
              </a:ext>
            </a:extLst>
          </p:cNvPr>
          <p:cNvSpPr/>
          <p:nvPr/>
        </p:nvSpPr>
        <p:spPr>
          <a:xfrm>
            <a:off x="4407408"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3" name="Text 11"/>
          <p:cNvSpPr/>
          <p:nvPr/>
        </p:nvSpPr>
        <p:spPr>
          <a:xfrm>
            <a:off x="4480560"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GRAPHICS</a:t>
            </a:r>
            <a:endParaRPr lang="en-US" sz="850" dirty="0"/>
          </a:p>
        </p:txBody>
      </p:sp>
      <p:sp>
        <p:nvSpPr>
          <p:cNvPr id="14" name="Shape 12">
            <a:extLst>
              <a:ext uri="{C183D7F6-B498-43B3-948B-1728B52AA6E4}">
                <adec:decorative xmlns:adec="http://schemas.microsoft.com/office/drawing/2017/decorative" val="1"/>
              </a:ext>
            </a:extLst>
          </p:cNvPr>
          <p:cNvSpPr/>
          <p:nvPr/>
        </p:nvSpPr>
        <p:spPr>
          <a:xfrm>
            <a:off x="5568696"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5" name="Text 13"/>
          <p:cNvSpPr/>
          <p:nvPr/>
        </p:nvSpPr>
        <p:spPr>
          <a:xfrm>
            <a:off x="5641848"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MEDIA</a:t>
            </a:r>
            <a:endParaRPr lang="en-US" sz="850" dirty="0"/>
          </a:p>
        </p:txBody>
      </p:sp>
      <p:sp>
        <p:nvSpPr>
          <p:cNvPr id="16" name="Shape 14">
            <a:extLst>
              <a:ext uri="{C183D7F6-B498-43B3-948B-1728B52AA6E4}">
                <adec:decorative xmlns:adec="http://schemas.microsoft.com/office/drawing/2017/decorative" val="1"/>
              </a:ext>
            </a:extLst>
          </p:cNvPr>
          <p:cNvSpPr/>
          <p:nvPr/>
        </p:nvSpPr>
        <p:spPr>
          <a:xfrm>
            <a:off x="6729984"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7" name="Text 15"/>
          <p:cNvSpPr/>
          <p:nvPr/>
        </p:nvSpPr>
        <p:spPr>
          <a:xfrm>
            <a:off x="6803136"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LOGIC</a:t>
            </a:r>
            <a:endParaRPr lang="en-US" sz="850" dirty="0"/>
          </a:p>
        </p:txBody>
      </p:sp>
      <p:sp>
        <p:nvSpPr>
          <p:cNvPr id="18" name="Shape 16">
            <a:extLst>
              <a:ext uri="{C183D7F6-B498-43B3-948B-1728B52AA6E4}">
                <adec:decorative xmlns:adec="http://schemas.microsoft.com/office/drawing/2017/decorative" val="1"/>
              </a:ext>
            </a:extLst>
          </p:cNvPr>
          <p:cNvSpPr/>
          <p:nvPr/>
        </p:nvSpPr>
        <p:spPr>
          <a:xfrm>
            <a:off x="7891272"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19" name="Text 17"/>
          <p:cNvSpPr/>
          <p:nvPr/>
        </p:nvSpPr>
        <p:spPr>
          <a:xfrm>
            <a:off x="7964424"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TESTING</a:t>
            </a:r>
            <a:endParaRPr lang="en-US" sz="850" dirty="0"/>
          </a:p>
        </p:txBody>
      </p:sp>
      <p:sp>
        <p:nvSpPr>
          <p:cNvPr id="20" name="Shape 18">
            <a:extLst>
              <a:ext uri="{C183D7F6-B498-43B3-948B-1728B52AA6E4}">
                <adec:decorative xmlns:adec="http://schemas.microsoft.com/office/drawing/2017/decorative" val="1"/>
              </a:ext>
            </a:extLst>
          </p:cNvPr>
          <p:cNvSpPr/>
          <p:nvPr/>
        </p:nvSpPr>
        <p:spPr>
          <a:xfrm>
            <a:off x="9052560"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21" name="Text 19"/>
          <p:cNvSpPr/>
          <p:nvPr/>
        </p:nvSpPr>
        <p:spPr>
          <a:xfrm>
            <a:off x="9125712"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AI FIT</a:t>
            </a:r>
            <a:endParaRPr lang="en-US" sz="850" dirty="0"/>
          </a:p>
        </p:txBody>
      </p:sp>
      <p:sp>
        <p:nvSpPr>
          <p:cNvPr id="22" name="Shape 20">
            <a:extLst>
              <a:ext uri="{C183D7F6-B498-43B3-948B-1728B52AA6E4}">
                <adec:decorative xmlns:adec="http://schemas.microsoft.com/office/drawing/2017/decorative" val="1"/>
              </a:ext>
            </a:extLst>
          </p:cNvPr>
          <p:cNvSpPr/>
          <p:nvPr/>
        </p:nvSpPr>
        <p:spPr>
          <a:xfrm>
            <a:off x="10213848" y="1719072"/>
            <a:ext cx="1161288" cy="530352"/>
          </a:xfrm>
          <a:prstGeom prst="rect">
            <a:avLst/>
          </a:prstGeom>
          <a:solidFill>
            <a:srgbClr val="17254E"/>
          </a:solidFill>
          <a:ln w="12700">
            <a:solidFill>
              <a:srgbClr val="17254E"/>
            </a:solidFill>
            <a:prstDash val="solid"/>
          </a:ln>
        </p:spPr>
        <p:txBody>
          <a:bodyPr/>
          <a:lstStyle/>
          <a:p>
            <a:endParaRPr lang="en-US"/>
          </a:p>
        </p:txBody>
      </p:sp>
      <p:sp>
        <p:nvSpPr>
          <p:cNvPr id="23" name="Text 21"/>
          <p:cNvSpPr/>
          <p:nvPr/>
        </p:nvSpPr>
        <p:spPr>
          <a:xfrm>
            <a:off x="10287000" y="1719072"/>
            <a:ext cx="1014984" cy="530352"/>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EFFORT</a:t>
            </a:r>
            <a:endParaRPr lang="en-US" sz="850" dirty="0"/>
          </a:p>
        </p:txBody>
      </p:sp>
      <p:sp>
        <p:nvSpPr>
          <p:cNvPr id="24" name="Shape 22">
            <a:extLst>
              <a:ext uri="{C183D7F6-B498-43B3-948B-1728B52AA6E4}">
                <adec:decorative xmlns:adec="http://schemas.microsoft.com/office/drawing/2017/decorative" val="1"/>
              </a:ext>
            </a:extLst>
          </p:cNvPr>
          <p:cNvSpPr/>
          <p:nvPr/>
        </p:nvSpPr>
        <p:spPr>
          <a:xfrm>
            <a:off x="502920" y="2276856"/>
            <a:ext cx="2743200" cy="512064"/>
          </a:xfrm>
          <a:prstGeom prst="rect">
            <a:avLst/>
          </a:prstGeom>
          <a:solidFill>
            <a:srgbClr val="F5F6F8"/>
          </a:solidFill>
          <a:ln w="12700">
            <a:solidFill>
              <a:srgbClr val="D8DCE4"/>
            </a:solidFill>
            <a:prstDash val="solid"/>
          </a:ln>
        </p:spPr>
        <p:txBody>
          <a:bodyPr/>
          <a:lstStyle/>
          <a:p>
            <a:endParaRPr lang="en-US"/>
          </a:p>
        </p:txBody>
      </p:sp>
      <p:sp>
        <p:nvSpPr>
          <p:cNvPr id="25" name="Text 23"/>
          <p:cNvSpPr/>
          <p:nvPr/>
        </p:nvSpPr>
        <p:spPr>
          <a:xfrm>
            <a:off x="630936" y="2276856"/>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Knowledge check</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3246120"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27" name="Text 25"/>
          <p:cNvSpPr/>
          <p:nvPr/>
        </p:nvSpPr>
        <p:spPr>
          <a:xfrm>
            <a:off x="3246120"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4407408" y="2276856"/>
            <a:ext cx="1161288" cy="512064"/>
          </a:xfrm>
          <a:prstGeom prst="rect">
            <a:avLst/>
          </a:prstGeom>
          <a:solidFill>
            <a:srgbClr val="DCEFE7"/>
          </a:solidFill>
          <a:ln w="12700">
            <a:solidFill>
              <a:srgbClr val="FFFEFA"/>
            </a:solidFill>
            <a:prstDash val="solid"/>
          </a:ln>
        </p:spPr>
        <p:txBody>
          <a:bodyPr/>
          <a:lstStyle/>
          <a:p>
            <a:endParaRPr lang="en-US"/>
          </a:p>
        </p:txBody>
      </p:sp>
      <p:sp>
        <p:nvSpPr>
          <p:cNvPr id="29" name="Text 27"/>
          <p:cNvSpPr/>
          <p:nvPr/>
        </p:nvSpPr>
        <p:spPr>
          <a:xfrm>
            <a:off x="4407408"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5568696" y="2276856"/>
            <a:ext cx="1161288" cy="512064"/>
          </a:xfrm>
          <a:prstGeom prst="rect">
            <a:avLst/>
          </a:prstGeom>
          <a:solidFill>
            <a:srgbClr val="DCEFE7"/>
          </a:solidFill>
          <a:ln w="12700">
            <a:solidFill>
              <a:srgbClr val="FFFEFA"/>
            </a:solidFill>
            <a:prstDash val="solid"/>
          </a:ln>
        </p:spPr>
        <p:txBody>
          <a:bodyPr/>
          <a:lstStyle/>
          <a:p>
            <a:endParaRPr lang="en-US"/>
          </a:p>
        </p:txBody>
      </p:sp>
      <p:sp>
        <p:nvSpPr>
          <p:cNvPr id="31" name="Text 29"/>
          <p:cNvSpPr/>
          <p:nvPr/>
        </p:nvSpPr>
        <p:spPr>
          <a:xfrm>
            <a:off x="5568696"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32" name="Shape 30">
            <a:extLst>
              <a:ext uri="{C183D7F6-B498-43B3-948B-1728B52AA6E4}">
                <adec:decorative xmlns:adec="http://schemas.microsoft.com/office/drawing/2017/decorative" val="1"/>
              </a:ext>
            </a:extLst>
          </p:cNvPr>
          <p:cNvSpPr/>
          <p:nvPr/>
        </p:nvSpPr>
        <p:spPr>
          <a:xfrm>
            <a:off x="6729984"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3" name="Text 31"/>
          <p:cNvSpPr/>
          <p:nvPr/>
        </p:nvSpPr>
        <p:spPr>
          <a:xfrm>
            <a:off x="6729984"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7891272"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5" name="Text 33"/>
          <p:cNvSpPr/>
          <p:nvPr/>
        </p:nvSpPr>
        <p:spPr>
          <a:xfrm>
            <a:off x="7891272"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36" name="Shape 34">
            <a:extLst>
              <a:ext uri="{C183D7F6-B498-43B3-948B-1728B52AA6E4}">
                <adec:decorative xmlns:adec="http://schemas.microsoft.com/office/drawing/2017/decorative" val="1"/>
              </a:ext>
            </a:extLst>
          </p:cNvPr>
          <p:cNvSpPr/>
          <p:nvPr/>
        </p:nvSpPr>
        <p:spPr>
          <a:xfrm>
            <a:off x="9052560" y="2276856"/>
            <a:ext cx="1161288" cy="512064"/>
          </a:xfrm>
          <a:prstGeom prst="rect">
            <a:avLst/>
          </a:prstGeom>
          <a:solidFill>
            <a:srgbClr val="ECC0BB"/>
          </a:solidFill>
          <a:ln w="12700">
            <a:solidFill>
              <a:srgbClr val="FFFEFA"/>
            </a:solidFill>
            <a:prstDash val="solid"/>
          </a:ln>
        </p:spPr>
        <p:txBody>
          <a:bodyPr/>
          <a:lstStyle/>
          <a:p>
            <a:endParaRPr lang="en-US"/>
          </a:p>
        </p:txBody>
      </p:sp>
      <p:sp>
        <p:nvSpPr>
          <p:cNvPr id="37" name="Text 35"/>
          <p:cNvSpPr/>
          <p:nvPr/>
        </p:nvSpPr>
        <p:spPr>
          <a:xfrm>
            <a:off x="9052560"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38" name="Shape 36">
            <a:extLst>
              <a:ext uri="{C183D7F6-B498-43B3-948B-1728B52AA6E4}">
                <adec:decorative xmlns:adec="http://schemas.microsoft.com/office/drawing/2017/decorative" val="1"/>
              </a:ext>
            </a:extLst>
          </p:cNvPr>
          <p:cNvSpPr/>
          <p:nvPr/>
        </p:nvSpPr>
        <p:spPr>
          <a:xfrm>
            <a:off x="10213848" y="2276856"/>
            <a:ext cx="1161288" cy="512064"/>
          </a:xfrm>
          <a:prstGeom prst="rect">
            <a:avLst/>
          </a:prstGeom>
          <a:solidFill>
            <a:srgbClr val="E8F1D8"/>
          </a:solidFill>
          <a:ln w="12700">
            <a:solidFill>
              <a:srgbClr val="FFFEFA"/>
            </a:solidFill>
            <a:prstDash val="solid"/>
          </a:ln>
        </p:spPr>
        <p:txBody>
          <a:bodyPr/>
          <a:lstStyle/>
          <a:p>
            <a:endParaRPr lang="en-US"/>
          </a:p>
        </p:txBody>
      </p:sp>
      <p:sp>
        <p:nvSpPr>
          <p:cNvPr id="39" name="Text 37"/>
          <p:cNvSpPr/>
          <p:nvPr/>
        </p:nvSpPr>
        <p:spPr>
          <a:xfrm>
            <a:off x="10213848" y="227685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502920" y="2807208"/>
            <a:ext cx="2743200" cy="512064"/>
          </a:xfrm>
          <a:prstGeom prst="rect">
            <a:avLst/>
          </a:prstGeom>
          <a:solidFill>
            <a:srgbClr val="FFFFFF"/>
          </a:solidFill>
          <a:ln w="12700">
            <a:solidFill>
              <a:srgbClr val="D8DCE4"/>
            </a:solidFill>
            <a:prstDash val="solid"/>
          </a:ln>
        </p:spPr>
        <p:txBody>
          <a:bodyPr/>
          <a:lstStyle/>
          <a:p>
            <a:endParaRPr lang="en-US"/>
          </a:p>
        </p:txBody>
      </p:sp>
      <p:sp>
        <p:nvSpPr>
          <p:cNvPr id="41" name="Text 39"/>
          <p:cNvSpPr/>
          <p:nvPr/>
        </p:nvSpPr>
        <p:spPr>
          <a:xfrm>
            <a:off x="630936" y="2807208"/>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Timeline</a:t>
            </a:r>
            <a:endParaRPr lang="en-US" sz="1100" dirty="0"/>
          </a:p>
        </p:txBody>
      </p:sp>
      <p:sp>
        <p:nvSpPr>
          <p:cNvPr id="42" name="Shape 40">
            <a:extLst>
              <a:ext uri="{C183D7F6-B498-43B3-948B-1728B52AA6E4}">
                <adec:decorative xmlns:adec="http://schemas.microsoft.com/office/drawing/2017/decorative" val="1"/>
              </a:ext>
            </a:extLst>
          </p:cNvPr>
          <p:cNvSpPr/>
          <p:nvPr/>
        </p:nvSpPr>
        <p:spPr>
          <a:xfrm>
            <a:off x="3246120" y="2807208"/>
            <a:ext cx="1161288" cy="512064"/>
          </a:xfrm>
          <a:prstGeom prst="rect">
            <a:avLst/>
          </a:prstGeom>
          <a:solidFill>
            <a:srgbClr val="F4E7B9"/>
          </a:solidFill>
          <a:ln w="12700">
            <a:solidFill>
              <a:srgbClr val="FFFEFA"/>
            </a:solidFill>
            <a:prstDash val="solid"/>
          </a:ln>
        </p:spPr>
        <p:txBody>
          <a:bodyPr/>
          <a:lstStyle/>
          <a:p>
            <a:endParaRPr lang="en-US"/>
          </a:p>
        </p:txBody>
      </p:sp>
      <p:sp>
        <p:nvSpPr>
          <p:cNvPr id="43" name="Text 41"/>
          <p:cNvSpPr/>
          <p:nvPr/>
        </p:nvSpPr>
        <p:spPr>
          <a:xfrm>
            <a:off x="3246120"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44" name="Shape 42">
            <a:extLst>
              <a:ext uri="{C183D7F6-B498-43B3-948B-1728B52AA6E4}">
                <adec:decorative xmlns:adec="http://schemas.microsoft.com/office/drawing/2017/decorative" val="1"/>
              </a:ext>
            </a:extLst>
          </p:cNvPr>
          <p:cNvSpPr/>
          <p:nvPr/>
        </p:nvSpPr>
        <p:spPr>
          <a:xfrm>
            <a:off x="4407408"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45" name="Text 43"/>
          <p:cNvSpPr/>
          <p:nvPr/>
        </p:nvSpPr>
        <p:spPr>
          <a:xfrm>
            <a:off x="4407408"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46" name="Shape 44">
            <a:extLst>
              <a:ext uri="{C183D7F6-B498-43B3-948B-1728B52AA6E4}">
                <adec:decorative xmlns:adec="http://schemas.microsoft.com/office/drawing/2017/decorative" val="1"/>
              </a:ext>
            </a:extLst>
          </p:cNvPr>
          <p:cNvSpPr/>
          <p:nvPr/>
        </p:nvSpPr>
        <p:spPr>
          <a:xfrm>
            <a:off x="5568696" y="2807208"/>
            <a:ext cx="1161288" cy="512064"/>
          </a:xfrm>
          <a:prstGeom prst="rect">
            <a:avLst/>
          </a:prstGeom>
          <a:solidFill>
            <a:srgbClr val="DCEFE7"/>
          </a:solidFill>
          <a:ln w="12700">
            <a:solidFill>
              <a:srgbClr val="FFFEFA"/>
            </a:solidFill>
            <a:prstDash val="solid"/>
          </a:ln>
        </p:spPr>
        <p:txBody>
          <a:bodyPr/>
          <a:lstStyle/>
          <a:p>
            <a:endParaRPr lang="en-US"/>
          </a:p>
        </p:txBody>
      </p:sp>
      <p:sp>
        <p:nvSpPr>
          <p:cNvPr id="47" name="Text 45"/>
          <p:cNvSpPr/>
          <p:nvPr/>
        </p:nvSpPr>
        <p:spPr>
          <a:xfrm>
            <a:off x="5568696"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48" name="Shape 46">
            <a:extLst>
              <a:ext uri="{C183D7F6-B498-43B3-948B-1728B52AA6E4}">
                <adec:decorative xmlns:adec="http://schemas.microsoft.com/office/drawing/2017/decorative" val="1"/>
              </a:ext>
            </a:extLst>
          </p:cNvPr>
          <p:cNvSpPr/>
          <p:nvPr/>
        </p:nvSpPr>
        <p:spPr>
          <a:xfrm>
            <a:off x="6729984"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49" name="Text 47"/>
          <p:cNvSpPr/>
          <p:nvPr/>
        </p:nvSpPr>
        <p:spPr>
          <a:xfrm>
            <a:off x="6729984"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0" name="Shape 48">
            <a:extLst>
              <a:ext uri="{C183D7F6-B498-43B3-948B-1728B52AA6E4}">
                <adec:decorative xmlns:adec="http://schemas.microsoft.com/office/drawing/2017/decorative" val="1"/>
              </a:ext>
            </a:extLst>
          </p:cNvPr>
          <p:cNvSpPr/>
          <p:nvPr/>
        </p:nvSpPr>
        <p:spPr>
          <a:xfrm>
            <a:off x="7891272"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51" name="Text 49"/>
          <p:cNvSpPr/>
          <p:nvPr/>
        </p:nvSpPr>
        <p:spPr>
          <a:xfrm>
            <a:off x="7891272"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2" name="Shape 50">
            <a:extLst>
              <a:ext uri="{C183D7F6-B498-43B3-948B-1728B52AA6E4}">
                <adec:decorative xmlns:adec="http://schemas.microsoft.com/office/drawing/2017/decorative" val="1"/>
              </a:ext>
            </a:extLst>
          </p:cNvPr>
          <p:cNvSpPr/>
          <p:nvPr/>
        </p:nvSpPr>
        <p:spPr>
          <a:xfrm>
            <a:off x="9052560" y="2807208"/>
            <a:ext cx="1161288" cy="512064"/>
          </a:xfrm>
          <a:prstGeom prst="rect">
            <a:avLst/>
          </a:prstGeom>
          <a:solidFill>
            <a:srgbClr val="ECC0BB"/>
          </a:solidFill>
          <a:ln w="12700">
            <a:solidFill>
              <a:srgbClr val="FFFEFA"/>
            </a:solidFill>
            <a:prstDash val="solid"/>
          </a:ln>
        </p:spPr>
        <p:txBody>
          <a:bodyPr/>
          <a:lstStyle/>
          <a:p>
            <a:endParaRPr lang="en-US"/>
          </a:p>
        </p:txBody>
      </p:sp>
      <p:sp>
        <p:nvSpPr>
          <p:cNvPr id="53" name="Text 51"/>
          <p:cNvSpPr/>
          <p:nvPr/>
        </p:nvSpPr>
        <p:spPr>
          <a:xfrm>
            <a:off x="9052560"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54" name="Shape 52">
            <a:extLst>
              <a:ext uri="{C183D7F6-B498-43B3-948B-1728B52AA6E4}">
                <adec:decorative xmlns:adec="http://schemas.microsoft.com/office/drawing/2017/decorative" val="1"/>
              </a:ext>
            </a:extLst>
          </p:cNvPr>
          <p:cNvSpPr/>
          <p:nvPr/>
        </p:nvSpPr>
        <p:spPr>
          <a:xfrm>
            <a:off x="10213848" y="2807208"/>
            <a:ext cx="1161288" cy="512064"/>
          </a:xfrm>
          <a:prstGeom prst="rect">
            <a:avLst/>
          </a:prstGeom>
          <a:solidFill>
            <a:srgbClr val="E8F1D8"/>
          </a:solidFill>
          <a:ln w="12700">
            <a:solidFill>
              <a:srgbClr val="FFFEFA"/>
            </a:solidFill>
            <a:prstDash val="solid"/>
          </a:ln>
        </p:spPr>
        <p:txBody>
          <a:bodyPr/>
          <a:lstStyle/>
          <a:p>
            <a:endParaRPr lang="en-US"/>
          </a:p>
        </p:txBody>
      </p:sp>
      <p:sp>
        <p:nvSpPr>
          <p:cNvPr id="55" name="Text 53"/>
          <p:cNvSpPr/>
          <p:nvPr/>
        </p:nvSpPr>
        <p:spPr>
          <a:xfrm>
            <a:off x="10213848" y="280720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56" name="Shape 54">
            <a:extLst>
              <a:ext uri="{C183D7F6-B498-43B3-948B-1728B52AA6E4}">
                <adec:decorative xmlns:adec="http://schemas.microsoft.com/office/drawing/2017/decorative" val="1"/>
              </a:ext>
            </a:extLst>
          </p:cNvPr>
          <p:cNvSpPr/>
          <p:nvPr/>
        </p:nvSpPr>
        <p:spPr>
          <a:xfrm>
            <a:off x="502920" y="3337560"/>
            <a:ext cx="2743200" cy="512064"/>
          </a:xfrm>
          <a:prstGeom prst="rect">
            <a:avLst/>
          </a:prstGeom>
          <a:solidFill>
            <a:srgbClr val="F5F6F8"/>
          </a:solidFill>
          <a:ln w="12700">
            <a:solidFill>
              <a:srgbClr val="D8DCE4"/>
            </a:solidFill>
            <a:prstDash val="solid"/>
          </a:ln>
        </p:spPr>
        <p:txBody>
          <a:bodyPr/>
          <a:lstStyle/>
          <a:p>
            <a:endParaRPr lang="en-US"/>
          </a:p>
        </p:txBody>
      </p:sp>
      <p:sp>
        <p:nvSpPr>
          <p:cNvPr id="57" name="Text 55"/>
          <p:cNvSpPr/>
          <p:nvPr/>
        </p:nvSpPr>
        <p:spPr>
          <a:xfrm>
            <a:off x="630936" y="3337560"/>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FAQ chatbot</a:t>
            </a:r>
            <a:endParaRPr lang="en-US" sz="1100" dirty="0"/>
          </a:p>
        </p:txBody>
      </p:sp>
      <p:sp>
        <p:nvSpPr>
          <p:cNvPr id="58" name="Shape 56">
            <a:extLst>
              <a:ext uri="{C183D7F6-B498-43B3-948B-1728B52AA6E4}">
                <adec:decorative xmlns:adec="http://schemas.microsoft.com/office/drawing/2017/decorative" val="1"/>
              </a:ext>
            </a:extLst>
          </p:cNvPr>
          <p:cNvSpPr/>
          <p:nvPr/>
        </p:nvSpPr>
        <p:spPr>
          <a:xfrm>
            <a:off x="3246120" y="3337560"/>
            <a:ext cx="1161288" cy="512064"/>
          </a:xfrm>
          <a:prstGeom prst="rect">
            <a:avLst/>
          </a:prstGeom>
          <a:solidFill>
            <a:srgbClr val="F2CFAD"/>
          </a:solidFill>
          <a:ln w="12700">
            <a:solidFill>
              <a:srgbClr val="FFFEFA"/>
            </a:solidFill>
            <a:prstDash val="solid"/>
          </a:ln>
        </p:spPr>
        <p:txBody>
          <a:bodyPr/>
          <a:lstStyle/>
          <a:p>
            <a:endParaRPr lang="en-US"/>
          </a:p>
        </p:txBody>
      </p:sp>
      <p:sp>
        <p:nvSpPr>
          <p:cNvPr id="59" name="Text 57"/>
          <p:cNvSpPr/>
          <p:nvPr/>
        </p:nvSpPr>
        <p:spPr>
          <a:xfrm>
            <a:off x="3246120"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60" name="Shape 58">
            <a:extLst>
              <a:ext uri="{C183D7F6-B498-43B3-948B-1728B52AA6E4}">
                <adec:decorative xmlns:adec="http://schemas.microsoft.com/office/drawing/2017/decorative" val="1"/>
              </a:ext>
            </a:extLst>
          </p:cNvPr>
          <p:cNvSpPr/>
          <p:nvPr/>
        </p:nvSpPr>
        <p:spPr>
          <a:xfrm>
            <a:off x="4407408" y="3337560"/>
            <a:ext cx="1161288" cy="512064"/>
          </a:xfrm>
          <a:prstGeom prst="rect">
            <a:avLst/>
          </a:prstGeom>
          <a:solidFill>
            <a:srgbClr val="DCEFE7"/>
          </a:solidFill>
          <a:ln w="12700">
            <a:solidFill>
              <a:srgbClr val="FFFEFA"/>
            </a:solidFill>
            <a:prstDash val="solid"/>
          </a:ln>
        </p:spPr>
        <p:txBody>
          <a:bodyPr/>
          <a:lstStyle/>
          <a:p>
            <a:endParaRPr lang="en-US"/>
          </a:p>
        </p:txBody>
      </p:sp>
      <p:sp>
        <p:nvSpPr>
          <p:cNvPr id="61" name="Text 59"/>
          <p:cNvSpPr/>
          <p:nvPr/>
        </p:nvSpPr>
        <p:spPr>
          <a:xfrm>
            <a:off x="4407408"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62" name="Shape 60">
            <a:extLst>
              <a:ext uri="{C183D7F6-B498-43B3-948B-1728B52AA6E4}">
                <adec:decorative xmlns:adec="http://schemas.microsoft.com/office/drawing/2017/decorative" val="1"/>
              </a:ext>
            </a:extLst>
          </p:cNvPr>
          <p:cNvSpPr/>
          <p:nvPr/>
        </p:nvSpPr>
        <p:spPr>
          <a:xfrm>
            <a:off x="5568696" y="3337560"/>
            <a:ext cx="1161288" cy="512064"/>
          </a:xfrm>
          <a:prstGeom prst="rect">
            <a:avLst/>
          </a:prstGeom>
          <a:solidFill>
            <a:srgbClr val="DCEFE7"/>
          </a:solidFill>
          <a:ln w="12700">
            <a:solidFill>
              <a:srgbClr val="FFFEFA"/>
            </a:solidFill>
            <a:prstDash val="solid"/>
          </a:ln>
        </p:spPr>
        <p:txBody>
          <a:bodyPr/>
          <a:lstStyle/>
          <a:p>
            <a:endParaRPr lang="en-US"/>
          </a:p>
        </p:txBody>
      </p:sp>
      <p:sp>
        <p:nvSpPr>
          <p:cNvPr id="63" name="Text 61"/>
          <p:cNvSpPr/>
          <p:nvPr/>
        </p:nvSpPr>
        <p:spPr>
          <a:xfrm>
            <a:off x="5568696"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64" name="Shape 62">
            <a:extLst>
              <a:ext uri="{C183D7F6-B498-43B3-948B-1728B52AA6E4}">
                <adec:decorative xmlns:adec="http://schemas.microsoft.com/office/drawing/2017/decorative" val="1"/>
              </a:ext>
            </a:extLst>
          </p:cNvPr>
          <p:cNvSpPr/>
          <p:nvPr/>
        </p:nvSpPr>
        <p:spPr>
          <a:xfrm>
            <a:off x="6729984" y="3337560"/>
            <a:ext cx="1161288" cy="512064"/>
          </a:xfrm>
          <a:prstGeom prst="rect">
            <a:avLst/>
          </a:prstGeom>
          <a:solidFill>
            <a:srgbClr val="F4E7B9"/>
          </a:solidFill>
          <a:ln w="12700">
            <a:solidFill>
              <a:srgbClr val="FFFEFA"/>
            </a:solidFill>
            <a:prstDash val="solid"/>
          </a:ln>
        </p:spPr>
        <p:txBody>
          <a:bodyPr/>
          <a:lstStyle/>
          <a:p>
            <a:endParaRPr lang="en-US"/>
          </a:p>
        </p:txBody>
      </p:sp>
      <p:sp>
        <p:nvSpPr>
          <p:cNvPr id="65" name="Text 63"/>
          <p:cNvSpPr/>
          <p:nvPr/>
        </p:nvSpPr>
        <p:spPr>
          <a:xfrm>
            <a:off x="6729984"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66" name="Shape 64">
            <a:extLst>
              <a:ext uri="{C183D7F6-B498-43B3-948B-1728B52AA6E4}">
                <adec:decorative xmlns:adec="http://schemas.microsoft.com/office/drawing/2017/decorative" val="1"/>
              </a:ext>
            </a:extLst>
          </p:cNvPr>
          <p:cNvSpPr/>
          <p:nvPr/>
        </p:nvSpPr>
        <p:spPr>
          <a:xfrm>
            <a:off x="7891272" y="3337560"/>
            <a:ext cx="1161288" cy="512064"/>
          </a:xfrm>
          <a:prstGeom prst="rect">
            <a:avLst/>
          </a:prstGeom>
          <a:solidFill>
            <a:srgbClr val="F4E7B9"/>
          </a:solidFill>
          <a:ln w="12700">
            <a:solidFill>
              <a:srgbClr val="FFFEFA"/>
            </a:solidFill>
            <a:prstDash val="solid"/>
          </a:ln>
        </p:spPr>
        <p:txBody>
          <a:bodyPr/>
          <a:lstStyle/>
          <a:p>
            <a:endParaRPr lang="en-US"/>
          </a:p>
        </p:txBody>
      </p:sp>
      <p:sp>
        <p:nvSpPr>
          <p:cNvPr id="67" name="Text 65"/>
          <p:cNvSpPr/>
          <p:nvPr/>
        </p:nvSpPr>
        <p:spPr>
          <a:xfrm>
            <a:off x="7891272"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68" name="Shape 66">
            <a:extLst>
              <a:ext uri="{C183D7F6-B498-43B3-948B-1728B52AA6E4}">
                <adec:decorative xmlns:adec="http://schemas.microsoft.com/office/drawing/2017/decorative" val="1"/>
              </a:ext>
            </a:extLst>
          </p:cNvPr>
          <p:cNvSpPr/>
          <p:nvPr/>
        </p:nvSpPr>
        <p:spPr>
          <a:xfrm>
            <a:off x="9052560" y="3337560"/>
            <a:ext cx="1161288" cy="512064"/>
          </a:xfrm>
          <a:prstGeom prst="rect">
            <a:avLst/>
          </a:prstGeom>
          <a:solidFill>
            <a:srgbClr val="ECC0BB"/>
          </a:solidFill>
          <a:ln w="12700">
            <a:solidFill>
              <a:srgbClr val="FFFEFA"/>
            </a:solidFill>
            <a:prstDash val="solid"/>
          </a:ln>
        </p:spPr>
        <p:txBody>
          <a:bodyPr/>
          <a:lstStyle/>
          <a:p>
            <a:endParaRPr lang="en-US"/>
          </a:p>
        </p:txBody>
      </p:sp>
      <p:sp>
        <p:nvSpPr>
          <p:cNvPr id="69" name="Text 67"/>
          <p:cNvSpPr/>
          <p:nvPr/>
        </p:nvSpPr>
        <p:spPr>
          <a:xfrm>
            <a:off x="9052560"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70" name="Shape 68">
            <a:extLst>
              <a:ext uri="{C183D7F6-B498-43B3-948B-1728B52AA6E4}">
                <adec:decorative xmlns:adec="http://schemas.microsoft.com/office/drawing/2017/decorative" val="1"/>
              </a:ext>
            </a:extLst>
          </p:cNvPr>
          <p:cNvSpPr/>
          <p:nvPr/>
        </p:nvSpPr>
        <p:spPr>
          <a:xfrm>
            <a:off x="10213848" y="3337560"/>
            <a:ext cx="1161288" cy="512064"/>
          </a:xfrm>
          <a:prstGeom prst="rect">
            <a:avLst/>
          </a:prstGeom>
          <a:solidFill>
            <a:srgbClr val="E8F1D8"/>
          </a:solidFill>
          <a:ln w="12700">
            <a:solidFill>
              <a:srgbClr val="FFFEFA"/>
            </a:solidFill>
            <a:prstDash val="solid"/>
          </a:ln>
        </p:spPr>
        <p:txBody>
          <a:bodyPr/>
          <a:lstStyle/>
          <a:p>
            <a:endParaRPr lang="en-US"/>
          </a:p>
        </p:txBody>
      </p:sp>
      <p:sp>
        <p:nvSpPr>
          <p:cNvPr id="71" name="Text 69"/>
          <p:cNvSpPr/>
          <p:nvPr/>
        </p:nvSpPr>
        <p:spPr>
          <a:xfrm>
            <a:off x="10213848" y="3337560"/>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72" name="Shape 70">
            <a:extLst>
              <a:ext uri="{C183D7F6-B498-43B3-948B-1728B52AA6E4}">
                <adec:decorative xmlns:adec="http://schemas.microsoft.com/office/drawing/2017/decorative" val="1"/>
              </a:ext>
            </a:extLst>
          </p:cNvPr>
          <p:cNvSpPr/>
          <p:nvPr/>
        </p:nvSpPr>
        <p:spPr>
          <a:xfrm>
            <a:off x="502920" y="3867912"/>
            <a:ext cx="2743200" cy="512064"/>
          </a:xfrm>
          <a:prstGeom prst="rect">
            <a:avLst/>
          </a:prstGeom>
          <a:solidFill>
            <a:srgbClr val="FFFFFF"/>
          </a:solidFill>
          <a:ln w="12700">
            <a:solidFill>
              <a:srgbClr val="D8DCE4"/>
            </a:solidFill>
            <a:prstDash val="solid"/>
          </a:ln>
        </p:spPr>
        <p:txBody>
          <a:bodyPr/>
          <a:lstStyle/>
          <a:p>
            <a:endParaRPr lang="en-US"/>
          </a:p>
        </p:txBody>
      </p:sp>
      <p:sp>
        <p:nvSpPr>
          <p:cNvPr id="73" name="Text 71"/>
          <p:cNvSpPr/>
          <p:nvPr/>
        </p:nvSpPr>
        <p:spPr>
          <a:xfrm>
            <a:off x="630936" y="3867912"/>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Case study</a:t>
            </a:r>
            <a:endParaRPr lang="en-US" sz="1100" dirty="0"/>
          </a:p>
        </p:txBody>
      </p:sp>
      <p:sp>
        <p:nvSpPr>
          <p:cNvPr id="74" name="Shape 72">
            <a:extLst>
              <a:ext uri="{C183D7F6-B498-43B3-948B-1728B52AA6E4}">
                <adec:decorative xmlns:adec="http://schemas.microsoft.com/office/drawing/2017/decorative" val="1"/>
              </a:ext>
            </a:extLst>
          </p:cNvPr>
          <p:cNvSpPr/>
          <p:nvPr/>
        </p:nvSpPr>
        <p:spPr>
          <a:xfrm>
            <a:off x="3246120" y="3867912"/>
            <a:ext cx="1161288" cy="512064"/>
          </a:xfrm>
          <a:prstGeom prst="rect">
            <a:avLst/>
          </a:prstGeom>
          <a:solidFill>
            <a:srgbClr val="ECC0BB"/>
          </a:solidFill>
          <a:ln w="12700">
            <a:solidFill>
              <a:srgbClr val="FFFEFA"/>
            </a:solidFill>
            <a:prstDash val="solid"/>
          </a:ln>
        </p:spPr>
        <p:txBody>
          <a:bodyPr/>
          <a:lstStyle/>
          <a:p>
            <a:endParaRPr lang="en-US"/>
          </a:p>
        </p:txBody>
      </p:sp>
      <p:sp>
        <p:nvSpPr>
          <p:cNvPr id="75" name="Text 73"/>
          <p:cNvSpPr/>
          <p:nvPr/>
        </p:nvSpPr>
        <p:spPr>
          <a:xfrm>
            <a:off x="3246120"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76" name="Shape 74">
            <a:extLst>
              <a:ext uri="{C183D7F6-B498-43B3-948B-1728B52AA6E4}">
                <adec:decorative xmlns:adec="http://schemas.microsoft.com/office/drawing/2017/decorative" val="1"/>
              </a:ext>
            </a:extLst>
          </p:cNvPr>
          <p:cNvSpPr/>
          <p:nvPr/>
        </p:nvSpPr>
        <p:spPr>
          <a:xfrm>
            <a:off x="4407408" y="3867912"/>
            <a:ext cx="1161288" cy="512064"/>
          </a:xfrm>
          <a:prstGeom prst="rect">
            <a:avLst/>
          </a:prstGeom>
          <a:solidFill>
            <a:srgbClr val="E8F1D8"/>
          </a:solidFill>
          <a:ln w="12700">
            <a:solidFill>
              <a:srgbClr val="FFFEFA"/>
            </a:solidFill>
            <a:prstDash val="solid"/>
          </a:ln>
        </p:spPr>
        <p:txBody>
          <a:bodyPr/>
          <a:lstStyle/>
          <a:p>
            <a:endParaRPr lang="en-US"/>
          </a:p>
        </p:txBody>
      </p:sp>
      <p:sp>
        <p:nvSpPr>
          <p:cNvPr id="77" name="Text 75"/>
          <p:cNvSpPr/>
          <p:nvPr/>
        </p:nvSpPr>
        <p:spPr>
          <a:xfrm>
            <a:off x="4407408"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78" name="Shape 76">
            <a:extLst>
              <a:ext uri="{C183D7F6-B498-43B3-948B-1728B52AA6E4}">
                <adec:decorative xmlns:adec="http://schemas.microsoft.com/office/drawing/2017/decorative" val="1"/>
              </a:ext>
            </a:extLst>
          </p:cNvPr>
          <p:cNvSpPr/>
          <p:nvPr/>
        </p:nvSpPr>
        <p:spPr>
          <a:xfrm>
            <a:off x="5568696" y="3867912"/>
            <a:ext cx="1161288" cy="512064"/>
          </a:xfrm>
          <a:prstGeom prst="rect">
            <a:avLst/>
          </a:prstGeom>
          <a:solidFill>
            <a:srgbClr val="DCEFE7"/>
          </a:solidFill>
          <a:ln w="12700">
            <a:solidFill>
              <a:srgbClr val="FFFEFA"/>
            </a:solidFill>
            <a:prstDash val="solid"/>
          </a:ln>
        </p:spPr>
        <p:txBody>
          <a:bodyPr/>
          <a:lstStyle/>
          <a:p>
            <a:endParaRPr lang="en-US"/>
          </a:p>
        </p:txBody>
      </p:sp>
      <p:sp>
        <p:nvSpPr>
          <p:cNvPr id="79" name="Text 77"/>
          <p:cNvSpPr/>
          <p:nvPr/>
        </p:nvSpPr>
        <p:spPr>
          <a:xfrm>
            <a:off x="5568696"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1</a:t>
            </a:r>
            <a:endParaRPr lang="en-US" sz="1200" dirty="0"/>
          </a:p>
        </p:txBody>
      </p:sp>
      <p:sp>
        <p:nvSpPr>
          <p:cNvPr id="80" name="Shape 78">
            <a:extLst>
              <a:ext uri="{C183D7F6-B498-43B3-948B-1728B52AA6E4}">
                <adec:decorative xmlns:adec="http://schemas.microsoft.com/office/drawing/2017/decorative" val="1"/>
              </a:ext>
            </a:extLst>
          </p:cNvPr>
          <p:cNvSpPr/>
          <p:nvPr/>
        </p:nvSpPr>
        <p:spPr>
          <a:xfrm>
            <a:off x="6729984"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1" name="Text 79"/>
          <p:cNvSpPr/>
          <p:nvPr/>
        </p:nvSpPr>
        <p:spPr>
          <a:xfrm>
            <a:off x="6729984"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2" name="Shape 80">
            <a:extLst>
              <a:ext uri="{C183D7F6-B498-43B3-948B-1728B52AA6E4}">
                <adec:decorative xmlns:adec="http://schemas.microsoft.com/office/drawing/2017/decorative" val="1"/>
              </a:ext>
            </a:extLst>
          </p:cNvPr>
          <p:cNvSpPr/>
          <p:nvPr/>
        </p:nvSpPr>
        <p:spPr>
          <a:xfrm>
            <a:off x="7891272"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3" name="Text 81"/>
          <p:cNvSpPr/>
          <p:nvPr/>
        </p:nvSpPr>
        <p:spPr>
          <a:xfrm>
            <a:off x="7891272"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4" name="Shape 82">
            <a:extLst>
              <a:ext uri="{C183D7F6-B498-43B3-948B-1728B52AA6E4}">
                <adec:decorative xmlns:adec="http://schemas.microsoft.com/office/drawing/2017/decorative" val="1"/>
              </a:ext>
            </a:extLst>
          </p:cNvPr>
          <p:cNvSpPr/>
          <p:nvPr/>
        </p:nvSpPr>
        <p:spPr>
          <a:xfrm>
            <a:off x="9052560" y="3867912"/>
            <a:ext cx="1161288" cy="512064"/>
          </a:xfrm>
          <a:prstGeom prst="rect">
            <a:avLst/>
          </a:prstGeom>
          <a:solidFill>
            <a:srgbClr val="ECC0BB"/>
          </a:solidFill>
          <a:ln w="12700">
            <a:solidFill>
              <a:srgbClr val="FFFEFA"/>
            </a:solidFill>
            <a:prstDash val="solid"/>
          </a:ln>
        </p:spPr>
        <p:txBody>
          <a:bodyPr/>
          <a:lstStyle/>
          <a:p>
            <a:endParaRPr lang="en-US"/>
          </a:p>
        </p:txBody>
      </p:sp>
      <p:sp>
        <p:nvSpPr>
          <p:cNvPr id="85" name="Text 83"/>
          <p:cNvSpPr/>
          <p:nvPr/>
        </p:nvSpPr>
        <p:spPr>
          <a:xfrm>
            <a:off x="9052560"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86" name="Shape 84">
            <a:extLst>
              <a:ext uri="{C183D7F6-B498-43B3-948B-1728B52AA6E4}">
                <adec:decorative xmlns:adec="http://schemas.microsoft.com/office/drawing/2017/decorative" val="1"/>
              </a:ext>
            </a:extLst>
          </p:cNvPr>
          <p:cNvSpPr/>
          <p:nvPr/>
        </p:nvSpPr>
        <p:spPr>
          <a:xfrm>
            <a:off x="10213848" y="3867912"/>
            <a:ext cx="1161288" cy="512064"/>
          </a:xfrm>
          <a:prstGeom prst="rect">
            <a:avLst/>
          </a:prstGeom>
          <a:solidFill>
            <a:srgbClr val="F4E7B9"/>
          </a:solidFill>
          <a:ln w="12700">
            <a:solidFill>
              <a:srgbClr val="FFFEFA"/>
            </a:solidFill>
            <a:prstDash val="solid"/>
          </a:ln>
        </p:spPr>
        <p:txBody>
          <a:bodyPr/>
          <a:lstStyle/>
          <a:p>
            <a:endParaRPr lang="en-US"/>
          </a:p>
        </p:txBody>
      </p:sp>
      <p:sp>
        <p:nvSpPr>
          <p:cNvPr id="87" name="Text 85"/>
          <p:cNvSpPr/>
          <p:nvPr/>
        </p:nvSpPr>
        <p:spPr>
          <a:xfrm>
            <a:off x="10213848" y="3867912"/>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88" name="Shape 86">
            <a:extLst>
              <a:ext uri="{C183D7F6-B498-43B3-948B-1728B52AA6E4}">
                <adec:decorative xmlns:adec="http://schemas.microsoft.com/office/drawing/2017/decorative" val="1"/>
              </a:ext>
            </a:extLst>
          </p:cNvPr>
          <p:cNvSpPr/>
          <p:nvPr/>
        </p:nvSpPr>
        <p:spPr>
          <a:xfrm>
            <a:off x="502920" y="4398264"/>
            <a:ext cx="2743200" cy="512064"/>
          </a:xfrm>
          <a:prstGeom prst="rect">
            <a:avLst/>
          </a:prstGeom>
          <a:solidFill>
            <a:srgbClr val="F5F6F8"/>
          </a:solidFill>
          <a:ln w="12700">
            <a:solidFill>
              <a:srgbClr val="D8DCE4"/>
            </a:solidFill>
            <a:prstDash val="solid"/>
          </a:ln>
        </p:spPr>
        <p:txBody>
          <a:bodyPr/>
          <a:lstStyle/>
          <a:p>
            <a:endParaRPr lang="en-US"/>
          </a:p>
        </p:txBody>
      </p:sp>
      <p:sp>
        <p:nvSpPr>
          <p:cNvPr id="89" name="Text 87"/>
          <p:cNvSpPr/>
          <p:nvPr/>
        </p:nvSpPr>
        <p:spPr>
          <a:xfrm>
            <a:off x="630936" y="4398264"/>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Interactive diagram</a:t>
            </a:r>
            <a:endParaRPr lang="en-US" sz="1100" dirty="0"/>
          </a:p>
        </p:txBody>
      </p:sp>
      <p:sp>
        <p:nvSpPr>
          <p:cNvPr id="90" name="Shape 88">
            <a:extLst>
              <a:ext uri="{C183D7F6-B498-43B3-948B-1728B52AA6E4}">
                <adec:decorative xmlns:adec="http://schemas.microsoft.com/office/drawing/2017/decorative" val="1"/>
              </a:ext>
            </a:extLst>
          </p:cNvPr>
          <p:cNvSpPr/>
          <p:nvPr/>
        </p:nvSpPr>
        <p:spPr>
          <a:xfrm>
            <a:off x="3246120" y="4398264"/>
            <a:ext cx="1161288" cy="512064"/>
          </a:xfrm>
          <a:prstGeom prst="rect">
            <a:avLst/>
          </a:prstGeom>
          <a:solidFill>
            <a:srgbClr val="F4E7B9"/>
          </a:solidFill>
          <a:ln w="12700">
            <a:solidFill>
              <a:srgbClr val="FFFEFA"/>
            </a:solidFill>
            <a:prstDash val="solid"/>
          </a:ln>
        </p:spPr>
        <p:txBody>
          <a:bodyPr/>
          <a:lstStyle/>
          <a:p>
            <a:endParaRPr lang="en-US"/>
          </a:p>
        </p:txBody>
      </p:sp>
      <p:sp>
        <p:nvSpPr>
          <p:cNvPr id="91" name="Text 89"/>
          <p:cNvSpPr/>
          <p:nvPr/>
        </p:nvSpPr>
        <p:spPr>
          <a:xfrm>
            <a:off x="3246120"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92" name="Shape 90">
            <a:extLst>
              <a:ext uri="{C183D7F6-B498-43B3-948B-1728B52AA6E4}">
                <adec:decorative xmlns:adec="http://schemas.microsoft.com/office/drawing/2017/decorative" val="1"/>
              </a:ext>
            </a:extLst>
          </p:cNvPr>
          <p:cNvSpPr/>
          <p:nvPr/>
        </p:nvSpPr>
        <p:spPr>
          <a:xfrm>
            <a:off x="4407408"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93" name="Text 91"/>
          <p:cNvSpPr/>
          <p:nvPr/>
        </p:nvSpPr>
        <p:spPr>
          <a:xfrm>
            <a:off x="4407408"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94" name="Shape 92">
            <a:extLst>
              <a:ext uri="{C183D7F6-B498-43B3-948B-1728B52AA6E4}">
                <adec:decorative xmlns:adec="http://schemas.microsoft.com/office/drawing/2017/decorative" val="1"/>
              </a:ext>
            </a:extLst>
          </p:cNvPr>
          <p:cNvSpPr/>
          <p:nvPr/>
        </p:nvSpPr>
        <p:spPr>
          <a:xfrm>
            <a:off x="5568696" y="4398264"/>
            <a:ext cx="1161288" cy="512064"/>
          </a:xfrm>
          <a:prstGeom prst="rect">
            <a:avLst/>
          </a:prstGeom>
          <a:solidFill>
            <a:srgbClr val="E8F1D8"/>
          </a:solidFill>
          <a:ln w="12700">
            <a:solidFill>
              <a:srgbClr val="FFFEFA"/>
            </a:solidFill>
            <a:prstDash val="solid"/>
          </a:ln>
        </p:spPr>
        <p:txBody>
          <a:bodyPr/>
          <a:lstStyle/>
          <a:p>
            <a:endParaRPr lang="en-US"/>
          </a:p>
        </p:txBody>
      </p:sp>
      <p:sp>
        <p:nvSpPr>
          <p:cNvPr id="95" name="Text 93"/>
          <p:cNvSpPr/>
          <p:nvPr/>
        </p:nvSpPr>
        <p:spPr>
          <a:xfrm>
            <a:off x="5568696"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96" name="Shape 94">
            <a:extLst>
              <a:ext uri="{C183D7F6-B498-43B3-948B-1728B52AA6E4}">
                <adec:decorative xmlns:adec="http://schemas.microsoft.com/office/drawing/2017/decorative" val="1"/>
              </a:ext>
            </a:extLst>
          </p:cNvPr>
          <p:cNvSpPr/>
          <p:nvPr/>
        </p:nvSpPr>
        <p:spPr>
          <a:xfrm>
            <a:off x="6729984" y="4398264"/>
            <a:ext cx="1161288" cy="512064"/>
          </a:xfrm>
          <a:prstGeom prst="rect">
            <a:avLst/>
          </a:prstGeom>
          <a:solidFill>
            <a:srgbClr val="F4E7B9"/>
          </a:solidFill>
          <a:ln w="12700">
            <a:solidFill>
              <a:srgbClr val="FFFEFA"/>
            </a:solidFill>
            <a:prstDash val="solid"/>
          </a:ln>
        </p:spPr>
        <p:txBody>
          <a:bodyPr/>
          <a:lstStyle/>
          <a:p>
            <a:endParaRPr lang="en-US"/>
          </a:p>
        </p:txBody>
      </p:sp>
      <p:sp>
        <p:nvSpPr>
          <p:cNvPr id="97" name="Text 95"/>
          <p:cNvSpPr/>
          <p:nvPr/>
        </p:nvSpPr>
        <p:spPr>
          <a:xfrm>
            <a:off x="6729984"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98" name="Shape 96">
            <a:extLst>
              <a:ext uri="{C183D7F6-B498-43B3-948B-1728B52AA6E4}">
                <adec:decorative xmlns:adec="http://schemas.microsoft.com/office/drawing/2017/decorative" val="1"/>
              </a:ext>
            </a:extLst>
          </p:cNvPr>
          <p:cNvSpPr/>
          <p:nvPr/>
        </p:nvSpPr>
        <p:spPr>
          <a:xfrm>
            <a:off x="7891272"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99" name="Text 97"/>
          <p:cNvSpPr/>
          <p:nvPr/>
        </p:nvSpPr>
        <p:spPr>
          <a:xfrm>
            <a:off x="7891272"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0" name="Shape 98">
            <a:extLst>
              <a:ext uri="{C183D7F6-B498-43B3-948B-1728B52AA6E4}">
                <adec:decorative xmlns:adec="http://schemas.microsoft.com/office/drawing/2017/decorative" val="1"/>
              </a:ext>
            </a:extLst>
          </p:cNvPr>
          <p:cNvSpPr/>
          <p:nvPr/>
        </p:nvSpPr>
        <p:spPr>
          <a:xfrm>
            <a:off x="9052560"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101" name="Text 99"/>
          <p:cNvSpPr/>
          <p:nvPr/>
        </p:nvSpPr>
        <p:spPr>
          <a:xfrm>
            <a:off x="9052560"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2" name="Shape 100">
            <a:extLst>
              <a:ext uri="{C183D7F6-B498-43B3-948B-1728B52AA6E4}">
                <adec:decorative xmlns:adec="http://schemas.microsoft.com/office/drawing/2017/decorative" val="1"/>
              </a:ext>
            </a:extLst>
          </p:cNvPr>
          <p:cNvSpPr/>
          <p:nvPr/>
        </p:nvSpPr>
        <p:spPr>
          <a:xfrm>
            <a:off x="10213848" y="4398264"/>
            <a:ext cx="1161288" cy="512064"/>
          </a:xfrm>
          <a:prstGeom prst="rect">
            <a:avLst/>
          </a:prstGeom>
          <a:solidFill>
            <a:srgbClr val="F2CFAD"/>
          </a:solidFill>
          <a:ln w="12700">
            <a:solidFill>
              <a:srgbClr val="FFFEFA"/>
            </a:solidFill>
            <a:prstDash val="solid"/>
          </a:ln>
        </p:spPr>
        <p:txBody>
          <a:bodyPr/>
          <a:lstStyle/>
          <a:p>
            <a:endParaRPr lang="en-US"/>
          </a:p>
        </p:txBody>
      </p:sp>
      <p:sp>
        <p:nvSpPr>
          <p:cNvPr id="103" name="Text 101"/>
          <p:cNvSpPr/>
          <p:nvPr/>
        </p:nvSpPr>
        <p:spPr>
          <a:xfrm>
            <a:off x="10213848" y="4398264"/>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4" name="Shape 102">
            <a:extLst>
              <a:ext uri="{C183D7F6-B498-43B3-948B-1728B52AA6E4}">
                <adec:decorative xmlns:adec="http://schemas.microsoft.com/office/drawing/2017/decorative" val="1"/>
              </a:ext>
            </a:extLst>
          </p:cNvPr>
          <p:cNvSpPr/>
          <p:nvPr/>
        </p:nvSpPr>
        <p:spPr>
          <a:xfrm>
            <a:off x="502920" y="4928616"/>
            <a:ext cx="2743200" cy="512064"/>
          </a:xfrm>
          <a:prstGeom prst="rect">
            <a:avLst/>
          </a:prstGeom>
          <a:solidFill>
            <a:srgbClr val="FFFFFF"/>
          </a:solidFill>
          <a:ln w="12700">
            <a:solidFill>
              <a:srgbClr val="D8DCE4"/>
            </a:solidFill>
            <a:prstDash val="solid"/>
          </a:ln>
        </p:spPr>
        <p:txBody>
          <a:bodyPr/>
          <a:lstStyle/>
          <a:p>
            <a:endParaRPr lang="en-US"/>
          </a:p>
        </p:txBody>
      </p:sp>
      <p:sp>
        <p:nvSpPr>
          <p:cNvPr id="105" name="Text 103"/>
          <p:cNvSpPr/>
          <p:nvPr/>
        </p:nvSpPr>
        <p:spPr>
          <a:xfrm>
            <a:off x="630936" y="4928616"/>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Gamification</a:t>
            </a:r>
            <a:endParaRPr lang="en-US" sz="1100" dirty="0"/>
          </a:p>
        </p:txBody>
      </p:sp>
      <p:sp>
        <p:nvSpPr>
          <p:cNvPr id="106" name="Shape 104">
            <a:extLst>
              <a:ext uri="{C183D7F6-B498-43B3-948B-1728B52AA6E4}">
                <adec:decorative xmlns:adec="http://schemas.microsoft.com/office/drawing/2017/decorative" val="1"/>
              </a:ext>
            </a:extLst>
          </p:cNvPr>
          <p:cNvSpPr/>
          <p:nvPr/>
        </p:nvSpPr>
        <p:spPr>
          <a:xfrm>
            <a:off x="3246120" y="4928616"/>
            <a:ext cx="1161288" cy="512064"/>
          </a:xfrm>
          <a:prstGeom prst="rect">
            <a:avLst/>
          </a:prstGeom>
          <a:solidFill>
            <a:srgbClr val="F2CFAD"/>
          </a:solidFill>
          <a:ln w="12700">
            <a:solidFill>
              <a:srgbClr val="FFFEFA"/>
            </a:solidFill>
            <a:prstDash val="solid"/>
          </a:ln>
        </p:spPr>
        <p:txBody>
          <a:bodyPr/>
          <a:lstStyle/>
          <a:p>
            <a:endParaRPr lang="en-US"/>
          </a:p>
        </p:txBody>
      </p:sp>
      <p:sp>
        <p:nvSpPr>
          <p:cNvPr id="107" name="Text 105"/>
          <p:cNvSpPr/>
          <p:nvPr/>
        </p:nvSpPr>
        <p:spPr>
          <a:xfrm>
            <a:off x="3246120"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08" name="Shape 106">
            <a:extLst>
              <a:ext uri="{C183D7F6-B498-43B3-948B-1728B52AA6E4}">
                <adec:decorative xmlns:adec="http://schemas.microsoft.com/office/drawing/2017/decorative" val="1"/>
              </a:ext>
            </a:extLst>
          </p:cNvPr>
          <p:cNvSpPr/>
          <p:nvPr/>
        </p:nvSpPr>
        <p:spPr>
          <a:xfrm>
            <a:off x="4407408" y="4928616"/>
            <a:ext cx="1161288" cy="512064"/>
          </a:xfrm>
          <a:prstGeom prst="rect">
            <a:avLst/>
          </a:prstGeom>
          <a:solidFill>
            <a:srgbClr val="F4E7B9"/>
          </a:solidFill>
          <a:ln w="12700">
            <a:solidFill>
              <a:srgbClr val="FFFEFA"/>
            </a:solidFill>
            <a:prstDash val="solid"/>
          </a:ln>
        </p:spPr>
        <p:txBody>
          <a:bodyPr/>
          <a:lstStyle/>
          <a:p>
            <a:endParaRPr lang="en-US"/>
          </a:p>
        </p:txBody>
      </p:sp>
      <p:sp>
        <p:nvSpPr>
          <p:cNvPr id="109" name="Text 107"/>
          <p:cNvSpPr/>
          <p:nvPr/>
        </p:nvSpPr>
        <p:spPr>
          <a:xfrm>
            <a:off x="4407408"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10" name="Shape 108">
            <a:extLst>
              <a:ext uri="{C183D7F6-B498-43B3-948B-1728B52AA6E4}">
                <adec:decorative xmlns:adec="http://schemas.microsoft.com/office/drawing/2017/decorative" val="1"/>
              </a:ext>
            </a:extLst>
          </p:cNvPr>
          <p:cNvSpPr/>
          <p:nvPr/>
        </p:nvSpPr>
        <p:spPr>
          <a:xfrm>
            <a:off x="5568696" y="4928616"/>
            <a:ext cx="1161288" cy="512064"/>
          </a:xfrm>
          <a:prstGeom prst="rect">
            <a:avLst/>
          </a:prstGeom>
          <a:solidFill>
            <a:srgbClr val="E8F1D8"/>
          </a:solidFill>
          <a:ln w="12700">
            <a:solidFill>
              <a:srgbClr val="FFFEFA"/>
            </a:solidFill>
            <a:prstDash val="solid"/>
          </a:ln>
        </p:spPr>
        <p:txBody>
          <a:bodyPr/>
          <a:lstStyle/>
          <a:p>
            <a:endParaRPr lang="en-US"/>
          </a:p>
        </p:txBody>
      </p:sp>
      <p:sp>
        <p:nvSpPr>
          <p:cNvPr id="111" name="Text 109"/>
          <p:cNvSpPr/>
          <p:nvPr/>
        </p:nvSpPr>
        <p:spPr>
          <a:xfrm>
            <a:off x="5568696"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526A30"/>
                </a:solidFill>
                <a:latin typeface="Aptos" pitchFamily="34" charset="0"/>
                <a:ea typeface="Aptos" pitchFamily="34" charset="-122"/>
                <a:cs typeface="Aptos" pitchFamily="34" charset="-120"/>
              </a:rPr>
              <a:t>2</a:t>
            </a:r>
            <a:endParaRPr lang="en-US" sz="1200" dirty="0"/>
          </a:p>
        </p:txBody>
      </p:sp>
      <p:sp>
        <p:nvSpPr>
          <p:cNvPr id="112" name="Shape 110">
            <a:extLst>
              <a:ext uri="{C183D7F6-B498-43B3-948B-1728B52AA6E4}">
                <adec:decorative xmlns:adec="http://schemas.microsoft.com/office/drawing/2017/decorative" val="1"/>
              </a:ext>
            </a:extLst>
          </p:cNvPr>
          <p:cNvSpPr/>
          <p:nvPr/>
        </p:nvSpPr>
        <p:spPr>
          <a:xfrm>
            <a:off x="6729984"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3" name="Text 111"/>
          <p:cNvSpPr/>
          <p:nvPr/>
        </p:nvSpPr>
        <p:spPr>
          <a:xfrm>
            <a:off x="6729984"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14" name="Shape 112">
            <a:extLst>
              <a:ext uri="{C183D7F6-B498-43B3-948B-1728B52AA6E4}">
                <adec:decorative xmlns:adec="http://schemas.microsoft.com/office/drawing/2017/decorative" val="1"/>
              </a:ext>
            </a:extLst>
          </p:cNvPr>
          <p:cNvSpPr/>
          <p:nvPr/>
        </p:nvSpPr>
        <p:spPr>
          <a:xfrm>
            <a:off x="7891272"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5" name="Text 113"/>
          <p:cNvSpPr/>
          <p:nvPr/>
        </p:nvSpPr>
        <p:spPr>
          <a:xfrm>
            <a:off x="7891272"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16" name="Shape 114">
            <a:extLst>
              <a:ext uri="{C183D7F6-B498-43B3-948B-1728B52AA6E4}">
                <adec:decorative xmlns:adec="http://schemas.microsoft.com/office/drawing/2017/decorative" val="1"/>
              </a:ext>
            </a:extLst>
          </p:cNvPr>
          <p:cNvSpPr/>
          <p:nvPr/>
        </p:nvSpPr>
        <p:spPr>
          <a:xfrm>
            <a:off x="9052560" y="4928616"/>
            <a:ext cx="1161288" cy="512064"/>
          </a:xfrm>
          <a:prstGeom prst="rect">
            <a:avLst/>
          </a:prstGeom>
          <a:solidFill>
            <a:srgbClr val="F4E7B9"/>
          </a:solidFill>
          <a:ln w="12700">
            <a:solidFill>
              <a:srgbClr val="FFFEFA"/>
            </a:solidFill>
            <a:prstDash val="solid"/>
          </a:ln>
        </p:spPr>
        <p:txBody>
          <a:bodyPr/>
          <a:lstStyle/>
          <a:p>
            <a:endParaRPr lang="en-US"/>
          </a:p>
        </p:txBody>
      </p:sp>
      <p:sp>
        <p:nvSpPr>
          <p:cNvPr id="117" name="Text 115"/>
          <p:cNvSpPr/>
          <p:nvPr/>
        </p:nvSpPr>
        <p:spPr>
          <a:xfrm>
            <a:off x="9052560"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18" name="Shape 116">
            <a:extLst>
              <a:ext uri="{C183D7F6-B498-43B3-948B-1728B52AA6E4}">
                <adec:decorative xmlns:adec="http://schemas.microsoft.com/office/drawing/2017/decorative" val="1"/>
              </a:ext>
            </a:extLst>
          </p:cNvPr>
          <p:cNvSpPr/>
          <p:nvPr/>
        </p:nvSpPr>
        <p:spPr>
          <a:xfrm>
            <a:off x="10213848" y="4928616"/>
            <a:ext cx="1161288" cy="512064"/>
          </a:xfrm>
          <a:prstGeom prst="rect">
            <a:avLst/>
          </a:prstGeom>
          <a:solidFill>
            <a:srgbClr val="ECC0BB"/>
          </a:solidFill>
          <a:ln w="12700">
            <a:solidFill>
              <a:srgbClr val="FFFEFA"/>
            </a:solidFill>
            <a:prstDash val="solid"/>
          </a:ln>
        </p:spPr>
        <p:txBody>
          <a:bodyPr/>
          <a:lstStyle/>
          <a:p>
            <a:endParaRPr lang="en-US"/>
          </a:p>
        </p:txBody>
      </p:sp>
      <p:sp>
        <p:nvSpPr>
          <p:cNvPr id="119" name="Text 117"/>
          <p:cNvSpPr/>
          <p:nvPr/>
        </p:nvSpPr>
        <p:spPr>
          <a:xfrm>
            <a:off x="10213848" y="4928616"/>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20" name="Shape 118">
            <a:extLst>
              <a:ext uri="{C183D7F6-B498-43B3-948B-1728B52AA6E4}">
                <adec:decorative xmlns:adec="http://schemas.microsoft.com/office/drawing/2017/decorative" val="1"/>
              </a:ext>
            </a:extLst>
          </p:cNvPr>
          <p:cNvSpPr/>
          <p:nvPr/>
        </p:nvSpPr>
        <p:spPr>
          <a:xfrm>
            <a:off x="502920" y="5458968"/>
            <a:ext cx="2743200" cy="512064"/>
          </a:xfrm>
          <a:prstGeom prst="rect">
            <a:avLst/>
          </a:prstGeom>
          <a:solidFill>
            <a:srgbClr val="F5F6F8"/>
          </a:solidFill>
          <a:ln w="12700">
            <a:solidFill>
              <a:srgbClr val="D8DCE4"/>
            </a:solidFill>
            <a:prstDash val="solid"/>
          </a:ln>
        </p:spPr>
        <p:txBody>
          <a:bodyPr/>
          <a:lstStyle/>
          <a:p>
            <a:endParaRPr lang="en-US"/>
          </a:p>
        </p:txBody>
      </p:sp>
      <p:sp>
        <p:nvSpPr>
          <p:cNvPr id="121" name="Text 119"/>
          <p:cNvSpPr/>
          <p:nvPr/>
        </p:nvSpPr>
        <p:spPr>
          <a:xfrm>
            <a:off x="630936" y="5458968"/>
            <a:ext cx="2487168" cy="512064"/>
          </a:xfrm>
          <a:prstGeom prst="rect">
            <a:avLst/>
          </a:prstGeom>
          <a:noFill/>
          <a:ln/>
        </p:spPr>
        <p:txBody>
          <a:bodyPr wrap="square" lIns="0" tIns="0" rIns="0" bIns="0" rtlCol="0" anchor="ctr">
            <a:normAutofit/>
          </a:bodyPr>
          <a:lstStyle/>
          <a:p>
            <a:pPr marL="0" indent="0">
              <a:buNone/>
            </a:pPr>
            <a:r>
              <a:rPr lang="en-US" sz="1100" b="1" dirty="0">
                <a:solidFill>
                  <a:srgbClr val="17254E"/>
                </a:solidFill>
                <a:latin typeface="Aptos" pitchFamily="34" charset="0"/>
                <a:ea typeface="Aptos" pitchFamily="34" charset="-122"/>
                <a:cs typeface="Aptos" pitchFamily="34" charset="-120"/>
              </a:rPr>
              <a:t>Simulation / lab</a:t>
            </a:r>
            <a:endParaRPr lang="en-US" sz="1100" dirty="0"/>
          </a:p>
        </p:txBody>
      </p:sp>
      <p:sp>
        <p:nvSpPr>
          <p:cNvPr id="122" name="Shape 120">
            <a:extLst>
              <a:ext uri="{C183D7F6-B498-43B3-948B-1728B52AA6E4}">
                <adec:decorative xmlns:adec="http://schemas.microsoft.com/office/drawing/2017/decorative" val="1"/>
              </a:ext>
            </a:extLst>
          </p:cNvPr>
          <p:cNvSpPr/>
          <p:nvPr/>
        </p:nvSpPr>
        <p:spPr>
          <a:xfrm>
            <a:off x="3246120" y="5458968"/>
            <a:ext cx="1161288" cy="512064"/>
          </a:xfrm>
          <a:prstGeom prst="rect">
            <a:avLst/>
          </a:prstGeom>
          <a:solidFill>
            <a:srgbClr val="F4E7B9"/>
          </a:solidFill>
          <a:ln w="12700">
            <a:solidFill>
              <a:srgbClr val="FFFEFA"/>
            </a:solidFill>
            <a:prstDash val="solid"/>
          </a:ln>
        </p:spPr>
        <p:txBody>
          <a:bodyPr/>
          <a:lstStyle/>
          <a:p>
            <a:endParaRPr lang="en-US"/>
          </a:p>
        </p:txBody>
      </p:sp>
      <p:sp>
        <p:nvSpPr>
          <p:cNvPr id="123" name="Text 121"/>
          <p:cNvSpPr/>
          <p:nvPr/>
        </p:nvSpPr>
        <p:spPr>
          <a:xfrm>
            <a:off x="3246120"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24" name="Shape 122">
            <a:extLst>
              <a:ext uri="{C183D7F6-B498-43B3-948B-1728B52AA6E4}">
                <adec:decorative xmlns:adec="http://schemas.microsoft.com/office/drawing/2017/decorative" val="1"/>
              </a:ext>
            </a:extLst>
          </p:cNvPr>
          <p:cNvSpPr/>
          <p:nvPr/>
        </p:nvSpPr>
        <p:spPr>
          <a:xfrm>
            <a:off x="4407408"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25" name="Text 123"/>
          <p:cNvSpPr/>
          <p:nvPr/>
        </p:nvSpPr>
        <p:spPr>
          <a:xfrm>
            <a:off x="4407408"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26" name="Shape 124">
            <a:extLst>
              <a:ext uri="{C183D7F6-B498-43B3-948B-1728B52AA6E4}">
                <adec:decorative xmlns:adec="http://schemas.microsoft.com/office/drawing/2017/decorative" val="1"/>
              </a:ext>
            </a:extLst>
          </p:cNvPr>
          <p:cNvSpPr/>
          <p:nvPr/>
        </p:nvSpPr>
        <p:spPr>
          <a:xfrm>
            <a:off x="5568696" y="5458968"/>
            <a:ext cx="1161288" cy="512064"/>
          </a:xfrm>
          <a:prstGeom prst="rect">
            <a:avLst/>
          </a:prstGeom>
          <a:solidFill>
            <a:srgbClr val="F2CFAD"/>
          </a:solidFill>
          <a:ln w="12700">
            <a:solidFill>
              <a:srgbClr val="FFFEFA"/>
            </a:solidFill>
            <a:prstDash val="solid"/>
          </a:ln>
        </p:spPr>
        <p:txBody>
          <a:bodyPr/>
          <a:lstStyle/>
          <a:p>
            <a:endParaRPr lang="en-US"/>
          </a:p>
        </p:txBody>
      </p:sp>
      <p:sp>
        <p:nvSpPr>
          <p:cNvPr id="127" name="Text 125"/>
          <p:cNvSpPr/>
          <p:nvPr/>
        </p:nvSpPr>
        <p:spPr>
          <a:xfrm>
            <a:off x="5568696"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A4C1E"/>
                </a:solidFill>
                <a:latin typeface="Aptos" pitchFamily="34" charset="0"/>
                <a:ea typeface="Aptos" pitchFamily="34" charset="-122"/>
                <a:cs typeface="Aptos" pitchFamily="34" charset="-120"/>
              </a:rPr>
              <a:t>4</a:t>
            </a:r>
            <a:endParaRPr lang="en-US" sz="1200" dirty="0"/>
          </a:p>
        </p:txBody>
      </p:sp>
      <p:sp>
        <p:nvSpPr>
          <p:cNvPr id="128" name="Shape 126">
            <a:extLst>
              <a:ext uri="{C183D7F6-B498-43B3-948B-1728B52AA6E4}">
                <adec:decorative xmlns:adec="http://schemas.microsoft.com/office/drawing/2017/decorative" val="1"/>
              </a:ext>
            </a:extLst>
          </p:cNvPr>
          <p:cNvSpPr/>
          <p:nvPr/>
        </p:nvSpPr>
        <p:spPr>
          <a:xfrm>
            <a:off x="6729984"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29" name="Text 127"/>
          <p:cNvSpPr/>
          <p:nvPr/>
        </p:nvSpPr>
        <p:spPr>
          <a:xfrm>
            <a:off x="6729984"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0" name="Shape 128">
            <a:extLst>
              <a:ext uri="{C183D7F6-B498-43B3-948B-1728B52AA6E4}">
                <adec:decorative xmlns:adec="http://schemas.microsoft.com/office/drawing/2017/decorative" val="1"/>
              </a:ext>
            </a:extLst>
          </p:cNvPr>
          <p:cNvSpPr/>
          <p:nvPr/>
        </p:nvSpPr>
        <p:spPr>
          <a:xfrm>
            <a:off x="7891272"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31" name="Text 129"/>
          <p:cNvSpPr/>
          <p:nvPr/>
        </p:nvSpPr>
        <p:spPr>
          <a:xfrm>
            <a:off x="7891272"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2" name="Shape 130">
            <a:extLst>
              <a:ext uri="{C183D7F6-B498-43B3-948B-1728B52AA6E4}">
                <adec:decorative xmlns:adec="http://schemas.microsoft.com/office/drawing/2017/decorative" val="1"/>
              </a:ext>
            </a:extLst>
          </p:cNvPr>
          <p:cNvSpPr/>
          <p:nvPr/>
        </p:nvSpPr>
        <p:spPr>
          <a:xfrm>
            <a:off x="9052560" y="5458968"/>
            <a:ext cx="1161288" cy="512064"/>
          </a:xfrm>
          <a:prstGeom prst="rect">
            <a:avLst/>
          </a:prstGeom>
          <a:solidFill>
            <a:srgbClr val="F4E7B9"/>
          </a:solidFill>
          <a:ln w="12700">
            <a:solidFill>
              <a:srgbClr val="FFFEFA"/>
            </a:solidFill>
            <a:prstDash val="solid"/>
          </a:ln>
        </p:spPr>
        <p:txBody>
          <a:bodyPr/>
          <a:lstStyle/>
          <a:p>
            <a:endParaRPr lang="en-US"/>
          </a:p>
        </p:txBody>
      </p:sp>
      <p:sp>
        <p:nvSpPr>
          <p:cNvPr id="133" name="Text 131"/>
          <p:cNvSpPr/>
          <p:nvPr/>
        </p:nvSpPr>
        <p:spPr>
          <a:xfrm>
            <a:off x="9052560"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745910"/>
                </a:solidFill>
                <a:latin typeface="Aptos" pitchFamily="34" charset="0"/>
                <a:ea typeface="Aptos" pitchFamily="34" charset="-122"/>
                <a:cs typeface="Aptos" pitchFamily="34" charset="-120"/>
              </a:rPr>
              <a:t>3</a:t>
            </a:r>
            <a:endParaRPr lang="en-US" sz="1200" dirty="0"/>
          </a:p>
        </p:txBody>
      </p:sp>
      <p:sp>
        <p:nvSpPr>
          <p:cNvPr id="134" name="Shape 132">
            <a:extLst>
              <a:ext uri="{C183D7F6-B498-43B3-948B-1728B52AA6E4}">
                <adec:decorative xmlns:adec="http://schemas.microsoft.com/office/drawing/2017/decorative" val="1"/>
              </a:ext>
            </a:extLst>
          </p:cNvPr>
          <p:cNvSpPr/>
          <p:nvPr/>
        </p:nvSpPr>
        <p:spPr>
          <a:xfrm>
            <a:off x="10213848" y="5458968"/>
            <a:ext cx="1161288" cy="512064"/>
          </a:xfrm>
          <a:prstGeom prst="rect">
            <a:avLst/>
          </a:prstGeom>
          <a:solidFill>
            <a:srgbClr val="ECC0BB"/>
          </a:solidFill>
          <a:ln w="12700">
            <a:solidFill>
              <a:srgbClr val="FFFEFA"/>
            </a:solidFill>
            <a:prstDash val="solid"/>
          </a:ln>
        </p:spPr>
        <p:txBody>
          <a:bodyPr/>
          <a:lstStyle/>
          <a:p>
            <a:endParaRPr lang="en-US"/>
          </a:p>
        </p:txBody>
      </p:sp>
      <p:sp>
        <p:nvSpPr>
          <p:cNvPr id="135" name="Text 133"/>
          <p:cNvSpPr/>
          <p:nvPr/>
        </p:nvSpPr>
        <p:spPr>
          <a:xfrm>
            <a:off x="10213848" y="5458968"/>
            <a:ext cx="1161288" cy="512064"/>
          </a:xfrm>
          <a:prstGeom prst="rect">
            <a:avLst/>
          </a:prstGeom>
          <a:noFill/>
          <a:ln/>
        </p:spPr>
        <p:txBody>
          <a:bodyPr wrap="square" lIns="0" tIns="0" rIns="0" bIns="0" rtlCol="0" anchor="ctr">
            <a:normAutofit/>
          </a:bodyPr>
          <a:lstStyle/>
          <a:p>
            <a:pPr marL="0" indent="0" algn="ctr">
              <a:buNone/>
            </a:pPr>
            <a:r>
              <a:rPr lang="en-US" sz="1200" b="1" dirty="0">
                <a:solidFill>
                  <a:srgbClr val="873A35"/>
                </a:solidFill>
                <a:latin typeface="Aptos" pitchFamily="34" charset="0"/>
                <a:ea typeface="Aptos" pitchFamily="34" charset="-122"/>
                <a:cs typeface="Aptos" pitchFamily="34" charset="-120"/>
              </a:rPr>
              <a:t>5</a:t>
            </a:r>
            <a:endParaRPr lang="en-US" sz="1200" dirty="0"/>
          </a:p>
        </p:txBody>
      </p:sp>
      <p:sp>
        <p:nvSpPr>
          <p:cNvPr id="136" name="Text 134"/>
          <p:cNvSpPr/>
          <p:nvPr/>
        </p:nvSpPr>
        <p:spPr>
          <a:xfrm>
            <a:off x="786384" y="6144768"/>
            <a:ext cx="10561320" cy="256032"/>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AI can reduce implementation effort. It cannot erase missing content, media, validation, or testing.</a:t>
            </a:r>
            <a:endParaRPr lang="en-US" sz="1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Which one required more prompting?</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9" name="Shape 1">
            <a:extLst>
              <a:ext uri="{FF2B5EF4-FFF2-40B4-BE49-F238E27FC236}">
                <a16:creationId xmlns:a16="http://schemas.microsoft.com/office/drawing/2014/main" id="{C96678AB-1932-8EF5-E14F-9351353744D5}"/>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0" name="Text 2">
            <a:extLst>
              <a:ext uri="{FF2B5EF4-FFF2-40B4-BE49-F238E27FC236}">
                <a16:creationId xmlns:a16="http://schemas.microsoft.com/office/drawing/2014/main" id="{F5ABCA3A-4BC4-160F-B0C6-EDEC2339A6D3}"/>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Two polished using </a:t>
            </a:r>
            <a:r>
              <a:rPr lang="en-US" sz="1500" i="1" dirty="0">
                <a:solidFill>
                  <a:srgbClr val="576173"/>
                </a:solidFill>
                <a:latin typeface="Aptos" pitchFamily="34" charset="0"/>
                <a:ea typeface="Aptos" pitchFamily="34" charset="-122"/>
                <a:cs typeface="Aptos" pitchFamily="34" charset="-120"/>
              </a:rPr>
              <a:t>frontier models </a:t>
            </a:r>
            <a:r>
              <a:rPr lang="en-US" sz="1500" dirty="0">
                <a:solidFill>
                  <a:srgbClr val="576173"/>
                </a:solidFill>
                <a:latin typeface="Aptos" pitchFamily="34" charset="0"/>
                <a:ea typeface="Aptos" pitchFamily="34" charset="-122"/>
                <a:cs typeface="Aptos" pitchFamily="34" charset="-120"/>
              </a:rPr>
              <a:t>results can hide two very different processes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85800" y="1874520"/>
            <a:ext cx="5230368" cy="3566160"/>
          </a:xfrm>
          <a:prstGeom prst="roundRect">
            <a:avLst>
              <a:gd name="adj" fmla="val 2051"/>
            </a:avLst>
          </a:prstGeom>
          <a:solidFill>
            <a:srgbClr val="F5F6F8"/>
          </a:solidFill>
          <a:ln w="12700">
            <a:solidFill>
              <a:srgbClr val="D8DCE4"/>
            </a:solidFill>
            <a:prstDash val="solid"/>
          </a:ln>
        </p:spPr>
        <p:txBody>
          <a:bodyPr/>
          <a:lstStyle/>
          <a:p>
            <a:endParaRPr lang="en-US"/>
          </a:p>
        </p:txBody>
      </p:sp>
      <p:pic>
        <p:nvPicPr>
          <p:cNvPr id="23" name="Picture 22" descr="Screenshot of a space mission planning tool showing a transfer from Earth to Mars with a departure date of July 14, 2025. It includes a schematic orbit diagram with Sun, Earth, and Mars positions, and key data such as transfer orbit distance (1.262 AU), time of flight (259 days), estimated arrival date (March 30, 2026), and target lead at departure (44°).">
            <a:extLst>
              <a:ext uri="{FF2B5EF4-FFF2-40B4-BE49-F238E27FC236}">
                <a16:creationId xmlns:a16="http://schemas.microsoft.com/office/drawing/2014/main" id="{A872B511-087D-0D46-D813-7BBAA0903662}"/>
              </a:ext>
            </a:extLst>
          </p:cNvPr>
          <p:cNvPicPr>
            <a:picLocks noChangeAspect="1"/>
          </p:cNvPicPr>
          <p:nvPr/>
        </p:nvPicPr>
        <p:blipFill>
          <a:blip r:embed="rId3"/>
          <a:stretch>
            <a:fillRect/>
          </a:stretch>
        </p:blipFill>
        <p:spPr>
          <a:xfrm>
            <a:off x="1245108" y="2048663"/>
            <a:ext cx="4111752" cy="3007969"/>
          </a:xfrm>
          <a:prstGeom prst="rect">
            <a:avLst/>
          </a:prstGeom>
        </p:spPr>
      </p:pic>
      <p:sp>
        <p:nvSpPr>
          <p:cNvPr id="22" name="Text 20"/>
          <p:cNvSpPr/>
          <p:nvPr/>
        </p:nvSpPr>
        <p:spPr>
          <a:xfrm>
            <a:off x="3886200" y="5760720"/>
            <a:ext cx="4389120" cy="365760"/>
          </a:xfrm>
          <a:prstGeom prst="rect">
            <a:avLst/>
          </a:prstGeom>
          <a:noFill/>
          <a:ln/>
        </p:spPr>
        <p:txBody>
          <a:bodyPr wrap="square" lIns="0" tIns="0" rIns="0" bIns="0" rtlCol="0" anchor="ctr">
            <a:normAutofit/>
          </a:bodyPr>
          <a:lstStyle/>
          <a:p>
            <a:pPr marL="0" indent="0" algn="ctr">
              <a:buNone/>
            </a:pPr>
            <a:r>
              <a:rPr lang="en-US" sz="1400" i="1" dirty="0">
                <a:solidFill>
                  <a:srgbClr val="576173"/>
                </a:solidFill>
                <a:latin typeface="Aptos" pitchFamily="34" charset="0"/>
                <a:ea typeface="Aptos" pitchFamily="34" charset="-122"/>
                <a:cs typeface="Aptos" pitchFamily="34" charset="-120"/>
              </a:rPr>
              <a:t>Ask for a vote before revealing the process.</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6263640" y="1874520"/>
            <a:ext cx="5230368" cy="3566160"/>
          </a:xfrm>
          <a:prstGeom prst="roundRect">
            <a:avLst>
              <a:gd name="adj" fmla="val 2051"/>
            </a:avLst>
          </a:prstGeom>
          <a:solidFill>
            <a:srgbClr val="F5F6F8"/>
          </a:solidFill>
          <a:ln w="12700">
            <a:solidFill>
              <a:srgbClr val="D8DCE4"/>
            </a:solidFill>
            <a:prstDash val="solid"/>
          </a:ln>
        </p:spPr>
        <p:txBody>
          <a:bodyPr/>
          <a:lstStyle/>
          <a:p>
            <a:endParaRPr lang="en-US"/>
          </a:p>
        </p:txBody>
      </p:sp>
      <p:pic>
        <p:nvPicPr>
          <p:cNvPr id="24" name="Picture 23" descr="Diagram illustrating spacecraft trajectory synchronization for Mars arrival, showing orbits of Earth and Mars around the Sun with labeled positions at launch and arrival. Key elements include Mars departure phase angle set at -180°, arrival mismatch of 135.7°, and a color-coded legend for Earth, Mars, and spacecraft paths, emphasizing timing adjustments to achieve arrival within 1 degree.&#10;">
            <a:extLst>
              <a:ext uri="{FF2B5EF4-FFF2-40B4-BE49-F238E27FC236}">
                <a16:creationId xmlns:a16="http://schemas.microsoft.com/office/drawing/2014/main" id="{3C1DE61F-E344-7A18-C0FB-2146BDC18605}"/>
              </a:ext>
            </a:extLst>
          </p:cNvPr>
          <p:cNvPicPr>
            <a:picLocks noChangeAspect="1"/>
          </p:cNvPicPr>
          <p:nvPr/>
        </p:nvPicPr>
        <p:blipFill>
          <a:blip r:embed="rId4"/>
          <a:srcRect b="3236"/>
          <a:stretch>
            <a:fillRect/>
          </a:stretch>
        </p:blipFill>
        <p:spPr>
          <a:xfrm>
            <a:off x="6822948" y="2048663"/>
            <a:ext cx="4206654" cy="3007970"/>
          </a:xfrm>
          <a:prstGeom prst="rect">
            <a:avLst/>
          </a:prstGeom>
        </p:spPr>
      </p:pic>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Where one-shot prompting works—and where it breaks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Shape 1">
            <a:extLst>
              <a:ext uri="{FF2B5EF4-FFF2-40B4-BE49-F238E27FC236}">
                <a16:creationId xmlns:a16="http://schemas.microsoft.com/office/drawing/2014/main" id="{07F43C91-B4B7-93C8-93AC-6776C1CECA59}"/>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19" name="Text 2">
            <a:extLst>
              <a:ext uri="{FF2B5EF4-FFF2-40B4-BE49-F238E27FC236}">
                <a16:creationId xmlns:a16="http://schemas.microsoft.com/office/drawing/2014/main" id="{F71EF808-DA70-00FF-7FD9-5DE23C94EC08}"/>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Use it for possibility; switch to iteration for production</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828800"/>
            <a:ext cx="5166360" cy="3611880"/>
          </a:xfrm>
          <a:prstGeom prst="roundRect">
            <a:avLst>
              <a:gd name="adj" fmla="val 2025"/>
            </a:avLst>
          </a:prstGeom>
          <a:solidFill>
            <a:srgbClr val="E7ECF6"/>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828800"/>
            <a:ext cx="73152" cy="3611880"/>
          </a:xfrm>
          <a:prstGeom prst="rect">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987552"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ONE-SHOT IS USEFUL FOR</a:t>
            </a:r>
            <a:endParaRPr lang="en-US" sz="1700" dirty="0"/>
          </a:p>
        </p:txBody>
      </p:sp>
      <p:sp>
        <p:nvSpPr>
          <p:cNvPr id="11" name="Text 9"/>
          <p:cNvSpPr/>
          <p:nvPr/>
        </p:nvSpPr>
        <p:spPr>
          <a:xfrm>
            <a:off x="987552" y="2487168"/>
            <a:ext cx="4690872" cy="2788920"/>
          </a:xfrm>
          <a:prstGeom prst="rect">
            <a:avLst/>
          </a:prstGeom>
          <a:noFill/>
          <a:ln/>
        </p:spPr>
        <p:txBody>
          <a:bodyPr wrap="square" lIns="0" tIns="0" rIns="0" bIns="0" rtlCol="0" anchor="t">
            <a:normAutofit/>
          </a:bodyPr>
          <a:lstStyle/>
          <a:p>
            <a:pPr marL="0" indent="0">
              <a:buNone/>
            </a:pPr>
            <a:r>
              <a:rPr lang="en-US" sz="1600" dirty="0">
                <a:solidFill>
                  <a:srgbClr val="202532"/>
                </a:solidFill>
                <a:latin typeface="Aptos" pitchFamily="34" charset="0"/>
                <a:ea typeface="Aptos" pitchFamily="34" charset="-122"/>
                <a:cs typeface="Aptos" pitchFamily="34" charset="-120"/>
              </a:rPr>
              <a:t>• Brainstorming</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Idea generation</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Quick drafts</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Rough outlines</a:t>
            </a:r>
            <a:endParaRPr lang="en-US" sz="1600" dirty="0"/>
          </a:p>
          <a:p>
            <a:pPr marL="0" indent="0">
              <a:buNone/>
            </a:pPr>
            <a:r>
              <a:rPr lang="en-US" sz="1600" dirty="0">
                <a:solidFill>
                  <a:srgbClr val="202532"/>
                </a:solidFill>
                <a:latin typeface="Aptos" pitchFamily="34" charset="0"/>
                <a:ea typeface="Aptos" pitchFamily="34" charset="-122"/>
                <a:cs typeface="Aptos" pitchFamily="34" charset="-120"/>
              </a:rPr>
              <a:t>• Exploring possible directions</a:t>
            </a:r>
            <a:endParaRPr lang="en-US" sz="1600" dirty="0"/>
          </a:p>
        </p:txBody>
      </p:sp>
      <p:sp>
        <p:nvSpPr>
          <p:cNvPr id="16" name="Text 14"/>
          <p:cNvSpPr/>
          <p:nvPr/>
        </p:nvSpPr>
        <p:spPr>
          <a:xfrm>
            <a:off x="1042416" y="4956048"/>
            <a:ext cx="2560320" cy="310896"/>
          </a:xfrm>
          <a:prstGeom prst="rect">
            <a:avLst/>
          </a:prstGeom>
          <a:noFill/>
          <a:ln/>
        </p:spPr>
        <p:txBody>
          <a:bodyPr wrap="square" lIns="0" tIns="0" rIns="0" bIns="0" rtlCol="0" anchor="ctr">
            <a:normAutofit/>
          </a:bodyPr>
          <a:lstStyle/>
          <a:p>
            <a:pPr marL="0" indent="0">
              <a:buNone/>
            </a:pPr>
            <a:r>
              <a:rPr lang="en-US" sz="1000" b="1" dirty="0">
                <a:solidFill>
                  <a:srgbClr val="4F6FAE"/>
                </a:solidFill>
                <a:latin typeface="Aptos" pitchFamily="34" charset="0"/>
                <a:ea typeface="Aptos" pitchFamily="34" charset="-122"/>
                <a:cs typeface="Aptos" pitchFamily="34" charset="-120"/>
              </a:rPr>
              <a:t>USE IT TO OPEN POSSIBILITIES</a:t>
            </a:r>
            <a:endParaRPr lang="en-US" sz="1000" dirty="0"/>
          </a:p>
        </p:txBody>
      </p:sp>
      <p:sp>
        <p:nvSpPr>
          <p:cNvPr id="12" name="Shape 10">
            <a:extLst>
              <a:ext uri="{C183D7F6-B498-43B3-948B-1728B52AA6E4}">
                <adec:decorative xmlns:adec="http://schemas.microsoft.com/office/drawing/2017/decorative" val="1"/>
              </a:ext>
            </a:extLst>
          </p:cNvPr>
          <p:cNvSpPr/>
          <p:nvPr/>
        </p:nvSpPr>
        <p:spPr>
          <a:xfrm>
            <a:off x="6263640" y="1828800"/>
            <a:ext cx="5166360" cy="3611880"/>
          </a:xfrm>
          <a:prstGeom prst="roundRect">
            <a:avLst>
              <a:gd name="adj" fmla="val 2025"/>
            </a:avLst>
          </a:prstGeom>
          <a:solidFill>
            <a:srgbClr val="F4EEDD"/>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263640" y="1828800"/>
            <a:ext cx="73152" cy="3611880"/>
          </a:xfrm>
          <a:prstGeom prst="rect">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6519672" y="201168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ONE-SHOT BREAKS DOWN WHEN</a:t>
            </a:r>
            <a:endParaRPr lang="en-US" sz="1700" dirty="0"/>
          </a:p>
        </p:txBody>
      </p:sp>
      <p:sp>
        <p:nvSpPr>
          <p:cNvPr id="15" name="Text 13"/>
          <p:cNvSpPr/>
          <p:nvPr/>
        </p:nvSpPr>
        <p:spPr>
          <a:xfrm>
            <a:off x="6519672" y="2487168"/>
            <a:ext cx="4690872" cy="2788920"/>
          </a:xfrm>
          <a:prstGeom prst="rect">
            <a:avLst/>
          </a:prstGeom>
          <a:noFill/>
          <a:ln/>
        </p:spPr>
        <p:txBody>
          <a:bodyPr wrap="square" lIns="0" tIns="0" rIns="0" bIns="0" rtlCol="0" anchor="t">
            <a:normAutofit/>
          </a:bodyPr>
          <a:lstStyle/>
          <a:p>
            <a:pPr marL="0" indent="0">
              <a:buNone/>
            </a:pPr>
            <a:r>
              <a:rPr lang="en-US" sz="1550" dirty="0">
                <a:solidFill>
                  <a:srgbClr val="202532"/>
                </a:solidFill>
                <a:latin typeface="Aptos" pitchFamily="34" charset="0"/>
                <a:ea typeface="Aptos" pitchFamily="34" charset="-122"/>
                <a:cs typeface="Aptos" pitchFamily="34" charset="-120"/>
              </a:rPr>
              <a:t>• Decisions depend on one another</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Sources and assets matter</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Accuracy and accessibility must be tested</a:t>
            </a:r>
            <a:endParaRPr lang="en-US" sz="1550" dirty="0"/>
          </a:p>
          <a:p>
            <a:pPr marL="0" indent="0">
              <a:buNone/>
            </a:pPr>
            <a:r>
              <a:rPr lang="en-US" sz="1550" dirty="0">
                <a:solidFill>
                  <a:srgbClr val="202532"/>
                </a:solidFill>
                <a:latin typeface="Aptos" pitchFamily="34" charset="0"/>
                <a:ea typeface="Aptos" pitchFamily="34" charset="-122"/>
                <a:cs typeface="Aptos" pitchFamily="34" charset="-120"/>
              </a:rPr>
              <a:t>• The artifact must integrate with an LMS</a:t>
            </a:r>
            <a:endParaRPr lang="en-US" sz="1550" dirty="0"/>
          </a:p>
        </p:txBody>
      </p:sp>
      <p:sp>
        <p:nvSpPr>
          <p:cNvPr id="17" name="Text 15"/>
          <p:cNvSpPr/>
          <p:nvPr/>
        </p:nvSpPr>
        <p:spPr>
          <a:xfrm>
            <a:off x="6583680" y="4956048"/>
            <a:ext cx="3886200" cy="310896"/>
          </a:xfrm>
          <a:prstGeom prst="rect">
            <a:avLst/>
          </a:prstGeom>
          <a:noFill/>
          <a:ln/>
        </p:spPr>
        <p:txBody>
          <a:bodyPr wrap="square" lIns="0" tIns="0" rIns="0" bIns="0" rtlCol="0" anchor="ctr">
            <a:normAutofit/>
          </a:bodyPr>
          <a:lstStyle/>
          <a:p>
            <a:pPr marL="0" indent="0">
              <a:buNone/>
            </a:pPr>
            <a:r>
              <a:rPr lang="en-US" sz="1000" b="1" dirty="0">
                <a:solidFill>
                  <a:srgbClr val="BD7B24"/>
                </a:solidFill>
                <a:latin typeface="Aptos" pitchFamily="34" charset="0"/>
                <a:ea typeface="Aptos" pitchFamily="34" charset="-122"/>
                <a:cs typeface="Aptos" pitchFamily="34" charset="-120"/>
              </a:rPr>
              <a:t>ITERATE WHEN THE WORK BECOMES PRODUCTION</a:t>
            </a:r>
            <a:endParaRPr lang="en-US" sz="10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One workflow, three recurring phases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FF2B5EF4-FFF2-40B4-BE49-F238E27FC236}">
                <a16:creationId xmlns:a16="http://schemas.microsoft.com/office/drawing/2014/main" id="{C8CA44BE-6F63-F897-E8C7-E39218C12CAA}"/>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 name="Text 2">
            <a:extLst>
              <a:ext uri="{FF2B5EF4-FFF2-40B4-BE49-F238E27FC236}">
                <a16:creationId xmlns:a16="http://schemas.microsoft.com/office/drawing/2014/main" id="{329BB93F-6C43-C5A8-5DE8-5612283513A1}"/>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Ideate → Iterate → Implement → repeat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82296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05840" y="2157984"/>
            <a:ext cx="502920" cy="502920"/>
          </a:xfrm>
          <a:prstGeom prst="ellipse">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100584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1" name="Text 9"/>
          <p:cNvSpPr/>
          <p:nvPr/>
        </p:nvSpPr>
        <p:spPr>
          <a:xfrm>
            <a:off x="102412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IDEATE</a:t>
            </a:r>
            <a:endParaRPr lang="en-US" sz="2000" dirty="0"/>
          </a:p>
        </p:txBody>
      </p:sp>
      <p:sp>
        <p:nvSpPr>
          <p:cNvPr id="12" name="Text 10"/>
          <p:cNvSpPr/>
          <p:nvPr/>
        </p:nvSpPr>
        <p:spPr>
          <a:xfrm>
            <a:off x="102412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Frame the possibility and gradually fill four design buckets.</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4261104" y="3566160"/>
            <a:ext cx="274320" cy="0"/>
          </a:xfrm>
          <a:prstGeom prst="line">
            <a:avLst/>
          </a:prstGeom>
          <a:noFill/>
          <a:ln w="20320">
            <a:solidFill>
              <a:srgbClr val="0B7049"/>
            </a:solidFill>
            <a:prstDash val="solid"/>
            <a:headEnd type="none"/>
            <a:tailEnd type="triangle"/>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61772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4800600" y="2157984"/>
            <a:ext cx="502920" cy="502920"/>
          </a:xfrm>
          <a:prstGeom prst="ellipse">
            <a:avLst/>
          </a:prstGeom>
          <a:solidFill>
            <a:srgbClr val="D5B979"/>
          </a:solidFill>
          <a:ln w="12700">
            <a:solidFill>
              <a:srgbClr val="D5B979"/>
            </a:solidFill>
            <a:prstDash val="solid"/>
          </a:ln>
        </p:spPr>
        <p:txBody>
          <a:bodyPr/>
          <a:lstStyle/>
          <a:p>
            <a:endParaRPr lang="en-US"/>
          </a:p>
        </p:txBody>
      </p:sp>
      <p:sp>
        <p:nvSpPr>
          <p:cNvPr id="16" name="Text 14"/>
          <p:cNvSpPr/>
          <p:nvPr/>
        </p:nvSpPr>
        <p:spPr>
          <a:xfrm>
            <a:off x="480060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17254E"/>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481888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ITERATE</a:t>
            </a:r>
            <a:endParaRPr lang="en-US" sz="2000" dirty="0"/>
          </a:p>
        </p:txBody>
      </p:sp>
      <p:sp>
        <p:nvSpPr>
          <p:cNvPr id="18" name="Text 16"/>
          <p:cNvSpPr/>
          <p:nvPr/>
        </p:nvSpPr>
        <p:spPr>
          <a:xfrm>
            <a:off x="481888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Review the first build through the same four categories as lenses.</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8055864" y="3566160"/>
            <a:ext cx="274320" cy="0"/>
          </a:xfrm>
          <a:prstGeom prst="line">
            <a:avLst/>
          </a:prstGeom>
          <a:noFill/>
          <a:ln w="20320">
            <a:solidFill>
              <a:srgbClr val="0B7049"/>
            </a:solidFill>
            <a:prstDash val="solid"/>
            <a:headEnd type="none"/>
            <a:tailEnd type="triangle"/>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8412480" y="1938528"/>
            <a:ext cx="3383280" cy="3246120"/>
          </a:xfrm>
          <a:prstGeom prst="roundRect">
            <a:avLst>
              <a:gd name="adj" fmla="val 2817"/>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8595360" y="2157984"/>
            <a:ext cx="502920" cy="502920"/>
          </a:xfrm>
          <a:prstGeom prst="ellipse">
            <a:avLst/>
          </a:prstGeom>
          <a:solidFill>
            <a:srgbClr val="149966"/>
          </a:solidFill>
          <a:ln w="12700">
            <a:solidFill>
              <a:srgbClr val="149966"/>
            </a:solidFill>
            <a:prstDash val="solid"/>
          </a:ln>
        </p:spPr>
        <p:txBody>
          <a:bodyPr/>
          <a:lstStyle/>
          <a:p>
            <a:endParaRPr lang="en-US"/>
          </a:p>
        </p:txBody>
      </p:sp>
      <p:sp>
        <p:nvSpPr>
          <p:cNvPr id="22" name="Text 20"/>
          <p:cNvSpPr/>
          <p:nvPr/>
        </p:nvSpPr>
        <p:spPr>
          <a:xfrm>
            <a:off x="8595360" y="2157984"/>
            <a:ext cx="502920" cy="50292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3" name="Text 21"/>
          <p:cNvSpPr/>
          <p:nvPr/>
        </p:nvSpPr>
        <p:spPr>
          <a:xfrm>
            <a:off x="8613648" y="2926080"/>
            <a:ext cx="2834640" cy="502920"/>
          </a:xfrm>
          <a:prstGeom prst="rect">
            <a:avLst/>
          </a:prstGeom>
          <a:noFill/>
          <a:ln/>
        </p:spPr>
        <p:txBody>
          <a:bodyPr wrap="square" lIns="0" tIns="0" rIns="0" bIns="0" rtlCol="0" anchor="ctr">
            <a:normAutofit/>
          </a:bodyPr>
          <a:lstStyle/>
          <a:p>
            <a:pPr marL="0" indent="0">
              <a:buNone/>
            </a:pPr>
            <a:r>
              <a:rPr lang="en-US" sz="2000" b="1" dirty="0">
                <a:solidFill>
                  <a:srgbClr val="17254E"/>
                </a:solidFill>
                <a:latin typeface="Georgia" pitchFamily="34" charset="0"/>
                <a:ea typeface="Georgia" pitchFamily="34" charset="-122"/>
                <a:cs typeface="Georgia" pitchFamily="34" charset="-120"/>
              </a:rPr>
              <a:t>IMPLEMENT</a:t>
            </a:r>
            <a:endParaRPr lang="en-US" sz="2000" dirty="0"/>
          </a:p>
        </p:txBody>
      </p:sp>
      <p:sp>
        <p:nvSpPr>
          <p:cNvPr id="24" name="Text 22"/>
          <p:cNvSpPr/>
          <p:nvPr/>
        </p:nvSpPr>
        <p:spPr>
          <a:xfrm>
            <a:off x="8613648" y="3675888"/>
            <a:ext cx="2834640" cy="1051560"/>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Test, package, place, preserve, deploy—and learn what to revise next.</a:t>
            </a:r>
            <a:endParaRPr lang="en-US" sz="1400" dirty="0"/>
          </a:p>
        </p:txBody>
      </p:sp>
      <p:sp>
        <p:nvSpPr>
          <p:cNvPr id="25" name="Text 23"/>
          <p:cNvSpPr/>
          <p:nvPr/>
        </p:nvSpPr>
        <p:spPr>
          <a:xfrm>
            <a:off x="2788920" y="5596128"/>
            <a:ext cx="6629400" cy="347472"/>
          </a:xfrm>
          <a:prstGeom prst="rect">
            <a:avLst/>
          </a:prstGeom>
          <a:noFill/>
          <a:ln/>
        </p:spPr>
        <p:txBody>
          <a:bodyPr wrap="square" lIns="0" tIns="0" rIns="0" bIns="0" rtlCol="0" anchor="ctr">
            <a:normAutofit/>
          </a:bodyPr>
          <a:lstStyle/>
          <a:p>
            <a:pPr marL="0" indent="0" algn="ctr">
              <a:buNone/>
            </a:pPr>
            <a:r>
              <a:rPr lang="en-US" sz="1300" b="1" i="1" dirty="0">
                <a:solidFill>
                  <a:srgbClr val="0B7049"/>
                </a:solidFill>
                <a:latin typeface="Aptos" pitchFamily="34" charset="0"/>
                <a:ea typeface="Aptos" pitchFamily="34" charset="-122"/>
                <a:cs typeface="Aptos" pitchFamily="34" charset="-120"/>
              </a:rPr>
              <a:t>Implementation produces new evidence—so the cycle begins again.</a:t>
            </a:r>
            <a:endParaRPr lang="en-US" sz="13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5">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Evaluate your ideas with your available assets.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41" name="Shape 1">
            <a:extLst>
              <a:ext uri="{FF2B5EF4-FFF2-40B4-BE49-F238E27FC236}">
                <a16:creationId xmlns:a16="http://schemas.microsoft.com/office/drawing/2014/main" id="{41AB592D-30DF-CBDC-C9F7-F747A768F8B9}"/>
              </a:ex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chemeClr val="accent2"/>
          </a:solidFill>
          <a:ln w="12700">
            <a:solidFill>
              <a:schemeClr val="accent2"/>
            </a:solidFill>
            <a:prstDash val="solid"/>
          </a:ln>
        </p:spPr>
        <p:txBody>
          <a:bodyPr/>
          <a:lstStyle/>
          <a:p>
            <a:endParaRPr lang="en-US"/>
          </a:p>
        </p:txBody>
      </p:sp>
      <p:sp>
        <p:nvSpPr>
          <p:cNvPr id="42" name="Text 2">
            <a:extLst>
              <a:ext uri="{FF2B5EF4-FFF2-40B4-BE49-F238E27FC236}">
                <a16:creationId xmlns:a16="http://schemas.microsoft.com/office/drawing/2014/main" id="{82FB94D3-F17D-143D-3601-31DC50D215B0}"/>
              </a:ext>
            </a:extLst>
          </p:cNvPr>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BRASS TACKS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Production effort changes when the artifact can be generated from code versus dependent on custom media</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55648"/>
            <a:ext cx="5166360" cy="4160520"/>
          </a:xfrm>
          <a:prstGeom prst="roundRect">
            <a:avLst>
              <a:gd name="adj" fmla="val 175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755648"/>
            <a:ext cx="5166360" cy="658368"/>
          </a:xfrm>
          <a:prstGeom prst="roundRect">
            <a:avLst>
              <a:gd name="adj" fmla="val 11111"/>
            </a:avLst>
          </a:prstGeom>
          <a:solidFill>
            <a:srgbClr val="0B7049"/>
          </a:solidFill>
          <a:ln w="12700">
            <a:solidFill>
              <a:srgbClr val="0B7049"/>
            </a:solidFill>
            <a:prstDash val="solid"/>
          </a:ln>
        </p:spPr>
        <p:txBody>
          <a:bodyPr/>
          <a:lstStyle/>
          <a:p>
            <a:endParaRPr lang="en-US"/>
          </a:p>
        </p:txBody>
      </p:sp>
      <p:sp>
        <p:nvSpPr>
          <p:cNvPr id="10" name="Text 8"/>
          <p:cNvSpPr/>
          <p:nvPr/>
        </p:nvSpPr>
        <p:spPr>
          <a:xfrm>
            <a:off x="960120" y="1755648"/>
            <a:ext cx="4709160" cy="6583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DYNAMIC / CODE-GENERATED</a:t>
            </a:r>
            <a:endParaRPr lang="en-US" sz="1300" dirty="0"/>
          </a:p>
        </p:txBody>
      </p:sp>
      <p:sp>
        <p:nvSpPr>
          <p:cNvPr id="11" name="Text 9"/>
          <p:cNvSpPr/>
          <p:nvPr/>
        </p:nvSpPr>
        <p:spPr>
          <a:xfrm>
            <a:off x="1097280" y="2724912"/>
            <a:ext cx="4434840" cy="420624"/>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17254E"/>
                </a:solidFill>
                <a:latin typeface="Georgia" pitchFamily="34" charset="0"/>
                <a:ea typeface="Georgia" pitchFamily="34" charset="-122"/>
                <a:cs typeface="Georgia" pitchFamily="34" charset="-120"/>
              </a:rPr>
              <a:t>Often efficient when the learning value comes from behavior</a:t>
            </a:r>
            <a:endParaRPr lang="en-US" sz="1700" dirty="0"/>
          </a:p>
        </p:txBody>
      </p:sp>
      <p:sp>
        <p:nvSpPr>
          <p:cNvPr id="12" name="Shape 10">
            <a:extLst>
              <a:ext uri="{C183D7F6-B498-43B3-948B-1728B52AA6E4}">
                <adec:decorative xmlns:adec="http://schemas.microsoft.com/office/drawing/2017/decorative" val="1"/>
              </a:ext>
            </a:extLst>
          </p:cNvPr>
          <p:cNvSpPr/>
          <p:nvPr/>
        </p:nvSpPr>
        <p:spPr>
          <a:xfrm>
            <a:off x="1078992" y="3401568"/>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3" name="Text 11"/>
          <p:cNvSpPr/>
          <p:nvPr/>
        </p:nvSpPr>
        <p:spPr>
          <a:xfrm>
            <a:off x="1188720"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HTML/CSS layouts</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3364992" y="3401568"/>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5" name="Text 13"/>
          <p:cNvSpPr/>
          <p:nvPr/>
        </p:nvSpPr>
        <p:spPr>
          <a:xfrm>
            <a:off x="3474720"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SVG diagrams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1078992" y="4005072"/>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7" name="Text 15"/>
          <p:cNvSpPr/>
          <p:nvPr/>
        </p:nvSpPr>
        <p:spPr>
          <a:xfrm>
            <a:off x="1188720"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Canvas plots</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3364992" y="4005072"/>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9" name="Text 17"/>
          <p:cNvSpPr/>
          <p:nvPr/>
        </p:nvSpPr>
        <p:spPr>
          <a:xfrm>
            <a:off x="3474720"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JavaScript state</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1078992" y="4608576"/>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1" name="Text 19"/>
          <p:cNvSpPr/>
          <p:nvPr/>
        </p:nvSpPr>
        <p:spPr>
          <a:xfrm>
            <a:off x="1188720"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Data visualizations</a:t>
            </a:r>
            <a:endParaRPr lang="en-US" sz="1100" dirty="0"/>
          </a:p>
        </p:txBody>
      </p:sp>
      <p:sp>
        <p:nvSpPr>
          <p:cNvPr id="22" name="Shape 20">
            <a:extLst>
              <a:ext uri="{C183D7F6-B498-43B3-948B-1728B52AA6E4}">
                <adec:decorative xmlns:adec="http://schemas.microsoft.com/office/drawing/2017/decorative" val="1"/>
              </a:ext>
            </a:extLst>
          </p:cNvPr>
          <p:cNvSpPr/>
          <p:nvPr/>
        </p:nvSpPr>
        <p:spPr>
          <a:xfrm>
            <a:off x="3364992" y="4608576"/>
            <a:ext cx="205740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3" name="Text 21"/>
          <p:cNvSpPr/>
          <p:nvPr/>
        </p:nvSpPr>
        <p:spPr>
          <a:xfrm>
            <a:off x="3474720"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Low external-media dependence</a:t>
            </a:r>
            <a:endParaRPr lang="en-US" sz="1100" dirty="0"/>
          </a:p>
        </p:txBody>
      </p:sp>
      <p:sp>
        <p:nvSpPr>
          <p:cNvPr id="24" name="Shape 22">
            <a:extLst>
              <a:ext uri="{C183D7F6-B498-43B3-948B-1728B52AA6E4}">
                <adec:decorative xmlns:adec="http://schemas.microsoft.com/office/drawing/2017/decorative" val="1"/>
              </a:ext>
            </a:extLst>
          </p:cNvPr>
          <p:cNvSpPr/>
          <p:nvPr/>
        </p:nvSpPr>
        <p:spPr>
          <a:xfrm>
            <a:off x="6291072" y="1755648"/>
            <a:ext cx="5166360" cy="4160520"/>
          </a:xfrm>
          <a:prstGeom prst="roundRect">
            <a:avLst>
              <a:gd name="adj" fmla="val 1758"/>
            </a:avLst>
          </a:prstGeom>
          <a:solidFill>
            <a:srgbClr val="FFFFFF"/>
          </a:solidFill>
          <a:ln w="12700">
            <a:solidFill>
              <a:srgbClr val="D8DCE4"/>
            </a:solidFill>
            <a:prstDash val="solid"/>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6291072" y="1755648"/>
            <a:ext cx="5166360" cy="658368"/>
          </a:xfrm>
          <a:prstGeom prst="roundRect">
            <a:avLst>
              <a:gd name="adj" fmla="val 11111"/>
            </a:avLst>
          </a:prstGeom>
          <a:solidFill>
            <a:srgbClr val="BD7B24"/>
          </a:solidFill>
          <a:ln w="12700">
            <a:solidFill>
              <a:srgbClr val="BD7B24"/>
            </a:solidFill>
            <a:prstDash val="solid"/>
          </a:ln>
        </p:spPr>
        <p:txBody>
          <a:bodyPr/>
          <a:lstStyle/>
          <a:p>
            <a:endParaRPr lang="en-US"/>
          </a:p>
        </p:txBody>
      </p:sp>
      <p:sp>
        <p:nvSpPr>
          <p:cNvPr id="26" name="Text 24"/>
          <p:cNvSpPr/>
          <p:nvPr/>
        </p:nvSpPr>
        <p:spPr>
          <a:xfrm>
            <a:off x="6519672" y="1755648"/>
            <a:ext cx="4709160" cy="65836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Aptos" pitchFamily="34" charset="0"/>
                <a:ea typeface="Aptos" pitchFamily="34" charset="-122"/>
                <a:cs typeface="Aptos" pitchFamily="34" charset="-120"/>
              </a:rPr>
              <a:t>CUSTOM / MEDIA-DEPENDENT</a:t>
            </a:r>
            <a:endParaRPr lang="en-US" sz="1300" dirty="0"/>
          </a:p>
        </p:txBody>
      </p:sp>
      <p:sp>
        <p:nvSpPr>
          <p:cNvPr id="27" name="Text 25"/>
          <p:cNvSpPr/>
          <p:nvPr/>
        </p:nvSpPr>
        <p:spPr>
          <a:xfrm>
            <a:off x="6656832" y="2724912"/>
            <a:ext cx="4434840" cy="420624"/>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17254E"/>
                </a:solidFill>
                <a:latin typeface="Georgia" pitchFamily="34" charset="0"/>
                <a:ea typeface="Georgia" pitchFamily="34" charset="-122"/>
                <a:cs typeface="Georgia" pitchFamily="34" charset="-120"/>
              </a:rPr>
              <a:t>Often costly when the learning value depends on custom media</a:t>
            </a:r>
            <a:endParaRPr lang="en-US" sz="1700" dirty="0"/>
          </a:p>
        </p:txBody>
      </p:sp>
      <p:sp>
        <p:nvSpPr>
          <p:cNvPr id="28" name="Shape 26">
            <a:extLst>
              <a:ext uri="{C183D7F6-B498-43B3-948B-1728B52AA6E4}">
                <adec:decorative xmlns:adec="http://schemas.microsoft.com/office/drawing/2017/decorative" val="1"/>
              </a:ext>
            </a:extLst>
          </p:cNvPr>
          <p:cNvSpPr/>
          <p:nvPr/>
        </p:nvSpPr>
        <p:spPr>
          <a:xfrm>
            <a:off x="6638544" y="3401568"/>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9" name="Text 27"/>
          <p:cNvSpPr/>
          <p:nvPr/>
        </p:nvSpPr>
        <p:spPr>
          <a:xfrm>
            <a:off x="6748272"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Illustration / photos</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8924544" y="3401568"/>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1" name="Text 29"/>
          <p:cNvSpPr/>
          <p:nvPr/>
        </p:nvSpPr>
        <p:spPr>
          <a:xfrm>
            <a:off x="9034272" y="3401568"/>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Animation</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6638544" y="4005072"/>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3" name="Text 31"/>
          <p:cNvSpPr/>
          <p:nvPr/>
        </p:nvSpPr>
        <p:spPr>
          <a:xfrm>
            <a:off x="6748272"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Audio / video</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8924544" y="4005072"/>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5" name="Text 33"/>
          <p:cNvSpPr/>
          <p:nvPr/>
        </p:nvSpPr>
        <p:spPr>
          <a:xfrm>
            <a:off x="9034272" y="4005072"/>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3D or complex art</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6638544" y="4608576"/>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7" name="Text 35"/>
          <p:cNvSpPr/>
          <p:nvPr/>
        </p:nvSpPr>
        <p:spPr>
          <a:xfrm>
            <a:off x="6748272"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Rights + captions</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8924544" y="4608576"/>
            <a:ext cx="20574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39" name="Text 37"/>
          <p:cNvSpPr/>
          <p:nvPr/>
        </p:nvSpPr>
        <p:spPr>
          <a:xfrm>
            <a:off x="9034272" y="4608576"/>
            <a:ext cx="18379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Editing + production time</a:t>
            </a:r>
            <a:endParaRPr lang="en-US" sz="1100" dirty="0"/>
          </a:p>
        </p:txBody>
      </p:sp>
      <p:sp>
        <p:nvSpPr>
          <p:cNvPr id="40" name="Text 38"/>
          <p:cNvSpPr/>
          <p:nvPr/>
        </p:nvSpPr>
        <p:spPr>
          <a:xfrm>
            <a:off x="960120" y="6126480"/>
            <a:ext cx="10287000" cy="310896"/>
          </a:xfrm>
          <a:prstGeom prst="rect">
            <a:avLst/>
          </a:prstGeom>
          <a:noFill/>
          <a:ln/>
        </p:spPr>
        <p:txBody>
          <a:bodyPr wrap="square" lIns="0" tIns="0" rIns="0" bIns="0" rtlCol="0" anchor="ctr">
            <a:normAutofit/>
          </a:bodyPr>
          <a:lstStyle/>
          <a:p>
            <a:pPr marL="0" indent="0" algn="ctr">
              <a:buNone/>
            </a:pPr>
            <a:r>
              <a:rPr lang="en-US" sz="1200" b="1" dirty="0">
                <a:solidFill>
                  <a:srgbClr val="0B7049"/>
                </a:solidFill>
                <a:latin typeface="Aptos" pitchFamily="34" charset="0"/>
                <a:ea typeface="Aptos" pitchFamily="34" charset="-122"/>
                <a:cs typeface="Aptos" pitchFamily="34" charset="-120"/>
              </a:rPr>
              <a:t>Ask early: Can the learning goal be met with behavior and simple visual systems—or does it truly require custom media?</a:t>
            </a:r>
            <a:endParaRPr lang="en-US" sz="1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Four Lenses for Interactive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Four lenses make the important design decisions visible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847088"/>
            <a:ext cx="2542032" cy="603504"/>
          </a:xfrm>
          <a:prstGeom prst="roundRect">
            <a:avLst>
              <a:gd name="adj" fmla="val 12121"/>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804672"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1" name="Text 9"/>
          <p:cNvSpPr/>
          <p:nvPr/>
        </p:nvSpPr>
        <p:spPr>
          <a:xfrm>
            <a:off x="1152144"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LEARNING CONTEXT</a:t>
            </a:r>
            <a:endParaRPr lang="en-US" sz="1000" dirty="0"/>
          </a:p>
        </p:txBody>
      </p:sp>
      <p:sp>
        <p:nvSpPr>
          <p:cNvPr id="12" name="Text 10"/>
          <p:cNvSpPr/>
          <p:nvPr/>
        </p:nvSpPr>
        <p:spPr>
          <a:xfrm>
            <a:off x="877824"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Why this exists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Who the learner is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success means</a:t>
            </a:r>
            <a:endParaRPr lang="en-US" sz="1500" dirty="0"/>
          </a:p>
        </p:txBody>
      </p:sp>
      <p:sp>
        <p:nvSpPr>
          <p:cNvPr id="13" name="Shape 11">
            <a:extLst>
              <a:ext uri="{C183D7F6-B498-43B3-948B-1728B52AA6E4}">
                <adec:decorative xmlns:adec="http://schemas.microsoft.com/office/drawing/2017/decorative" val="1"/>
              </a:ext>
            </a:extLst>
          </p:cNvPr>
          <p:cNvSpPr/>
          <p:nvPr/>
        </p:nvSpPr>
        <p:spPr>
          <a:xfrm>
            <a:off x="3474720"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3474720" y="1847088"/>
            <a:ext cx="2542032" cy="603504"/>
          </a:xfrm>
          <a:prstGeom prst="roundRect">
            <a:avLst>
              <a:gd name="adj" fmla="val 12121"/>
            </a:avLst>
          </a:prstGeom>
          <a:solidFill>
            <a:srgbClr val="0B7049"/>
          </a:solidFill>
          <a:ln w="12700">
            <a:solidFill>
              <a:srgbClr val="0B7049"/>
            </a:solidFill>
            <a:prstDash val="solid"/>
          </a:ln>
        </p:spPr>
        <p:txBody>
          <a:bodyPr/>
          <a:lstStyle/>
          <a:p>
            <a:endParaRPr lang="en-US"/>
          </a:p>
        </p:txBody>
      </p:sp>
      <p:sp>
        <p:nvSpPr>
          <p:cNvPr id="15" name="Text 13"/>
          <p:cNvSpPr/>
          <p:nvPr/>
        </p:nvSpPr>
        <p:spPr>
          <a:xfrm>
            <a:off x="3621024"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6" name="Text 14"/>
          <p:cNvSpPr/>
          <p:nvPr/>
        </p:nvSpPr>
        <p:spPr>
          <a:xfrm>
            <a:off x="3968496"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INTERACTION DESIGN</a:t>
            </a:r>
            <a:endParaRPr lang="en-US" sz="1000" dirty="0"/>
          </a:p>
        </p:txBody>
      </p:sp>
      <p:sp>
        <p:nvSpPr>
          <p:cNvPr id="17" name="Text 15"/>
          <p:cNvSpPr/>
          <p:nvPr/>
        </p:nvSpPr>
        <p:spPr>
          <a:xfrm>
            <a:off x="3694176"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What the learner does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changes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What feedback means</a:t>
            </a:r>
            <a:endParaRPr lang="en-US" sz="1500" dirty="0"/>
          </a:p>
        </p:txBody>
      </p:sp>
      <p:sp>
        <p:nvSpPr>
          <p:cNvPr id="18" name="Shape 16">
            <a:extLst>
              <a:ext uri="{C183D7F6-B498-43B3-948B-1728B52AA6E4}">
                <adec:decorative xmlns:adec="http://schemas.microsoft.com/office/drawing/2017/decorative" val="1"/>
              </a:ext>
            </a:extLst>
          </p:cNvPr>
          <p:cNvSpPr/>
          <p:nvPr/>
        </p:nvSpPr>
        <p:spPr>
          <a:xfrm>
            <a:off x="6291072"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6291072" y="1847088"/>
            <a:ext cx="2542032" cy="603504"/>
          </a:xfrm>
          <a:prstGeom prst="roundRect">
            <a:avLst>
              <a:gd name="adj" fmla="val 12121"/>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6437376"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1" name="Text 19"/>
          <p:cNvSpPr/>
          <p:nvPr/>
        </p:nvSpPr>
        <p:spPr>
          <a:xfrm>
            <a:off x="6784848"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EXPERT CONTENT</a:t>
            </a:r>
            <a:endParaRPr lang="en-US" sz="1000" dirty="0"/>
          </a:p>
        </p:txBody>
      </p:sp>
      <p:sp>
        <p:nvSpPr>
          <p:cNvPr id="22" name="Text 20"/>
          <p:cNvSpPr/>
          <p:nvPr/>
        </p:nvSpPr>
        <p:spPr>
          <a:xfrm>
            <a:off x="6510528"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Sources and claims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Models and examples</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Accuracy boundaries</a:t>
            </a:r>
            <a:endParaRPr lang="en-US" sz="1500" dirty="0"/>
          </a:p>
        </p:txBody>
      </p:sp>
      <p:sp>
        <p:nvSpPr>
          <p:cNvPr id="23" name="Shape 21">
            <a:extLst>
              <a:ext uri="{C183D7F6-B498-43B3-948B-1728B52AA6E4}">
                <adec:decorative xmlns:adec="http://schemas.microsoft.com/office/drawing/2017/decorative" val="1"/>
              </a:ext>
            </a:extLst>
          </p:cNvPr>
          <p:cNvSpPr/>
          <p:nvPr/>
        </p:nvSpPr>
        <p:spPr>
          <a:xfrm>
            <a:off x="9107424" y="1847088"/>
            <a:ext cx="2542032" cy="3611880"/>
          </a:xfrm>
          <a:prstGeom prst="roundRect">
            <a:avLst>
              <a:gd name="adj" fmla="val 2878"/>
            </a:avLst>
          </a:prstGeom>
          <a:solidFill>
            <a:srgbClr val="FFFFFF"/>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9107424" y="1847088"/>
            <a:ext cx="2542032" cy="603504"/>
          </a:xfrm>
          <a:prstGeom prst="roundRect">
            <a:avLst>
              <a:gd name="adj" fmla="val 12121"/>
            </a:avLst>
          </a:prstGeom>
          <a:solidFill>
            <a:srgbClr val="BD7B24"/>
          </a:solidFill>
          <a:ln w="12700">
            <a:solidFill>
              <a:srgbClr val="BD7B24"/>
            </a:solidFill>
            <a:prstDash val="solid"/>
          </a:ln>
        </p:spPr>
        <p:txBody>
          <a:bodyPr/>
          <a:lstStyle/>
          <a:p>
            <a:endParaRPr lang="en-US"/>
          </a:p>
        </p:txBody>
      </p:sp>
      <p:sp>
        <p:nvSpPr>
          <p:cNvPr id="25" name="Text 23"/>
          <p:cNvSpPr/>
          <p:nvPr/>
        </p:nvSpPr>
        <p:spPr>
          <a:xfrm>
            <a:off x="9253728" y="1920240"/>
            <a:ext cx="329184" cy="42062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6" name="Text 24"/>
          <p:cNvSpPr/>
          <p:nvPr/>
        </p:nvSpPr>
        <p:spPr>
          <a:xfrm>
            <a:off x="9601200" y="1920240"/>
            <a:ext cx="1874520" cy="420624"/>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ARTIFACT SPECIFICATION</a:t>
            </a:r>
            <a:endParaRPr lang="en-US" sz="1000" dirty="0"/>
          </a:p>
        </p:txBody>
      </p:sp>
      <p:sp>
        <p:nvSpPr>
          <p:cNvPr id="27" name="Text 25"/>
          <p:cNvSpPr/>
          <p:nvPr/>
        </p:nvSpPr>
        <p:spPr>
          <a:xfrm>
            <a:off x="9326880" y="2788920"/>
            <a:ext cx="2103120" cy="1920240"/>
          </a:xfrm>
          <a:prstGeom prst="rect">
            <a:avLst/>
          </a:prstGeom>
          <a:noFill/>
          <a:ln/>
        </p:spPr>
        <p:txBody>
          <a:bodyPr wrap="square" lIns="0" tIns="0" rIns="0" bIns="0" rtlCol="0" anchor="t">
            <a:normAutofit/>
          </a:bodyPr>
          <a:lstStyle/>
          <a:p>
            <a:pPr marL="0" indent="0">
              <a:buNone/>
            </a:pPr>
            <a:r>
              <a:rPr lang="en-US" sz="1500" dirty="0">
                <a:solidFill>
                  <a:srgbClr val="202532"/>
                </a:solidFill>
                <a:latin typeface="Aptos" pitchFamily="34" charset="0"/>
                <a:ea typeface="Aptos" pitchFamily="34" charset="-122"/>
                <a:cs typeface="Aptos" pitchFamily="34" charset="-120"/>
              </a:rPr>
              <a:t>Deliverable and behavior</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Accessibility</a:t>
            </a:r>
            <a:endParaRPr lang="en-US" sz="1500" dirty="0"/>
          </a:p>
          <a:p>
            <a:pPr marL="0" indent="0">
              <a:buNone/>
            </a:pPr>
            <a:r>
              <a:rPr lang="en-US" sz="1500" dirty="0">
                <a:solidFill>
                  <a:srgbClr val="202532"/>
                </a:solidFill>
                <a:latin typeface="Aptos" pitchFamily="34" charset="0"/>
                <a:ea typeface="Aptos" pitchFamily="34" charset="-122"/>
                <a:cs typeface="Aptos" pitchFamily="34" charset="-120"/>
              </a:rPr>
              <a:t>Technical delivery</a:t>
            </a:r>
            <a:endParaRPr lang="en-US" sz="1500" dirty="0"/>
          </a:p>
        </p:txBody>
      </p:sp>
      <p:sp>
        <p:nvSpPr>
          <p:cNvPr id="28" name="Shape 26">
            <a:extLst>
              <a:ext uri="{C183D7F6-B498-43B3-948B-1728B52AA6E4}">
                <adec:decorative xmlns:adec="http://schemas.microsoft.com/office/drawing/2017/decorative" val="1"/>
              </a:ext>
            </a:extLst>
          </p:cNvPr>
          <p:cNvSpPr/>
          <p:nvPr/>
        </p:nvSpPr>
        <p:spPr>
          <a:xfrm>
            <a:off x="1143000" y="5596128"/>
            <a:ext cx="82296" cy="658368"/>
          </a:xfrm>
          <a:prstGeom prst="rect">
            <a:avLst/>
          </a:prstGeom>
          <a:solidFill>
            <a:srgbClr val="D5B979"/>
          </a:solidFill>
          <a:ln w="12700">
            <a:solidFill>
              <a:srgbClr val="D5B979"/>
            </a:solidFill>
            <a:prstDash val="solid"/>
          </a:ln>
        </p:spPr>
        <p:txBody>
          <a:bodyPr/>
          <a:lstStyle/>
          <a:p>
            <a:endParaRPr lang="en-US"/>
          </a:p>
        </p:txBody>
      </p:sp>
      <p:sp>
        <p:nvSpPr>
          <p:cNvPr id="29" name="Text 27"/>
          <p:cNvSpPr/>
          <p:nvPr/>
        </p:nvSpPr>
        <p:spPr>
          <a:xfrm>
            <a:off x="1435608" y="5596128"/>
            <a:ext cx="9674352" cy="658368"/>
          </a:xfrm>
          <a:prstGeom prst="rect">
            <a:avLst/>
          </a:prstGeom>
          <a:noFill/>
          <a:ln/>
        </p:spPr>
        <p:txBody>
          <a:bodyPr wrap="square" lIns="0" tIns="0" rIns="0" bIns="0" rtlCol="0" anchor="ctr">
            <a:normAutofit lnSpcReduction="10000"/>
          </a:bodyPr>
          <a:lstStyle/>
          <a:p>
            <a:pPr marL="0" indent="0">
              <a:buNone/>
            </a:pPr>
            <a:r>
              <a:rPr lang="en-US" sz="2200" i="1" dirty="0">
                <a:solidFill>
                  <a:srgbClr val="17254E"/>
                </a:solidFill>
                <a:latin typeface="Georgia" pitchFamily="34" charset="0"/>
                <a:ea typeface="Georgia" pitchFamily="34" charset="-122"/>
                <a:cs typeface="Georgia" pitchFamily="34" charset="-120"/>
              </a:rPr>
              <a:t>Begin with what you know. Let missing information become the subject of the conversation with AI.</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1 — Learning Context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instructional situation is this artifact being designed to serve?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13232" y="1783080"/>
            <a:ext cx="5230368" cy="3383280"/>
          </a:xfrm>
          <a:prstGeom prst="roundRect">
            <a:avLst>
              <a:gd name="adj" fmla="val 2162"/>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13232" y="1783080"/>
            <a:ext cx="5230368" cy="530352"/>
          </a:xfrm>
          <a:prstGeom prst="roundRect">
            <a:avLst>
              <a:gd name="adj" fmla="val 13793"/>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896112" y="1783080"/>
            <a:ext cx="48646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ALIGNMENT + SEQUENCE</a:t>
            </a:r>
            <a:endParaRPr lang="en-US" sz="1000" dirty="0"/>
          </a:p>
        </p:txBody>
      </p:sp>
      <p:sp>
        <p:nvSpPr>
          <p:cNvPr id="11" name="Shape 9">
            <a:extLst>
              <a:ext uri="{C183D7F6-B498-43B3-948B-1728B52AA6E4}">
                <adec:decorative xmlns:adec="http://schemas.microsoft.com/office/drawing/2017/decorative" val="1"/>
              </a:ext>
            </a:extLst>
          </p:cNvPr>
          <p:cNvSpPr/>
          <p:nvPr/>
        </p:nvSpPr>
        <p:spPr>
          <a:xfrm>
            <a:off x="987552" y="2542032"/>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2" name="Text 10"/>
          <p:cNvSpPr/>
          <p:nvPr/>
        </p:nvSpPr>
        <p:spPr>
          <a:xfrm>
            <a:off x="1097280"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a:t>
            </a:r>
            <a:endParaRPr lang="en-US" sz="1100" dirty="0"/>
          </a:p>
        </p:txBody>
      </p:sp>
      <p:sp>
        <p:nvSpPr>
          <p:cNvPr id="13" name="Shape 11">
            <a:extLst>
              <a:ext uri="{C183D7F6-B498-43B3-948B-1728B52AA6E4}">
                <adec:decorative xmlns:adec="http://schemas.microsoft.com/office/drawing/2017/decorative" val="1"/>
              </a:ext>
            </a:extLst>
          </p:cNvPr>
          <p:cNvSpPr/>
          <p:nvPr/>
        </p:nvSpPr>
        <p:spPr>
          <a:xfrm>
            <a:off x="3346704" y="2542032"/>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4" name="Text 12"/>
          <p:cNvSpPr/>
          <p:nvPr/>
        </p:nvSpPr>
        <p:spPr>
          <a:xfrm>
            <a:off x="3456432"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Unit / module</a:t>
            </a:r>
            <a:endParaRPr lang="en-US" sz="1100" dirty="0"/>
          </a:p>
        </p:txBody>
      </p:sp>
      <p:sp>
        <p:nvSpPr>
          <p:cNvPr id="15" name="Shape 13">
            <a:extLst>
              <a:ext uri="{C183D7F6-B498-43B3-948B-1728B52AA6E4}">
                <adec:decorative xmlns:adec="http://schemas.microsoft.com/office/drawing/2017/decorative" val="1"/>
              </a:ext>
            </a:extLst>
          </p:cNvPr>
          <p:cNvSpPr/>
          <p:nvPr/>
        </p:nvSpPr>
        <p:spPr>
          <a:xfrm>
            <a:off x="987552" y="3145536"/>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6" name="Text 14"/>
          <p:cNvSpPr/>
          <p:nvPr/>
        </p:nvSpPr>
        <p:spPr>
          <a:xfrm>
            <a:off x="1097280"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 outcomes</a:t>
            </a:r>
            <a:endParaRPr lang="en-US" sz="1100" dirty="0"/>
          </a:p>
        </p:txBody>
      </p:sp>
      <p:sp>
        <p:nvSpPr>
          <p:cNvPr id="17" name="Shape 15">
            <a:extLst>
              <a:ext uri="{C183D7F6-B498-43B3-948B-1728B52AA6E4}">
                <adec:decorative xmlns:adec="http://schemas.microsoft.com/office/drawing/2017/decorative" val="1"/>
              </a:ext>
            </a:extLst>
          </p:cNvPr>
          <p:cNvSpPr/>
          <p:nvPr/>
        </p:nvSpPr>
        <p:spPr>
          <a:xfrm>
            <a:off x="3346704" y="3145536"/>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8" name="Text 16"/>
          <p:cNvSpPr/>
          <p:nvPr/>
        </p:nvSpPr>
        <p:spPr>
          <a:xfrm>
            <a:off x="3456432"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Module outcomes</a:t>
            </a:r>
            <a:endParaRPr lang="en-US" sz="1100" dirty="0"/>
          </a:p>
        </p:txBody>
      </p:sp>
      <p:sp>
        <p:nvSpPr>
          <p:cNvPr id="19" name="Shape 17">
            <a:extLst>
              <a:ext uri="{C183D7F6-B498-43B3-948B-1728B52AA6E4}">
                <adec:decorative xmlns:adec="http://schemas.microsoft.com/office/drawing/2017/decorative" val="1"/>
              </a:ext>
            </a:extLst>
          </p:cNvPr>
          <p:cNvSpPr/>
          <p:nvPr/>
        </p:nvSpPr>
        <p:spPr>
          <a:xfrm>
            <a:off x="987552" y="3749040"/>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0" name="Text 18"/>
          <p:cNvSpPr/>
          <p:nvPr/>
        </p:nvSpPr>
        <p:spPr>
          <a:xfrm>
            <a:off x="1097280"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Related assessment</a:t>
            </a:r>
            <a:endParaRPr lang="en-US" sz="1100" dirty="0"/>
          </a:p>
        </p:txBody>
      </p:sp>
      <p:sp>
        <p:nvSpPr>
          <p:cNvPr id="21" name="Shape 19">
            <a:extLst>
              <a:ext uri="{C183D7F6-B498-43B3-948B-1728B52AA6E4}">
                <adec:decorative xmlns:adec="http://schemas.microsoft.com/office/drawing/2017/decorative" val="1"/>
              </a:ext>
            </a:extLst>
          </p:cNvPr>
          <p:cNvSpPr/>
          <p:nvPr/>
        </p:nvSpPr>
        <p:spPr>
          <a:xfrm>
            <a:off x="3346704" y="3749040"/>
            <a:ext cx="210312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2" name="Text 20"/>
          <p:cNvSpPr/>
          <p:nvPr/>
        </p:nvSpPr>
        <p:spPr>
          <a:xfrm>
            <a:off x="3456432"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Course placement</a:t>
            </a:r>
            <a:endParaRPr lang="en-US" sz="1100" dirty="0"/>
          </a:p>
        </p:txBody>
      </p:sp>
      <p:sp>
        <p:nvSpPr>
          <p:cNvPr id="25" name="Shape 23">
            <a:extLst>
              <a:ext uri="{C183D7F6-B498-43B3-948B-1728B52AA6E4}">
                <adec:decorative xmlns:adec="http://schemas.microsoft.com/office/drawing/2017/decorative" val="1"/>
              </a:ext>
            </a:extLst>
          </p:cNvPr>
          <p:cNvSpPr/>
          <p:nvPr/>
        </p:nvSpPr>
        <p:spPr>
          <a:xfrm>
            <a:off x="6336792" y="1783080"/>
            <a:ext cx="5230368" cy="3383280"/>
          </a:xfrm>
          <a:prstGeom prst="roundRect">
            <a:avLst>
              <a:gd name="adj" fmla="val 2162"/>
            </a:avLst>
          </a:prstGeom>
          <a:solidFill>
            <a:srgbClr val="FFFFFF"/>
          </a:solidFill>
          <a:ln w="12700">
            <a:solidFill>
              <a:srgbClr val="D8DCE4"/>
            </a:solidFill>
            <a:prstDash val="solid"/>
          </a:ln>
        </p:spPr>
        <p:txBody>
          <a:bodyPr/>
          <a:lstStyle/>
          <a:p>
            <a:endParaRPr lang="en-US"/>
          </a:p>
        </p:txBody>
      </p:sp>
      <p:sp>
        <p:nvSpPr>
          <p:cNvPr id="26" name="Shape 24">
            <a:extLst>
              <a:ext uri="{C183D7F6-B498-43B3-948B-1728B52AA6E4}">
                <adec:decorative xmlns:adec="http://schemas.microsoft.com/office/drawing/2017/decorative" val="1"/>
              </a:ext>
            </a:extLst>
          </p:cNvPr>
          <p:cNvSpPr/>
          <p:nvPr/>
        </p:nvSpPr>
        <p:spPr>
          <a:xfrm>
            <a:off x="6336792" y="1783080"/>
            <a:ext cx="5230368" cy="530352"/>
          </a:xfrm>
          <a:prstGeom prst="roundRect">
            <a:avLst>
              <a:gd name="adj" fmla="val 13793"/>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6519672" y="1783080"/>
            <a:ext cx="48646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LEARNER + PURPOSE</a:t>
            </a:r>
            <a:endParaRPr lang="en-US" sz="1000" dirty="0"/>
          </a:p>
        </p:txBody>
      </p:sp>
      <p:sp>
        <p:nvSpPr>
          <p:cNvPr id="28" name="Shape 26">
            <a:extLst>
              <a:ext uri="{C183D7F6-B498-43B3-948B-1728B52AA6E4}">
                <adec:decorative xmlns:adec="http://schemas.microsoft.com/office/drawing/2017/decorative" val="1"/>
              </a:ext>
            </a:extLst>
          </p:cNvPr>
          <p:cNvSpPr/>
          <p:nvPr/>
        </p:nvSpPr>
        <p:spPr>
          <a:xfrm>
            <a:off x="6611112" y="2542032"/>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29" name="Text 27"/>
          <p:cNvSpPr/>
          <p:nvPr/>
        </p:nvSpPr>
        <p:spPr>
          <a:xfrm>
            <a:off x="6720840"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Learning purpose</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8970264" y="2542032"/>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1" name="Text 29"/>
          <p:cNvSpPr/>
          <p:nvPr/>
        </p:nvSpPr>
        <p:spPr>
          <a:xfrm>
            <a:off x="9079992" y="2542032"/>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Instructional role</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6611112" y="3145536"/>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3" name="Text 31"/>
          <p:cNvSpPr/>
          <p:nvPr/>
        </p:nvSpPr>
        <p:spPr>
          <a:xfrm>
            <a:off x="6720840"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Student audience</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8970264" y="3145536"/>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5" name="Text 33"/>
          <p:cNvSpPr/>
          <p:nvPr/>
        </p:nvSpPr>
        <p:spPr>
          <a:xfrm>
            <a:off x="9079992" y="3145536"/>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Prerequisite knowledge</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6611112" y="3749040"/>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7" name="Text 35"/>
          <p:cNvSpPr/>
          <p:nvPr/>
        </p:nvSpPr>
        <p:spPr>
          <a:xfrm>
            <a:off x="6720840"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Anticipated difficulty</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8970264" y="3749040"/>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39" name="Text 37"/>
          <p:cNvSpPr/>
          <p:nvPr/>
        </p:nvSpPr>
        <p:spPr>
          <a:xfrm>
            <a:off x="9079992" y="374904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Time available</a:t>
            </a:r>
            <a:endParaRPr lang="en-US" sz="1100" dirty="0"/>
          </a:p>
        </p:txBody>
      </p:sp>
      <p:sp>
        <p:nvSpPr>
          <p:cNvPr id="40" name="Shape 38">
            <a:extLst>
              <a:ext uri="{C183D7F6-B498-43B3-948B-1728B52AA6E4}">
                <adec:decorative xmlns:adec="http://schemas.microsoft.com/office/drawing/2017/decorative" val="1"/>
              </a:ext>
            </a:extLst>
          </p:cNvPr>
          <p:cNvSpPr/>
          <p:nvPr/>
        </p:nvSpPr>
        <p:spPr>
          <a:xfrm>
            <a:off x="6611112" y="4352544"/>
            <a:ext cx="21031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41" name="Text 39"/>
          <p:cNvSpPr/>
          <p:nvPr/>
        </p:nvSpPr>
        <p:spPr>
          <a:xfrm>
            <a:off x="6720840" y="4352544"/>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Before / after</a:t>
            </a:r>
            <a:endParaRPr lang="en-US" sz="1100" dirty="0"/>
          </a:p>
        </p:txBody>
      </p:sp>
      <p:sp>
        <p:nvSpPr>
          <p:cNvPr id="42" name="Shape 40">
            <a:extLst>
              <a:ext uri="{C183D7F6-B498-43B3-948B-1728B52AA6E4}">
                <adec:decorative xmlns:adec="http://schemas.microsoft.com/office/drawing/2017/decorative" val="1"/>
              </a:ext>
            </a:extLst>
          </p:cNvPr>
          <p:cNvSpPr/>
          <p:nvPr/>
        </p:nvSpPr>
        <p:spPr>
          <a:xfrm>
            <a:off x="3703320" y="5440680"/>
            <a:ext cx="914400" cy="0"/>
          </a:xfrm>
          <a:prstGeom prst="line">
            <a:avLst/>
          </a:prstGeom>
          <a:noFill/>
          <a:ln w="22860">
            <a:solidFill>
              <a:srgbClr val="0B7049"/>
            </a:solidFill>
            <a:prstDash val="solid"/>
            <a:headEnd type="none"/>
            <a:tailEnd type="triangle"/>
          </a:ln>
        </p:spPr>
        <p:txBody>
          <a:bodyPr/>
          <a:lstStyle/>
          <a:p>
            <a:endParaRPr lang="en-US"/>
          </a:p>
        </p:txBody>
      </p:sp>
      <p:sp>
        <p:nvSpPr>
          <p:cNvPr id="43" name="Text 41"/>
          <p:cNvSpPr/>
          <p:nvPr/>
        </p:nvSpPr>
        <p:spPr>
          <a:xfrm>
            <a:off x="2286000" y="5285232"/>
            <a:ext cx="137160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OUTCOME</a:t>
            </a:r>
            <a:endParaRPr lang="en-US" sz="1100" dirty="0"/>
          </a:p>
        </p:txBody>
      </p:sp>
      <p:sp>
        <p:nvSpPr>
          <p:cNvPr id="44" name="Text 42"/>
          <p:cNvSpPr/>
          <p:nvPr/>
        </p:nvSpPr>
        <p:spPr>
          <a:xfrm>
            <a:off x="4645152" y="5285232"/>
            <a:ext cx="155448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ASSESSMENT</a:t>
            </a:r>
            <a:endParaRPr lang="en-US" sz="1100" dirty="0"/>
          </a:p>
        </p:txBody>
      </p:sp>
      <p:sp>
        <p:nvSpPr>
          <p:cNvPr id="45" name="Shape 43">
            <a:extLst>
              <a:ext uri="{C183D7F6-B498-43B3-948B-1728B52AA6E4}">
                <adec:decorative xmlns:adec="http://schemas.microsoft.com/office/drawing/2017/decorative" val="1"/>
              </a:ext>
            </a:extLst>
          </p:cNvPr>
          <p:cNvSpPr/>
          <p:nvPr/>
        </p:nvSpPr>
        <p:spPr>
          <a:xfrm>
            <a:off x="6236208" y="5440680"/>
            <a:ext cx="914400" cy="0"/>
          </a:xfrm>
          <a:prstGeom prst="line">
            <a:avLst/>
          </a:prstGeom>
          <a:noFill/>
          <a:ln w="22860">
            <a:solidFill>
              <a:srgbClr val="0B7049"/>
            </a:solidFill>
            <a:prstDash val="solid"/>
            <a:headEnd type="none"/>
            <a:tailEnd type="triangle"/>
          </a:ln>
        </p:spPr>
        <p:txBody>
          <a:bodyPr/>
          <a:lstStyle/>
          <a:p>
            <a:endParaRPr lang="en-US"/>
          </a:p>
        </p:txBody>
      </p:sp>
      <p:sp>
        <p:nvSpPr>
          <p:cNvPr id="46" name="Text 44"/>
          <p:cNvSpPr/>
          <p:nvPr/>
        </p:nvSpPr>
        <p:spPr>
          <a:xfrm>
            <a:off x="7187184" y="5285232"/>
            <a:ext cx="1554480" cy="329184"/>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INTERACTION</a:t>
            </a:r>
            <a:endParaRPr lang="en-US" sz="1100" dirty="0"/>
          </a:p>
        </p:txBody>
      </p:sp>
      <p:sp>
        <p:nvSpPr>
          <p:cNvPr id="47" name="Shape 45">
            <a:extLst>
              <a:ext uri="{C183D7F6-B498-43B3-948B-1728B52AA6E4}">
                <adec:decorative xmlns:adec="http://schemas.microsoft.com/office/drawing/2017/decorative" val="1"/>
              </a:ext>
            </a:extLst>
          </p:cNvPr>
          <p:cNvSpPr/>
          <p:nvPr/>
        </p:nvSpPr>
        <p:spPr>
          <a:xfrm>
            <a:off x="3886200" y="5897880"/>
            <a:ext cx="448056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48" name="Text 46"/>
          <p:cNvSpPr/>
          <p:nvPr/>
        </p:nvSpPr>
        <p:spPr>
          <a:xfrm>
            <a:off x="3995928" y="5897880"/>
            <a:ext cx="426110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Learning Context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2 — Interaction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should the learner do, notice, decide, practice, or produce?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83080"/>
            <a:ext cx="5120640" cy="3611880"/>
          </a:xfrm>
          <a:prstGeom prst="roundRect">
            <a:avLst>
              <a:gd name="adj" fmla="val 2025"/>
            </a:avLst>
          </a:prstGeom>
          <a:solidFill>
            <a:srgbClr val="E7ECF6"/>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31520" y="1783080"/>
            <a:ext cx="73152" cy="3611880"/>
          </a:xfrm>
          <a:prstGeom prst="rect">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987552" y="1965960"/>
            <a:ext cx="464515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DEFINE THE EXPERIENCE</a:t>
            </a:r>
            <a:endParaRPr lang="en-US" sz="1700" dirty="0"/>
          </a:p>
        </p:txBody>
      </p:sp>
      <p:sp>
        <p:nvSpPr>
          <p:cNvPr id="11" name="Text 9"/>
          <p:cNvSpPr/>
          <p:nvPr/>
        </p:nvSpPr>
        <p:spPr>
          <a:xfrm>
            <a:off x="987552" y="2441448"/>
            <a:ext cx="4645152" cy="2788920"/>
          </a:xfrm>
          <a:prstGeom prst="rect">
            <a:avLst/>
          </a:prstGeom>
          <a:noFill/>
          <a:ln/>
        </p:spPr>
        <p:txBody>
          <a:bodyPr wrap="square" lIns="0" tIns="0" rIns="0" bIns="0" rtlCol="0" anchor="t">
            <a:normAutofit/>
          </a:bodyPr>
          <a:lstStyle/>
          <a:p>
            <a:pPr marL="0" indent="0">
              <a:buNone/>
            </a:pPr>
            <a:r>
              <a:rPr lang="en-US" sz="1270" dirty="0">
                <a:solidFill>
                  <a:srgbClr val="202532"/>
                </a:solidFill>
                <a:latin typeface="Aptos" pitchFamily="34" charset="0"/>
                <a:ea typeface="Aptos" pitchFamily="34" charset="-122"/>
                <a:cs typeface="Aptos" pitchFamily="34" charset="-120"/>
              </a:rPr>
              <a:t>• Interaction species or form</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Instructional role</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Student action + learner control</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Feedback behavior</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Exploration versus guided progression</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Replay, reset, or retry behavior</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Individual versus collaborative use</a:t>
            </a:r>
            <a:endParaRPr lang="en-US" sz="1270" dirty="0"/>
          </a:p>
          <a:p>
            <a:pPr marL="0" indent="0">
              <a:buNone/>
            </a:pPr>
            <a:r>
              <a:rPr lang="en-US" sz="1270" dirty="0">
                <a:solidFill>
                  <a:srgbClr val="202532"/>
                </a:solidFill>
                <a:latin typeface="Aptos" pitchFamily="34" charset="0"/>
                <a:ea typeface="Aptos" pitchFamily="34" charset="-122"/>
                <a:cs typeface="Aptos" pitchFamily="34" charset="-120"/>
              </a:rPr>
              <a:t>• Alignment with outcome and assessment</a:t>
            </a:r>
            <a:endParaRPr lang="en-US" sz="1270" dirty="0"/>
          </a:p>
        </p:txBody>
      </p:sp>
      <p:sp>
        <p:nvSpPr>
          <p:cNvPr id="12" name="Shape 10">
            <a:extLst>
              <a:ext uri="{C183D7F6-B498-43B3-948B-1728B52AA6E4}">
                <adec:decorative xmlns:adec="http://schemas.microsoft.com/office/drawing/2017/decorative" val="1"/>
              </a:ext>
            </a:extLst>
          </p:cNvPr>
          <p:cNvSpPr/>
          <p:nvPr/>
        </p:nvSpPr>
        <p:spPr>
          <a:xfrm>
            <a:off x="6263640" y="1783080"/>
            <a:ext cx="5166360" cy="3611880"/>
          </a:xfrm>
          <a:prstGeom prst="roundRect">
            <a:avLst>
              <a:gd name="adj" fmla="val 2025"/>
            </a:avLst>
          </a:prstGeom>
          <a:solidFill>
            <a:srgbClr val="E7F4EE"/>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6263640" y="1783080"/>
            <a:ext cx="73152" cy="3611880"/>
          </a:xfrm>
          <a:prstGeom prst="rect">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6519672" y="1965960"/>
            <a:ext cx="469087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PLACE IT IN THE SEQUENCE</a:t>
            </a:r>
            <a:endParaRPr lang="en-US" sz="1700" dirty="0"/>
          </a:p>
        </p:txBody>
      </p:sp>
      <p:sp>
        <p:nvSpPr>
          <p:cNvPr id="15" name="Text 13"/>
          <p:cNvSpPr/>
          <p:nvPr/>
        </p:nvSpPr>
        <p:spPr>
          <a:xfrm>
            <a:off x="6519672" y="2441448"/>
            <a:ext cx="4690872" cy="2788920"/>
          </a:xfrm>
          <a:prstGeom prst="rect">
            <a:avLst/>
          </a:prstGeom>
          <a:noFill/>
          <a:ln/>
        </p:spPr>
        <p:txBody>
          <a:bodyPr wrap="square" lIns="0" tIns="0" rIns="0" bIns="0" rtlCol="0" anchor="t">
            <a:normAutofit/>
          </a:bodyPr>
          <a:lstStyle/>
          <a:p>
            <a:pPr marL="0" indent="0">
              <a:buNone/>
            </a:pPr>
            <a:r>
              <a:rPr lang="en-US" sz="1320" dirty="0">
                <a:solidFill>
                  <a:srgbClr val="202532"/>
                </a:solidFill>
                <a:latin typeface="Aptos" pitchFamily="34" charset="0"/>
                <a:ea typeface="Aptos" pitchFamily="34" charset="-122"/>
                <a:cs typeface="Aptos" pitchFamily="34" charset="-120"/>
              </a:rPr>
              <a:t>Simulation · Narrative · Case Study · Visual Stimulus · Decision Tree · Timeline · Interactive Diagram · Guided Conversation · Game · Reflection · Data Visualization · Practice Activity</a:t>
            </a:r>
            <a:endParaRPr lang="en-US" sz="1320" dirty="0"/>
          </a:p>
          <a:p>
            <a:pPr marL="0" indent="0">
              <a:buNone/>
            </a:pPr>
            <a:endParaRPr lang="en-US" sz="1320" dirty="0"/>
          </a:p>
          <a:p>
            <a:pPr marL="0" indent="0">
              <a:buNone/>
            </a:pPr>
            <a:r>
              <a:rPr lang="en-US" sz="1320" dirty="0">
                <a:solidFill>
                  <a:srgbClr val="202532"/>
                </a:solidFill>
                <a:latin typeface="Aptos" pitchFamily="34" charset="0"/>
                <a:ea typeface="Aptos" pitchFamily="34" charset="-122"/>
                <a:cs typeface="Aptos" pitchFamily="34" charset="-120"/>
              </a:rPr>
              <a:t>Ask: What comes before it? What comes after it? What role does it play in the larger learning experience?</a:t>
            </a:r>
            <a:endParaRPr lang="en-US" sz="1320" dirty="0"/>
          </a:p>
        </p:txBody>
      </p:sp>
      <p:sp>
        <p:nvSpPr>
          <p:cNvPr id="16" name="Shape 14">
            <a:extLst>
              <a:ext uri="{C183D7F6-B498-43B3-948B-1728B52AA6E4}">
                <adec:decorative xmlns:adec="http://schemas.microsoft.com/office/drawing/2017/decorative" val="1"/>
              </a:ext>
            </a:extLst>
          </p:cNvPr>
          <p:cNvSpPr/>
          <p:nvPr/>
        </p:nvSpPr>
        <p:spPr>
          <a:xfrm>
            <a:off x="3767328" y="5870448"/>
            <a:ext cx="4645152"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7" name="Text 15"/>
          <p:cNvSpPr/>
          <p:nvPr/>
        </p:nvSpPr>
        <p:spPr>
          <a:xfrm>
            <a:off x="3877056" y="5870448"/>
            <a:ext cx="4425696"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Interaction Design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3 — Expert Content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knowledge and source material must the artifact represent accurately?</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13232" y="1737360"/>
            <a:ext cx="6812280" cy="4069080"/>
          </a:xfrm>
          <a:prstGeom prst="roundRect">
            <a:avLst>
              <a:gd name="adj" fmla="val 1798"/>
            </a:avLst>
          </a:prstGeom>
          <a:solidFill>
            <a:srgbClr val="FFFFFF"/>
          </a:solidFill>
          <a:ln w="12700">
            <a:solidFill>
              <a:srgbClr val="D8DCE4"/>
            </a:solidFill>
            <a:prstDash val="solid"/>
          </a:ln>
        </p:spPr>
        <p:txBody>
          <a:bodyPr/>
          <a:lstStyle/>
          <a:p>
            <a:endParaRPr lang="en-US"/>
          </a:p>
        </p:txBody>
      </p:sp>
      <p:sp>
        <p:nvSpPr>
          <p:cNvPr id="9" name="Text 7"/>
          <p:cNvSpPr/>
          <p:nvPr/>
        </p:nvSpPr>
        <p:spPr>
          <a:xfrm>
            <a:off x="960120" y="1965960"/>
            <a:ext cx="6309360" cy="347472"/>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WHAT CAN BECOME EXPERT CONTENT?</a:t>
            </a:r>
            <a:endParaRPr lang="en-US" sz="1100" dirty="0"/>
          </a:p>
        </p:txBody>
      </p:sp>
      <p:sp>
        <p:nvSpPr>
          <p:cNvPr id="10" name="Shape 8">
            <a:extLst>
              <a:ext uri="{C183D7F6-B498-43B3-948B-1728B52AA6E4}">
                <adec:decorative xmlns:adec="http://schemas.microsoft.com/office/drawing/2017/decorative" val="1"/>
              </a:ext>
            </a:extLst>
          </p:cNvPr>
          <p:cNvSpPr/>
          <p:nvPr/>
        </p:nvSpPr>
        <p:spPr>
          <a:xfrm>
            <a:off x="932688" y="2606040"/>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1" name="Text 9"/>
          <p:cNvSpPr/>
          <p:nvPr/>
        </p:nvSpPr>
        <p:spPr>
          <a:xfrm>
            <a:off x="1042416"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Instructor expertise</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3063240" y="2606040"/>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3" name="Text 11"/>
          <p:cNvSpPr/>
          <p:nvPr/>
        </p:nvSpPr>
        <p:spPr>
          <a:xfrm>
            <a:off x="3172968"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Explanations + notes</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5193792" y="2606040"/>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5" name="Text 13"/>
          <p:cNvSpPr/>
          <p:nvPr/>
        </p:nvSpPr>
        <p:spPr>
          <a:xfrm>
            <a:off x="5303520" y="2606040"/>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Textbook excerpts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932688" y="3264408"/>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17" name="Text 15"/>
          <p:cNvSpPr/>
          <p:nvPr/>
        </p:nvSpPr>
        <p:spPr>
          <a:xfrm>
            <a:off x="1042416"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PDFs + research</a:t>
            </a:r>
            <a:endParaRPr lang="en-US" sz="1100" dirty="0"/>
          </a:p>
        </p:txBody>
      </p:sp>
      <p:sp>
        <p:nvSpPr>
          <p:cNvPr id="18" name="Shape 16">
            <a:extLst>
              <a:ext uri="{C183D7F6-B498-43B3-948B-1728B52AA6E4}">
                <adec:decorative xmlns:adec="http://schemas.microsoft.com/office/drawing/2017/decorative" val="1"/>
              </a:ext>
            </a:extLst>
          </p:cNvPr>
          <p:cNvSpPr/>
          <p:nvPr/>
        </p:nvSpPr>
        <p:spPr>
          <a:xfrm>
            <a:off x="3063240" y="3264408"/>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19" name="Text 17"/>
          <p:cNvSpPr/>
          <p:nvPr/>
        </p:nvSpPr>
        <p:spPr>
          <a:xfrm>
            <a:off x="3172968"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Diagrams + images</a:t>
            </a:r>
            <a:endParaRPr lang="en-US" sz="1100" dirty="0"/>
          </a:p>
        </p:txBody>
      </p:sp>
      <p:sp>
        <p:nvSpPr>
          <p:cNvPr id="20" name="Shape 18">
            <a:extLst>
              <a:ext uri="{C183D7F6-B498-43B3-948B-1728B52AA6E4}">
                <adec:decorative xmlns:adec="http://schemas.microsoft.com/office/drawing/2017/decorative" val="1"/>
              </a:ext>
            </a:extLst>
          </p:cNvPr>
          <p:cNvSpPr/>
          <p:nvPr/>
        </p:nvSpPr>
        <p:spPr>
          <a:xfrm>
            <a:off x="5193792" y="3264408"/>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1" name="Text 19"/>
          <p:cNvSpPr/>
          <p:nvPr/>
        </p:nvSpPr>
        <p:spPr>
          <a:xfrm>
            <a:off x="5303520" y="3264408"/>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Photos + data sets</a:t>
            </a:r>
            <a:endParaRPr lang="en-US" sz="1100" dirty="0"/>
          </a:p>
        </p:txBody>
      </p:sp>
      <p:sp>
        <p:nvSpPr>
          <p:cNvPr id="22" name="Shape 20">
            <a:extLst>
              <a:ext uri="{C183D7F6-B498-43B3-948B-1728B52AA6E4}">
                <adec:decorative xmlns:adec="http://schemas.microsoft.com/office/drawing/2017/decorative" val="1"/>
              </a:ext>
            </a:extLst>
          </p:cNvPr>
          <p:cNvSpPr/>
          <p:nvPr/>
        </p:nvSpPr>
        <p:spPr>
          <a:xfrm>
            <a:off x="932688" y="3922776"/>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3" name="Text 21"/>
          <p:cNvSpPr/>
          <p:nvPr/>
        </p:nvSpPr>
        <p:spPr>
          <a:xfrm>
            <a:off x="1042416"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Worked examples</a:t>
            </a:r>
            <a:endParaRPr lang="en-US" sz="1100" dirty="0"/>
          </a:p>
        </p:txBody>
      </p:sp>
      <p:sp>
        <p:nvSpPr>
          <p:cNvPr id="24" name="Shape 22">
            <a:extLst>
              <a:ext uri="{C183D7F6-B498-43B3-948B-1728B52AA6E4}">
                <adec:decorative xmlns:adec="http://schemas.microsoft.com/office/drawing/2017/decorative" val="1"/>
              </a:ext>
            </a:extLst>
          </p:cNvPr>
          <p:cNvSpPr/>
          <p:nvPr/>
        </p:nvSpPr>
        <p:spPr>
          <a:xfrm>
            <a:off x="3063240" y="3922776"/>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5" name="Text 23"/>
          <p:cNvSpPr/>
          <p:nvPr/>
        </p:nvSpPr>
        <p:spPr>
          <a:xfrm>
            <a:off x="3172968"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Case materials</a:t>
            </a:r>
            <a:endParaRPr lang="en-US" sz="1100" dirty="0"/>
          </a:p>
        </p:txBody>
      </p:sp>
      <p:sp>
        <p:nvSpPr>
          <p:cNvPr id="26" name="Shape 24">
            <a:extLst>
              <a:ext uri="{C183D7F6-B498-43B3-948B-1728B52AA6E4}">
                <adec:decorative xmlns:adec="http://schemas.microsoft.com/office/drawing/2017/decorative" val="1"/>
              </a:ext>
            </a:extLst>
          </p:cNvPr>
          <p:cNvSpPr/>
          <p:nvPr/>
        </p:nvSpPr>
        <p:spPr>
          <a:xfrm>
            <a:off x="5193792" y="3922776"/>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27" name="Text 25"/>
          <p:cNvSpPr/>
          <p:nvPr/>
        </p:nvSpPr>
        <p:spPr>
          <a:xfrm>
            <a:off x="5303520" y="3922776"/>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Rubrics + assignments</a:t>
            </a:r>
            <a:endParaRPr lang="en-US" sz="1100" dirty="0"/>
          </a:p>
        </p:txBody>
      </p:sp>
      <p:sp>
        <p:nvSpPr>
          <p:cNvPr id="28" name="Shape 26">
            <a:extLst>
              <a:ext uri="{C183D7F6-B498-43B3-948B-1728B52AA6E4}">
                <adec:decorative xmlns:adec="http://schemas.microsoft.com/office/drawing/2017/decorative" val="1"/>
              </a:ext>
            </a:extLst>
          </p:cNvPr>
          <p:cNvSpPr/>
          <p:nvPr/>
        </p:nvSpPr>
        <p:spPr>
          <a:xfrm>
            <a:off x="932688" y="4581144"/>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29" name="Text 27"/>
          <p:cNvSpPr/>
          <p:nvPr/>
        </p:nvSpPr>
        <p:spPr>
          <a:xfrm>
            <a:off x="1042416"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Visual references</a:t>
            </a:r>
            <a:endParaRPr lang="en-US" sz="1100" dirty="0"/>
          </a:p>
        </p:txBody>
      </p:sp>
      <p:sp>
        <p:nvSpPr>
          <p:cNvPr id="30" name="Shape 28">
            <a:extLst>
              <a:ext uri="{C183D7F6-B498-43B3-948B-1728B52AA6E4}">
                <adec:decorative xmlns:adec="http://schemas.microsoft.com/office/drawing/2017/decorative" val="1"/>
              </a:ext>
            </a:extLst>
          </p:cNvPr>
          <p:cNvSpPr/>
          <p:nvPr/>
        </p:nvSpPr>
        <p:spPr>
          <a:xfrm>
            <a:off x="3063240" y="4581144"/>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1" name="Text 29"/>
          <p:cNvSpPr/>
          <p:nvPr/>
        </p:nvSpPr>
        <p:spPr>
          <a:xfrm>
            <a:off x="3172968"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Vocabulary + conventions</a:t>
            </a:r>
            <a:endParaRPr lang="en-US" sz="1100" dirty="0"/>
          </a:p>
        </p:txBody>
      </p:sp>
      <p:sp>
        <p:nvSpPr>
          <p:cNvPr id="32" name="Shape 30">
            <a:extLst>
              <a:ext uri="{C183D7F6-B498-43B3-948B-1728B52AA6E4}">
                <adec:decorative xmlns:adec="http://schemas.microsoft.com/office/drawing/2017/decorative" val="1"/>
              </a:ext>
            </a:extLst>
          </p:cNvPr>
          <p:cNvSpPr/>
          <p:nvPr/>
        </p:nvSpPr>
        <p:spPr>
          <a:xfrm>
            <a:off x="5193792" y="4581144"/>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3" name="Text 31"/>
          <p:cNvSpPr/>
          <p:nvPr/>
        </p:nvSpPr>
        <p:spPr>
          <a:xfrm>
            <a:off x="5303520" y="4581144"/>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Misconceptions + errors</a:t>
            </a:r>
            <a:endParaRPr lang="en-US" sz="1100" dirty="0"/>
          </a:p>
        </p:txBody>
      </p:sp>
      <p:sp>
        <p:nvSpPr>
          <p:cNvPr id="34" name="Shape 32">
            <a:extLst>
              <a:ext uri="{C183D7F6-B498-43B3-948B-1728B52AA6E4}">
                <adec:decorative xmlns:adec="http://schemas.microsoft.com/office/drawing/2017/decorative" val="1"/>
              </a:ext>
            </a:extLst>
          </p:cNvPr>
          <p:cNvSpPr/>
          <p:nvPr/>
        </p:nvSpPr>
        <p:spPr>
          <a:xfrm>
            <a:off x="932688" y="5239512"/>
            <a:ext cx="1920240" cy="384048"/>
          </a:xfrm>
          <a:prstGeom prst="roundRect">
            <a:avLst>
              <a:gd name="adj" fmla="val 28571"/>
            </a:avLst>
          </a:prstGeom>
          <a:solidFill>
            <a:srgbClr val="E7ECF6"/>
          </a:solidFill>
          <a:ln w="12700">
            <a:solidFill>
              <a:srgbClr val="E7ECF6"/>
            </a:solidFill>
            <a:prstDash val="solid"/>
          </a:ln>
        </p:spPr>
        <p:txBody>
          <a:bodyPr/>
          <a:lstStyle/>
          <a:p>
            <a:endParaRPr lang="en-US"/>
          </a:p>
        </p:txBody>
      </p:sp>
      <p:sp>
        <p:nvSpPr>
          <p:cNvPr id="35" name="Text 33"/>
          <p:cNvSpPr/>
          <p:nvPr/>
        </p:nvSpPr>
        <p:spPr>
          <a:xfrm>
            <a:off x="1042416"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Professional practice</a:t>
            </a:r>
            <a:endParaRPr lang="en-US" sz="1100" dirty="0"/>
          </a:p>
        </p:txBody>
      </p:sp>
      <p:sp>
        <p:nvSpPr>
          <p:cNvPr id="36" name="Shape 34">
            <a:extLst>
              <a:ext uri="{C183D7F6-B498-43B3-948B-1728B52AA6E4}">
                <adec:decorative xmlns:adec="http://schemas.microsoft.com/office/drawing/2017/decorative" val="1"/>
              </a:ext>
            </a:extLst>
          </p:cNvPr>
          <p:cNvSpPr/>
          <p:nvPr/>
        </p:nvSpPr>
        <p:spPr>
          <a:xfrm>
            <a:off x="3063240" y="5239512"/>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7" name="Text 35"/>
          <p:cNvSpPr/>
          <p:nvPr/>
        </p:nvSpPr>
        <p:spPr>
          <a:xfrm>
            <a:off x="3172968"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Corrections + judgment</a:t>
            </a:r>
            <a:endParaRPr lang="en-US" sz="1100" dirty="0"/>
          </a:p>
        </p:txBody>
      </p:sp>
      <p:sp>
        <p:nvSpPr>
          <p:cNvPr id="38" name="Shape 36">
            <a:extLst>
              <a:ext uri="{C183D7F6-B498-43B3-948B-1728B52AA6E4}">
                <adec:decorative xmlns:adec="http://schemas.microsoft.com/office/drawing/2017/decorative" val="1"/>
              </a:ext>
            </a:extLst>
          </p:cNvPr>
          <p:cNvSpPr/>
          <p:nvPr/>
        </p:nvSpPr>
        <p:spPr>
          <a:xfrm>
            <a:off x="5193792" y="5239512"/>
            <a:ext cx="1920240" cy="384048"/>
          </a:xfrm>
          <a:prstGeom prst="roundRect">
            <a:avLst>
              <a:gd name="adj" fmla="val 28571"/>
            </a:avLst>
          </a:prstGeom>
          <a:solidFill>
            <a:srgbClr val="F5F6F8"/>
          </a:solidFill>
          <a:ln w="12700">
            <a:solidFill>
              <a:srgbClr val="F5F6F8"/>
            </a:solidFill>
            <a:prstDash val="solid"/>
          </a:ln>
        </p:spPr>
        <p:txBody>
          <a:bodyPr/>
          <a:lstStyle/>
          <a:p>
            <a:endParaRPr lang="en-US"/>
          </a:p>
        </p:txBody>
      </p:sp>
      <p:sp>
        <p:nvSpPr>
          <p:cNvPr id="39" name="Text 37"/>
          <p:cNvSpPr/>
          <p:nvPr/>
        </p:nvSpPr>
        <p:spPr>
          <a:xfrm>
            <a:off x="5303520" y="5239512"/>
            <a:ext cx="170078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Preferences + emphasis</a:t>
            </a:r>
            <a:endParaRPr lang="en-US" sz="1100" dirty="0"/>
          </a:p>
        </p:txBody>
      </p:sp>
      <p:sp>
        <p:nvSpPr>
          <p:cNvPr id="40" name="Shape 38">
            <a:extLst>
              <a:ext uri="{C183D7F6-B498-43B3-948B-1728B52AA6E4}">
                <adec:decorative xmlns:adec="http://schemas.microsoft.com/office/drawing/2017/decorative" val="1"/>
              </a:ext>
            </a:extLst>
          </p:cNvPr>
          <p:cNvSpPr/>
          <p:nvPr/>
        </p:nvSpPr>
        <p:spPr>
          <a:xfrm>
            <a:off x="7845552" y="1737360"/>
            <a:ext cx="3611880" cy="1755648"/>
          </a:xfrm>
          <a:prstGeom prst="roundRect">
            <a:avLst>
              <a:gd name="adj" fmla="val 4167"/>
            </a:avLst>
          </a:prstGeom>
          <a:solidFill>
            <a:srgbClr val="F4EEDD"/>
          </a:solidFill>
          <a:ln w="12700">
            <a:solidFill>
              <a:srgbClr val="D8DCE4"/>
            </a:solidFill>
            <a:prstDash val="solid"/>
          </a:ln>
        </p:spPr>
        <p:txBody>
          <a:bodyPr/>
          <a:lstStyle/>
          <a:p>
            <a:endParaRPr lang="en-US"/>
          </a:p>
        </p:txBody>
      </p:sp>
      <p:sp>
        <p:nvSpPr>
          <p:cNvPr id="41" name="Shape 39">
            <a:extLst>
              <a:ext uri="{C183D7F6-B498-43B3-948B-1728B52AA6E4}">
                <adec:decorative xmlns:adec="http://schemas.microsoft.com/office/drawing/2017/decorative" val="1"/>
              </a:ext>
            </a:extLst>
          </p:cNvPr>
          <p:cNvSpPr/>
          <p:nvPr/>
        </p:nvSpPr>
        <p:spPr>
          <a:xfrm>
            <a:off x="7845552" y="1737360"/>
            <a:ext cx="73152" cy="1755648"/>
          </a:xfrm>
          <a:prstGeom prst="rect">
            <a:avLst/>
          </a:prstGeom>
          <a:solidFill>
            <a:srgbClr val="D5B979"/>
          </a:solidFill>
          <a:ln w="12700">
            <a:solidFill>
              <a:srgbClr val="D5B979"/>
            </a:solidFill>
            <a:prstDash val="solid"/>
          </a:ln>
        </p:spPr>
        <p:txBody>
          <a:bodyPr/>
          <a:lstStyle/>
          <a:p>
            <a:endParaRPr lang="en-US"/>
          </a:p>
        </p:txBody>
      </p:sp>
      <p:sp>
        <p:nvSpPr>
          <p:cNvPr id="42" name="Text 40"/>
          <p:cNvSpPr/>
          <p:nvPr/>
        </p:nvSpPr>
        <p:spPr>
          <a:xfrm>
            <a:off x="8101584" y="1920240"/>
            <a:ext cx="313639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FILES ARE ONLY PART</a:t>
            </a:r>
            <a:endParaRPr lang="en-US" sz="1700" dirty="0"/>
          </a:p>
        </p:txBody>
      </p:sp>
      <p:sp>
        <p:nvSpPr>
          <p:cNvPr id="43" name="Text 41"/>
          <p:cNvSpPr/>
          <p:nvPr/>
        </p:nvSpPr>
        <p:spPr>
          <a:xfrm>
            <a:off x="8101584" y="2395728"/>
            <a:ext cx="3136392" cy="932688"/>
          </a:xfrm>
          <a:prstGeom prst="rect">
            <a:avLst/>
          </a:prstGeom>
          <a:noFill/>
          <a:ln/>
        </p:spPr>
        <p:txBody>
          <a:bodyPr wrap="square" lIns="0" tIns="0" rIns="0" bIns="0" rtlCol="0" anchor="t">
            <a:normAutofit/>
          </a:bodyPr>
          <a:lstStyle/>
          <a:p>
            <a:pPr marL="0" indent="0">
              <a:buNone/>
            </a:pPr>
            <a:r>
              <a:rPr lang="en-US" sz="1240" dirty="0">
                <a:solidFill>
                  <a:srgbClr val="202532"/>
                </a:solidFill>
                <a:latin typeface="Aptos" pitchFamily="34" charset="0"/>
                <a:ea typeface="Aptos" pitchFamily="34" charset="-122"/>
                <a:cs typeface="Aptos" pitchFamily="34" charset="-120"/>
              </a:rPr>
              <a:t>Expert content also includes tacit knowledge: judgment, preferred explanations, corrections, authentic practice, and interpretive emphasis.</a:t>
            </a:r>
            <a:endParaRPr lang="en-US" sz="1240" dirty="0"/>
          </a:p>
        </p:txBody>
      </p:sp>
      <p:sp>
        <p:nvSpPr>
          <p:cNvPr id="44" name="Shape 42">
            <a:extLst>
              <a:ext uri="{C183D7F6-B498-43B3-948B-1728B52AA6E4}">
                <adec:decorative xmlns:adec="http://schemas.microsoft.com/office/drawing/2017/decorative" val="1"/>
              </a:ext>
            </a:extLst>
          </p:cNvPr>
          <p:cNvSpPr/>
          <p:nvPr/>
        </p:nvSpPr>
        <p:spPr>
          <a:xfrm>
            <a:off x="7845552" y="3675888"/>
            <a:ext cx="3611880" cy="2130552"/>
          </a:xfrm>
          <a:prstGeom prst="roundRect">
            <a:avLst>
              <a:gd name="adj" fmla="val 3433"/>
            </a:avLst>
          </a:prstGeom>
          <a:solidFill>
            <a:srgbClr val="E7F4EE"/>
          </a:solidFill>
          <a:ln w="12700">
            <a:solidFill>
              <a:srgbClr val="D8DCE4"/>
            </a:solidFill>
            <a:prstDash val="solid"/>
          </a:ln>
        </p:spPr>
        <p:txBody>
          <a:bodyPr/>
          <a:lstStyle/>
          <a:p>
            <a:endParaRPr lang="en-US"/>
          </a:p>
        </p:txBody>
      </p:sp>
      <p:sp>
        <p:nvSpPr>
          <p:cNvPr id="45" name="Shape 43">
            <a:extLst>
              <a:ext uri="{C183D7F6-B498-43B3-948B-1728B52AA6E4}">
                <adec:decorative xmlns:adec="http://schemas.microsoft.com/office/drawing/2017/decorative" val="1"/>
              </a:ext>
            </a:extLst>
          </p:cNvPr>
          <p:cNvSpPr/>
          <p:nvPr/>
        </p:nvSpPr>
        <p:spPr>
          <a:xfrm>
            <a:off x="7845552" y="3675888"/>
            <a:ext cx="73152" cy="2130552"/>
          </a:xfrm>
          <a:prstGeom prst="rect">
            <a:avLst/>
          </a:prstGeom>
          <a:solidFill>
            <a:srgbClr val="149966"/>
          </a:solidFill>
          <a:ln w="12700">
            <a:solidFill>
              <a:srgbClr val="149966"/>
            </a:solidFill>
            <a:prstDash val="solid"/>
          </a:ln>
        </p:spPr>
        <p:txBody>
          <a:bodyPr/>
          <a:lstStyle/>
          <a:p>
            <a:endParaRPr lang="en-US"/>
          </a:p>
        </p:txBody>
      </p:sp>
      <p:sp>
        <p:nvSpPr>
          <p:cNvPr id="46" name="Text 44"/>
          <p:cNvSpPr/>
          <p:nvPr/>
        </p:nvSpPr>
        <p:spPr>
          <a:xfrm>
            <a:off x="8101584" y="3858768"/>
            <a:ext cx="3136392" cy="365760"/>
          </a:xfrm>
          <a:prstGeom prst="rect">
            <a:avLst/>
          </a:prstGeom>
          <a:noFill/>
          <a:ln/>
        </p:spPr>
        <p:txBody>
          <a:bodyPr wrap="square" lIns="0" tIns="0" rIns="0" bIns="0" rtlCol="0" anchor="ctr">
            <a:normAutofit/>
          </a:bodyPr>
          <a:lstStyle/>
          <a:p>
            <a:pPr marL="0" indent="0">
              <a:buNone/>
            </a:pPr>
            <a:r>
              <a:rPr lang="en-US" sz="1700" b="1" dirty="0">
                <a:solidFill>
                  <a:srgbClr val="17254E"/>
                </a:solidFill>
                <a:latin typeface="Georgia" pitchFamily="34" charset="0"/>
                <a:ea typeface="Georgia" pitchFamily="34" charset="-122"/>
                <a:cs typeface="Georgia" pitchFamily="34" charset="-120"/>
              </a:rPr>
              <a:t>PRODUCTION IMPACT</a:t>
            </a:r>
            <a:endParaRPr lang="en-US" sz="1700" dirty="0"/>
          </a:p>
        </p:txBody>
      </p:sp>
      <p:sp>
        <p:nvSpPr>
          <p:cNvPr id="47" name="Text 45"/>
          <p:cNvSpPr/>
          <p:nvPr/>
        </p:nvSpPr>
        <p:spPr>
          <a:xfrm>
            <a:off x="8101584" y="4334256"/>
            <a:ext cx="3136392" cy="1307592"/>
          </a:xfrm>
          <a:prstGeom prst="rect">
            <a:avLst/>
          </a:prstGeom>
          <a:noFill/>
          <a:ln/>
        </p:spPr>
        <p:txBody>
          <a:bodyPr wrap="square" lIns="0" tIns="0" rIns="0" bIns="0" rtlCol="0" anchor="t">
            <a:normAutofit/>
          </a:bodyPr>
          <a:lstStyle/>
          <a:p>
            <a:pPr marL="0" indent="0">
              <a:buNone/>
            </a:pPr>
            <a:r>
              <a:rPr lang="en-US" sz="1270" dirty="0">
                <a:solidFill>
                  <a:srgbClr val="202532"/>
                </a:solidFill>
                <a:latin typeface="Aptos" pitchFamily="34" charset="0"/>
                <a:ea typeface="Aptos" pitchFamily="34" charset="-122"/>
                <a:cs typeface="Aptos" pitchFamily="34" charset="-120"/>
              </a:rPr>
              <a:t>Low-asset starts leave more gaps for AI to fill. Verified examples, visuals, data, terminology, and misconceptions create tighter boundaries.</a:t>
            </a:r>
            <a:endParaRPr lang="en-US" sz="1270" dirty="0"/>
          </a:p>
        </p:txBody>
      </p:sp>
      <p:sp>
        <p:nvSpPr>
          <p:cNvPr id="48" name="Shape 46">
            <a:extLst>
              <a:ext uri="{C183D7F6-B498-43B3-948B-1728B52AA6E4}">
                <adec:decorative xmlns:adec="http://schemas.microsoft.com/office/drawing/2017/decorative" val="1"/>
              </a:ext>
            </a:extLst>
          </p:cNvPr>
          <p:cNvSpPr/>
          <p:nvPr/>
        </p:nvSpPr>
        <p:spPr>
          <a:xfrm>
            <a:off x="3913632" y="5961888"/>
            <a:ext cx="4370832"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49" name="Text 47"/>
          <p:cNvSpPr/>
          <p:nvPr/>
        </p:nvSpPr>
        <p:spPr>
          <a:xfrm>
            <a:off x="4023360" y="5961888"/>
            <a:ext cx="4151376"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Expert Content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Bucket 4 — Artifact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4F6FAE"/>
          </a:solidFill>
          <a:ln w="12700">
            <a:solidFill>
              <a:srgbClr val="4F6FAE"/>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must the finished artifact look like, do, support, and comply with?</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783080"/>
            <a:ext cx="3429000" cy="621792"/>
          </a:xfrm>
          <a:prstGeom prst="roundRect">
            <a:avLst>
              <a:gd name="adj" fmla="val 11765"/>
            </a:avLst>
          </a:prstGeom>
          <a:solidFill>
            <a:srgbClr val="4F6FAE"/>
          </a:solidFill>
          <a:ln w="12700">
            <a:solidFill>
              <a:srgbClr val="4F6FAE"/>
            </a:solidFill>
            <a:prstDash val="solid"/>
          </a:ln>
        </p:spPr>
        <p:txBody>
          <a:bodyPr/>
          <a:lstStyle/>
          <a:p>
            <a:endParaRPr lang="en-US"/>
          </a:p>
        </p:txBody>
      </p:sp>
      <p:sp>
        <p:nvSpPr>
          <p:cNvPr id="10" name="Text 8"/>
          <p:cNvSpPr/>
          <p:nvPr/>
        </p:nvSpPr>
        <p:spPr>
          <a:xfrm>
            <a:off x="804672"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DELIVERABLE + BEHAVIOR</a:t>
            </a:r>
            <a:endParaRPr lang="en-US" sz="950" dirty="0"/>
          </a:p>
        </p:txBody>
      </p:sp>
      <p:sp>
        <p:nvSpPr>
          <p:cNvPr id="11" name="Shape 9">
            <a:extLst>
              <a:ext uri="{C183D7F6-B498-43B3-948B-1728B52AA6E4}">
                <adec:decorative xmlns:adec="http://schemas.microsoft.com/office/drawing/2017/decorative" val="1"/>
              </a:ext>
            </a:extLst>
          </p:cNvPr>
          <p:cNvSpPr/>
          <p:nvPr/>
        </p:nvSpPr>
        <p:spPr>
          <a:xfrm>
            <a:off x="914400" y="2724912"/>
            <a:ext cx="256032" cy="256032"/>
          </a:xfrm>
          <a:prstGeom prst="ellipse">
            <a:avLst/>
          </a:prstGeom>
          <a:solidFill>
            <a:srgbClr val="4F6FAE"/>
          </a:solidFill>
          <a:ln w="12700">
            <a:solidFill>
              <a:srgbClr val="4F6FAE"/>
            </a:solidFill>
            <a:prstDash val="solid"/>
          </a:ln>
        </p:spPr>
        <p:txBody>
          <a:bodyPr/>
          <a:lstStyle/>
          <a:p>
            <a:endParaRPr lang="en-US"/>
          </a:p>
        </p:txBody>
      </p:sp>
      <p:sp>
        <p:nvSpPr>
          <p:cNvPr id="12" name="Text 10"/>
          <p:cNvSpPr/>
          <p:nvPr/>
        </p:nvSpPr>
        <p:spPr>
          <a:xfrm>
            <a:off x="914400"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3" name="Text 11"/>
          <p:cNvSpPr/>
          <p:nvPr/>
        </p:nvSpPr>
        <p:spPr>
          <a:xfrm>
            <a:off x="1316736"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Type + technical format</a:t>
            </a:r>
            <a:endParaRPr lang="en-US" sz="1250" dirty="0"/>
          </a:p>
        </p:txBody>
      </p:sp>
      <p:sp>
        <p:nvSpPr>
          <p:cNvPr id="14" name="Shape 12">
            <a:extLst>
              <a:ext uri="{C183D7F6-B498-43B3-948B-1728B52AA6E4}">
                <adec:decorative xmlns:adec="http://schemas.microsoft.com/office/drawing/2017/decorative" val="1"/>
              </a:ext>
            </a:extLst>
          </p:cNvPr>
          <p:cNvSpPr/>
          <p:nvPr/>
        </p:nvSpPr>
        <p:spPr>
          <a:xfrm>
            <a:off x="914400" y="3273552"/>
            <a:ext cx="256032" cy="256032"/>
          </a:xfrm>
          <a:prstGeom prst="ellipse">
            <a:avLst/>
          </a:prstGeom>
          <a:solidFill>
            <a:srgbClr val="4F6FAE"/>
          </a:solidFill>
          <a:ln w="12700">
            <a:solidFill>
              <a:srgbClr val="4F6FAE"/>
            </a:solidFill>
            <a:prstDash val="solid"/>
          </a:ln>
        </p:spPr>
        <p:txBody>
          <a:bodyPr/>
          <a:lstStyle/>
          <a:p>
            <a:endParaRPr lang="en-US"/>
          </a:p>
        </p:txBody>
      </p:sp>
      <p:sp>
        <p:nvSpPr>
          <p:cNvPr id="15" name="Text 13"/>
          <p:cNvSpPr/>
          <p:nvPr/>
        </p:nvSpPr>
        <p:spPr>
          <a:xfrm>
            <a:off x="914400"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6" name="Text 14"/>
          <p:cNvSpPr/>
          <p:nvPr/>
        </p:nvSpPr>
        <p:spPr>
          <a:xfrm>
            <a:off x="1316736"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Tone + visual style</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914400" y="3822192"/>
            <a:ext cx="256032" cy="256032"/>
          </a:xfrm>
          <a:prstGeom prst="ellipse">
            <a:avLst/>
          </a:prstGeom>
          <a:solidFill>
            <a:srgbClr val="4F6FAE"/>
          </a:solidFill>
          <a:ln w="12700">
            <a:solidFill>
              <a:srgbClr val="4F6FAE"/>
            </a:solidFill>
            <a:prstDash val="solid"/>
          </a:ln>
        </p:spPr>
        <p:txBody>
          <a:bodyPr/>
          <a:lstStyle/>
          <a:p>
            <a:endParaRPr lang="en-US"/>
          </a:p>
        </p:txBody>
      </p:sp>
      <p:sp>
        <p:nvSpPr>
          <p:cNvPr id="18" name="Text 16"/>
          <p:cNvSpPr/>
          <p:nvPr/>
        </p:nvSpPr>
        <p:spPr>
          <a:xfrm>
            <a:off x="914400"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19" name="Text 17"/>
          <p:cNvSpPr/>
          <p:nvPr/>
        </p:nvSpPr>
        <p:spPr>
          <a:xfrm>
            <a:off x="1316736"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Navigation + feedback</a:t>
            </a:r>
            <a:endParaRPr lang="en-US" sz="1250" dirty="0"/>
          </a:p>
        </p:txBody>
      </p:sp>
      <p:sp>
        <p:nvSpPr>
          <p:cNvPr id="20" name="Shape 18">
            <a:extLst>
              <a:ext uri="{C183D7F6-B498-43B3-948B-1728B52AA6E4}">
                <adec:decorative xmlns:adec="http://schemas.microsoft.com/office/drawing/2017/decorative" val="1"/>
              </a:ext>
            </a:extLst>
          </p:cNvPr>
          <p:cNvSpPr/>
          <p:nvPr/>
        </p:nvSpPr>
        <p:spPr>
          <a:xfrm>
            <a:off x="914400" y="4370832"/>
            <a:ext cx="256032" cy="256032"/>
          </a:xfrm>
          <a:prstGeom prst="ellipse">
            <a:avLst/>
          </a:prstGeom>
          <a:solidFill>
            <a:srgbClr val="4F6FAE"/>
          </a:solidFill>
          <a:ln w="12700">
            <a:solidFill>
              <a:srgbClr val="4F6FAE"/>
            </a:solidFill>
            <a:prstDash val="solid"/>
          </a:ln>
        </p:spPr>
        <p:txBody>
          <a:bodyPr/>
          <a:lstStyle/>
          <a:p>
            <a:endParaRPr lang="en-US"/>
          </a:p>
        </p:txBody>
      </p:sp>
      <p:sp>
        <p:nvSpPr>
          <p:cNvPr id="21" name="Text 19"/>
          <p:cNvSpPr/>
          <p:nvPr/>
        </p:nvSpPr>
        <p:spPr>
          <a:xfrm>
            <a:off x="914400"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22" name="Text 20"/>
          <p:cNvSpPr/>
          <p:nvPr/>
        </p:nvSpPr>
        <p:spPr>
          <a:xfrm>
            <a:off x="1316736"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Completion criteria</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914400" y="4919472"/>
            <a:ext cx="256032" cy="256032"/>
          </a:xfrm>
          <a:prstGeom prst="ellipse">
            <a:avLst/>
          </a:prstGeom>
          <a:solidFill>
            <a:srgbClr val="4F6FAE"/>
          </a:solidFill>
          <a:ln w="12700">
            <a:solidFill>
              <a:srgbClr val="4F6FAE"/>
            </a:solidFill>
            <a:prstDash val="solid"/>
          </a:ln>
        </p:spPr>
        <p:txBody>
          <a:bodyPr/>
          <a:lstStyle/>
          <a:p>
            <a:endParaRPr lang="en-US"/>
          </a:p>
        </p:txBody>
      </p:sp>
      <p:sp>
        <p:nvSpPr>
          <p:cNvPr id="24" name="Text 22"/>
          <p:cNvSpPr/>
          <p:nvPr/>
        </p:nvSpPr>
        <p:spPr>
          <a:xfrm>
            <a:off x="914400"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25" name="Text 23"/>
          <p:cNvSpPr/>
          <p:nvPr/>
        </p:nvSpPr>
        <p:spPr>
          <a:xfrm>
            <a:off x="1316736"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Reset / replay behavior</a:t>
            </a:r>
            <a:endParaRPr lang="en-US" sz="1250" dirty="0"/>
          </a:p>
        </p:txBody>
      </p:sp>
      <p:sp>
        <p:nvSpPr>
          <p:cNvPr id="26" name="Shape 24">
            <a:extLst>
              <a:ext uri="{C183D7F6-B498-43B3-948B-1728B52AA6E4}">
                <adec:decorative xmlns:adec="http://schemas.microsoft.com/office/drawing/2017/decorative" val="1"/>
              </a:ext>
            </a:extLst>
          </p:cNvPr>
          <p:cNvSpPr/>
          <p:nvPr/>
        </p:nvSpPr>
        <p:spPr>
          <a:xfrm>
            <a:off x="4434840"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27" name="Shape 25">
            <a:extLst>
              <a:ext uri="{C183D7F6-B498-43B3-948B-1728B52AA6E4}">
                <adec:decorative xmlns:adec="http://schemas.microsoft.com/office/drawing/2017/decorative" val="1"/>
              </a:ext>
            </a:extLst>
          </p:cNvPr>
          <p:cNvSpPr/>
          <p:nvPr/>
        </p:nvSpPr>
        <p:spPr>
          <a:xfrm>
            <a:off x="4434840" y="1783080"/>
            <a:ext cx="3429000" cy="621792"/>
          </a:xfrm>
          <a:prstGeom prst="roundRect">
            <a:avLst>
              <a:gd name="adj" fmla="val 11765"/>
            </a:avLst>
          </a:prstGeom>
          <a:solidFill>
            <a:srgbClr val="D5B979"/>
          </a:solidFill>
          <a:ln w="12700">
            <a:solidFill>
              <a:srgbClr val="D5B979"/>
            </a:solidFill>
            <a:prstDash val="solid"/>
          </a:ln>
        </p:spPr>
        <p:txBody>
          <a:bodyPr/>
          <a:lstStyle/>
          <a:p>
            <a:endParaRPr lang="en-US"/>
          </a:p>
        </p:txBody>
      </p:sp>
      <p:sp>
        <p:nvSpPr>
          <p:cNvPr id="28" name="Text 26"/>
          <p:cNvSpPr/>
          <p:nvPr/>
        </p:nvSpPr>
        <p:spPr>
          <a:xfrm>
            <a:off x="4581144"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ACCESS + AESTHETICS</a:t>
            </a:r>
            <a:endParaRPr lang="en-US" sz="950" dirty="0"/>
          </a:p>
        </p:txBody>
      </p:sp>
      <p:sp>
        <p:nvSpPr>
          <p:cNvPr id="29" name="Shape 27">
            <a:extLst>
              <a:ext uri="{C183D7F6-B498-43B3-948B-1728B52AA6E4}">
                <adec:decorative xmlns:adec="http://schemas.microsoft.com/office/drawing/2017/decorative" val="1"/>
              </a:ext>
            </a:extLst>
          </p:cNvPr>
          <p:cNvSpPr/>
          <p:nvPr/>
        </p:nvSpPr>
        <p:spPr>
          <a:xfrm>
            <a:off x="4690872" y="2724912"/>
            <a:ext cx="256032" cy="256032"/>
          </a:xfrm>
          <a:prstGeom prst="ellipse">
            <a:avLst/>
          </a:prstGeom>
          <a:solidFill>
            <a:srgbClr val="D5B979"/>
          </a:solidFill>
          <a:ln w="12700">
            <a:solidFill>
              <a:srgbClr val="D5B979"/>
            </a:solidFill>
            <a:prstDash val="solid"/>
          </a:ln>
        </p:spPr>
        <p:txBody>
          <a:bodyPr/>
          <a:lstStyle/>
          <a:p>
            <a:endParaRPr lang="en-US"/>
          </a:p>
        </p:txBody>
      </p:sp>
      <p:sp>
        <p:nvSpPr>
          <p:cNvPr id="30" name="Text 28"/>
          <p:cNvSpPr/>
          <p:nvPr/>
        </p:nvSpPr>
        <p:spPr>
          <a:xfrm>
            <a:off x="4690872"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1" name="Text 29"/>
          <p:cNvSpPr/>
          <p:nvPr/>
        </p:nvSpPr>
        <p:spPr>
          <a:xfrm>
            <a:off x="5093208"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Keyboard + equivalent text</a:t>
            </a:r>
            <a:endParaRPr lang="en-US" sz="1250" dirty="0"/>
          </a:p>
        </p:txBody>
      </p:sp>
      <p:sp>
        <p:nvSpPr>
          <p:cNvPr id="32" name="Shape 30">
            <a:extLst>
              <a:ext uri="{C183D7F6-B498-43B3-948B-1728B52AA6E4}">
                <adec:decorative xmlns:adec="http://schemas.microsoft.com/office/drawing/2017/decorative" val="1"/>
              </a:ext>
            </a:extLst>
          </p:cNvPr>
          <p:cNvSpPr/>
          <p:nvPr/>
        </p:nvSpPr>
        <p:spPr>
          <a:xfrm>
            <a:off x="4690872" y="3273552"/>
            <a:ext cx="256032" cy="256032"/>
          </a:xfrm>
          <a:prstGeom prst="ellipse">
            <a:avLst/>
          </a:prstGeom>
          <a:solidFill>
            <a:srgbClr val="D5B979"/>
          </a:solidFill>
          <a:ln w="12700">
            <a:solidFill>
              <a:srgbClr val="D5B979"/>
            </a:solidFill>
            <a:prstDash val="solid"/>
          </a:ln>
        </p:spPr>
        <p:txBody>
          <a:bodyPr/>
          <a:lstStyle/>
          <a:p>
            <a:endParaRPr lang="en-US"/>
          </a:p>
        </p:txBody>
      </p:sp>
      <p:sp>
        <p:nvSpPr>
          <p:cNvPr id="33" name="Text 31"/>
          <p:cNvSpPr/>
          <p:nvPr/>
        </p:nvSpPr>
        <p:spPr>
          <a:xfrm>
            <a:off x="4690872"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4" name="Text 32"/>
          <p:cNvSpPr/>
          <p:nvPr/>
        </p:nvSpPr>
        <p:spPr>
          <a:xfrm>
            <a:off x="5093208"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Contrast + motion</a:t>
            </a:r>
            <a:endParaRPr lang="en-US" sz="1250" dirty="0"/>
          </a:p>
        </p:txBody>
      </p:sp>
      <p:sp>
        <p:nvSpPr>
          <p:cNvPr id="35" name="Shape 33">
            <a:extLst>
              <a:ext uri="{C183D7F6-B498-43B3-948B-1728B52AA6E4}">
                <adec:decorative xmlns:adec="http://schemas.microsoft.com/office/drawing/2017/decorative" val="1"/>
              </a:ext>
            </a:extLst>
          </p:cNvPr>
          <p:cNvSpPr/>
          <p:nvPr/>
        </p:nvSpPr>
        <p:spPr>
          <a:xfrm>
            <a:off x="4690872" y="3822192"/>
            <a:ext cx="256032" cy="256032"/>
          </a:xfrm>
          <a:prstGeom prst="ellipse">
            <a:avLst/>
          </a:prstGeom>
          <a:solidFill>
            <a:srgbClr val="D5B979"/>
          </a:solidFill>
          <a:ln w="12700">
            <a:solidFill>
              <a:srgbClr val="D5B979"/>
            </a:solidFill>
            <a:prstDash val="solid"/>
          </a:ln>
        </p:spPr>
        <p:txBody>
          <a:bodyPr/>
          <a:lstStyle/>
          <a:p>
            <a:endParaRPr lang="en-US"/>
          </a:p>
        </p:txBody>
      </p:sp>
      <p:sp>
        <p:nvSpPr>
          <p:cNvPr id="36" name="Text 34"/>
          <p:cNvSpPr/>
          <p:nvPr/>
        </p:nvSpPr>
        <p:spPr>
          <a:xfrm>
            <a:off x="4690872"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37" name="Text 35"/>
          <p:cNvSpPr/>
          <p:nvPr/>
        </p:nvSpPr>
        <p:spPr>
          <a:xfrm>
            <a:off x="5093208"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Mobile responsiveness</a:t>
            </a:r>
            <a:endParaRPr lang="en-US" sz="1250" dirty="0"/>
          </a:p>
        </p:txBody>
      </p:sp>
      <p:sp>
        <p:nvSpPr>
          <p:cNvPr id="38" name="Shape 36">
            <a:extLst>
              <a:ext uri="{C183D7F6-B498-43B3-948B-1728B52AA6E4}">
                <adec:decorative xmlns:adec="http://schemas.microsoft.com/office/drawing/2017/decorative" val="1"/>
              </a:ext>
            </a:extLst>
          </p:cNvPr>
          <p:cNvSpPr/>
          <p:nvPr/>
        </p:nvSpPr>
        <p:spPr>
          <a:xfrm>
            <a:off x="4690872" y="4370832"/>
            <a:ext cx="256032" cy="256032"/>
          </a:xfrm>
          <a:prstGeom prst="ellipse">
            <a:avLst/>
          </a:prstGeom>
          <a:solidFill>
            <a:srgbClr val="D5B979"/>
          </a:solidFill>
          <a:ln w="12700">
            <a:solidFill>
              <a:srgbClr val="D5B979"/>
            </a:solidFill>
            <a:prstDash val="solid"/>
          </a:ln>
        </p:spPr>
        <p:txBody>
          <a:bodyPr/>
          <a:lstStyle/>
          <a:p>
            <a:endParaRPr lang="en-US"/>
          </a:p>
        </p:txBody>
      </p:sp>
      <p:sp>
        <p:nvSpPr>
          <p:cNvPr id="39" name="Text 37"/>
          <p:cNvSpPr/>
          <p:nvPr/>
        </p:nvSpPr>
        <p:spPr>
          <a:xfrm>
            <a:off x="4690872"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40" name="Text 38"/>
          <p:cNvSpPr/>
          <p:nvPr/>
        </p:nvSpPr>
        <p:spPr>
          <a:xfrm>
            <a:off x="5093208"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Brand + palette + type</a:t>
            </a:r>
            <a:endParaRPr lang="en-US" sz="1250" dirty="0"/>
          </a:p>
        </p:txBody>
      </p:sp>
      <p:sp>
        <p:nvSpPr>
          <p:cNvPr id="41" name="Shape 39">
            <a:extLst>
              <a:ext uri="{C183D7F6-B498-43B3-948B-1728B52AA6E4}">
                <adec:decorative xmlns:adec="http://schemas.microsoft.com/office/drawing/2017/decorative" val="1"/>
              </a:ext>
            </a:extLst>
          </p:cNvPr>
          <p:cNvSpPr/>
          <p:nvPr/>
        </p:nvSpPr>
        <p:spPr>
          <a:xfrm>
            <a:off x="4690872" y="4919472"/>
            <a:ext cx="256032" cy="256032"/>
          </a:xfrm>
          <a:prstGeom prst="ellipse">
            <a:avLst/>
          </a:prstGeom>
          <a:solidFill>
            <a:srgbClr val="D5B979"/>
          </a:solidFill>
          <a:ln w="12700">
            <a:solidFill>
              <a:srgbClr val="D5B979"/>
            </a:solidFill>
            <a:prstDash val="solid"/>
          </a:ln>
        </p:spPr>
        <p:txBody>
          <a:bodyPr/>
          <a:lstStyle/>
          <a:p>
            <a:endParaRPr lang="en-US"/>
          </a:p>
        </p:txBody>
      </p:sp>
      <p:sp>
        <p:nvSpPr>
          <p:cNvPr id="42" name="Text 40"/>
          <p:cNvSpPr/>
          <p:nvPr/>
        </p:nvSpPr>
        <p:spPr>
          <a:xfrm>
            <a:off x="4690872"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a:t>
            </a:r>
            <a:endParaRPr lang="en-US" sz="800" dirty="0"/>
          </a:p>
        </p:txBody>
      </p:sp>
      <p:sp>
        <p:nvSpPr>
          <p:cNvPr id="43" name="Text 41"/>
          <p:cNvSpPr/>
          <p:nvPr/>
        </p:nvSpPr>
        <p:spPr>
          <a:xfrm>
            <a:off x="5093208"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Usability + polish</a:t>
            </a:r>
            <a:endParaRPr lang="en-US" sz="1250" dirty="0"/>
          </a:p>
        </p:txBody>
      </p:sp>
      <p:sp>
        <p:nvSpPr>
          <p:cNvPr id="44" name="Shape 42">
            <a:extLst>
              <a:ext uri="{C183D7F6-B498-43B3-948B-1728B52AA6E4}">
                <adec:decorative xmlns:adec="http://schemas.microsoft.com/office/drawing/2017/decorative" val="1"/>
              </a:ext>
            </a:extLst>
          </p:cNvPr>
          <p:cNvSpPr/>
          <p:nvPr/>
        </p:nvSpPr>
        <p:spPr>
          <a:xfrm>
            <a:off x="8211312" y="1783080"/>
            <a:ext cx="3429000" cy="3977640"/>
          </a:xfrm>
          <a:prstGeom prst="roundRect">
            <a:avLst>
              <a:gd name="adj" fmla="val 2133"/>
            </a:avLst>
          </a:prstGeom>
          <a:solidFill>
            <a:srgbClr val="FFFFFF"/>
          </a:solidFill>
          <a:ln w="12700">
            <a:solidFill>
              <a:srgbClr val="D8DCE4"/>
            </a:solidFill>
            <a:prstDash val="solid"/>
          </a:ln>
        </p:spPr>
        <p:txBody>
          <a:bodyPr/>
          <a:lstStyle/>
          <a:p>
            <a:endParaRPr lang="en-US"/>
          </a:p>
        </p:txBody>
      </p:sp>
      <p:sp>
        <p:nvSpPr>
          <p:cNvPr id="45" name="Shape 43">
            <a:extLst>
              <a:ext uri="{C183D7F6-B498-43B3-948B-1728B52AA6E4}">
                <adec:decorative xmlns:adec="http://schemas.microsoft.com/office/drawing/2017/decorative" val="1"/>
              </a:ext>
            </a:extLst>
          </p:cNvPr>
          <p:cNvSpPr/>
          <p:nvPr/>
        </p:nvSpPr>
        <p:spPr>
          <a:xfrm>
            <a:off x="8211312" y="1783080"/>
            <a:ext cx="3429000" cy="621792"/>
          </a:xfrm>
          <a:prstGeom prst="roundRect">
            <a:avLst>
              <a:gd name="adj" fmla="val 11765"/>
            </a:avLst>
          </a:prstGeom>
          <a:solidFill>
            <a:srgbClr val="149966"/>
          </a:solidFill>
          <a:ln w="12700">
            <a:solidFill>
              <a:srgbClr val="149966"/>
            </a:solidFill>
            <a:prstDash val="solid"/>
          </a:ln>
        </p:spPr>
        <p:txBody>
          <a:bodyPr/>
          <a:lstStyle/>
          <a:p>
            <a:endParaRPr lang="en-US"/>
          </a:p>
        </p:txBody>
      </p:sp>
      <p:sp>
        <p:nvSpPr>
          <p:cNvPr id="46" name="Text 44"/>
          <p:cNvSpPr/>
          <p:nvPr/>
        </p:nvSpPr>
        <p:spPr>
          <a:xfrm>
            <a:off x="8357616" y="1783080"/>
            <a:ext cx="3136392" cy="621792"/>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DELIVERY + RESTRICTIONS</a:t>
            </a:r>
            <a:endParaRPr lang="en-US" sz="950" dirty="0"/>
          </a:p>
        </p:txBody>
      </p:sp>
      <p:sp>
        <p:nvSpPr>
          <p:cNvPr id="47" name="Shape 45">
            <a:extLst>
              <a:ext uri="{C183D7F6-B498-43B3-948B-1728B52AA6E4}">
                <adec:decorative xmlns:adec="http://schemas.microsoft.com/office/drawing/2017/decorative" val="1"/>
              </a:ext>
            </a:extLst>
          </p:cNvPr>
          <p:cNvSpPr/>
          <p:nvPr/>
        </p:nvSpPr>
        <p:spPr>
          <a:xfrm>
            <a:off x="8467344" y="2724912"/>
            <a:ext cx="256032" cy="256032"/>
          </a:xfrm>
          <a:prstGeom prst="ellipse">
            <a:avLst/>
          </a:prstGeom>
          <a:solidFill>
            <a:srgbClr val="149966"/>
          </a:solidFill>
          <a:ln w="12700">
            <a:solidFill>
              <a:srgbClr val="149966"/>
            </a:solidFill>
            <a:prstDash val="solid"/>
          </a:ln>
        </p:spPr>
        <p:txBody>
          <a:bodyPr/>
          <a:lstStyle/>
          <a:p>
            <a:endParaRPr lang="en-US"/>
          </a:p>
        </p:txBody>
      </p:sp>
      <p:sp>
        <p:nvSpPr>
          <p:cNvPr id="48" name="Text 46"/>
          <p:cNvSpPr/>
          <p:nvPr/>
        </p:nvSpPr>
        <p:spPr>
          <a:xfrm>
            <a:off x="8467344" y="272491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49" name="Text 47"/>
          <p:cNvSpPr/>
          <p:nvPr/>
        </p:nvSpPr>
        <p:spPr>
          <a:xfrm>
            <a:off x="8869680" y="266090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SCORM + LMS + iframe</a:t>
            </a:r>
            <a:endParaRPr lang="en-US" sz="1250" dirty="0"/>
          </a:p>
        </p:txBody>
      </p:sp>
      <p:sp>
        <p:nvSpPr>
          <p:cNvPr id="50" name="Shape 48">
            <a:extLst>
              <a:ext uri="{C183D7F6-B498-43B3-948B-1728B52AA6E4}">
                <adec:decorative xmlns:adec="http://schemas.microsoft.com/office/drawing/2017/decorative" val="1"/>
              </a:ext>
            </a:extLst>
          </p:cNvPr>
          <p:cNvSpPr/>
          <p:nvPr/>
        </p:nvSpPr>
        <p:spPr>
          <a:xfrm>
            <a:off x="8467344" y="3273552"/>
            <a:ext cx="256032" cy="256032"/>
          </a:xfrm>
          <a:prstGeom prst="ellipse">
            <a:avLst/>
          </a:prstGeom>
          <a:solidFill>
            <a:srgbClr val="149966"/>
          </a:solidFill>
          <a:ln w="12700">
            <a:solidFill>
              <a:srgbClr val="149966"/>
            </a:solidFill>
            <a:prstDash val="solid"/>
          </a:ln>
        </p:spPr>
        <p:txBody>
          <a:bodyPr/>
          <a:lstStyle/>
          <a:p>
            <a:endParaRPr lang="en-US"/>
          </a:p>
        </p:txBody>
      </p:sp>
      <p:sp>
        <p:nvSpPr>
          <p:cNvPr id="51" name="Text 49"/>
          <p:cNvSpPr/>
          <p:nvPr/>
        </p:nvSpPr>
        <p:spPr>
          <a:xfrm>
            <a:off x="8467344" y="327355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2" name="Text 50"/>
          <p:cNvSpPr/>
          <p:nvPr/>
        </p:nvSpPr>
        <p:spPr>
          <a:xfrm>
            <a:off x="8869680" y="320954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Export + file organization</a:t>
            </a:r>
            <a:endParaRPr lang="en-US" sz="1250" dirty="0"/>
          </a:p>
        </p:txBody>
      </p:sp>
      <p:sp>
        <p:nvSpPr>
          <p:cNvPr id="53" name="Shape 51">
            <a:extLst>
              <a:ext uri="{C183D7F6-B498-43B3-948B-1728B52AA6E4}">
                <adec:decorative xmlns:adec="http://schemas.microsoft.com/office/drawing/2017/decorative" val="1"/>
              </a:ext>
            </a:extLst>
          </p:cNvPr>
          <p:cNvSpPr/>
          <p:nvPr/>
        </p:nvSpPr>
        <p:spPr>
          <a:xfrm>
            <a:off x="8467344" y="3822192"/>
            <a:ext cx="256032" cy="256032"/>
          </a:xfrm>
          <a:prstGeom prst="ellipse">
            <a:avLst/>
          </a:prstGeom>
          <a:solidFill>
            <a:srgbClr val="149966"/>
          </a:solidFill>
          <a:ln w="12700">
            <a:solidFill>
              <a:srgbClr val="149966"/>
            </a:solidFill>
            <a:prstDash val="solid"/>
          </a:ln>
        </p:spPr>
        <p:txBody>
          <a:bodyPr/>
          <a:lstStyle/>
          <a:p>
            <a:endParaRPr lang="en-US"/>
          </a:p>
        </p:txBody>
      </p:sp>
      <p:sp>
        <p:nvSpPr>
          <p:cNvPr id="54" name="Text 52"/>
          <p:cNvSpPr/>
          <p:nvPr/>
        </p:nvSpPr>
        <p:spPr>
          <a:xfrm>
            <a:off x="8467344" y="382219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5" name="Text 53"/>
          <p:cNvSpPr/>
          <p:nvPr/>
        </p:nvSpPr>
        <p:spPr>
          <a:xfrm>
            <a:off x="8869680" y="375818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Local / hosted or linked assets</a:t>
            </a:r>
            <a:endParaRPr lang="en-US" sz="1250" dirty="0"/>
          </a:p>
        </p:txBody>
      </p:sp>
      <p:sp>
        <p:nvSpPr>
          <p:cNvPr id="56" name="Shape 54">
            <a:extLst>
              <a:ext uri="{C183D7F6-B498-43B3-948B-1728B52AA6E4}">
                <adec:decorative xmlns:adec="http://schemas.microsoft.com/office/drawing/2017/decorative" val="1"/>
              </a:ext>
            </a:extLst>
          </p:cNvPr>
          <p:cNvSpPr/>
          <p:nvPr/>
        </p:nvSpPr>
        <p:spPr>
          <a:xfrm>
            <a:off x="8467344" y="4370832"/>
            <a:ext cx="256032" cy="256032"/>
          </a:xfrm>
          <a:prstGeom prst="ellipse">
            <a:avLst/>
          </a:prstGeom>
          <a:solidFill>
            <a:srgbClr val="149966"/>
          </a:solidFill>
          <a:ln w="12700">
            <a:solidFill>
              <a:srgbClr val="149966"/>
            </a:solidFill>
            <a:prstDash val="solid"/>
          </a:ln>
        </p:spPr>
        <p:txBody>
          <a:bodyPr/>
          <a:lstStyle/>
          <a:p>
            <a:endParaRPr lang="en-US"/>
          </a:p>
        </p:txBody>
      </p:sp>
      <p:sp>
        <p:nvSpPr>
          <p:cNvPr id="57" name="Text 55"/>
          <p:cNvSpPr/>
          <p:nvPr/>
        </p:nvSpPr>
        <p:spPr>
          <a:xfrm>
            <a:off x="8467344" y="437083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58" name="Text 56"/>
          <p:cNvSpPr/>
          <p:nvPr/>
        </p:nvSpPr>
        <p:spPr>
          <a:xfrm>
            <a:off x="8869680" y="430682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Integrations + constraints</a:t>
            </a:r>
            <a:endParaRPr lang="en-US" sz="1250" dirty="0"/>
          </a:p>
        </p:txBody>
      </p:sp>
      <p:sp>
        <p:nvSpPr>
          <p:cNvPr id="59" name="Shape 57">
            <a:extLst>
              <a:ext uri="{C183D7F6-B498-43B3-948B-1728B52AA6E4}">
                <adec:decorative xmlns:adec="http://schemas.microsoft.com/office/drawing/2017/decorative" val="1"/>
              </a:ext>
            </a:extLst>
          </p:cNvPr>
          <p:cNvSpPr/>
          <p:nvPr/>
        </p:nvSpPr>
        <p:spPr>
          <a:xfrm>
            <a:off x="8467344" y="4919472"/>
            <a:ext cx="256032" cy="256032"/>
          </a:xfrm>
          <a:prstGeom prst="ellipse">
            <a:avLst/>
          </a:prstGeom>
          <a:solidFill>
            <a:srgbClr val="149966"/>
          </a:solidFill>
          <a:ln w="12700">
            <a:solidFill>
              <a:srgbClr val="149966"/>
            </a:solidFill>
            <a:prstDash val="solid"/>
          </a:ln>
        </p:spPr>
        <p:txBody>
          <a:bodyPr/>
          <a:lstStyle/>
          <a:p>
            <a:endParaRPr lang="en-US"/>
          </a:p>
        </p:txBody>
      </p:sp>
      <p:sp>
        <p:nvSpPr>
          <p:cNvPr id="60" name="Text 58"/>
          <p:cNvSpPr/>
          <p:nvPr/>
        </p:nvSpPr>
        <p:spPr>
          <a:xfrm>
            <a:off x="8467344" y="4919472"/>
            <a:ext cx="256032" cy="25603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a:t>
            </a:r>
            <a:endParaRPr lang="en-US" sz="800" dirty="0"/>
          </a:p>
        </p:txBody>
      </p:sp>
      <p:sp>
        <p:nvSpPr>
          <p:cNvPr id="61" name="Text 59"/>
          <p:cNvSpPr/>
          <p:nvPr/>
        </p:nvSpPr>
        <p:spPr>
          <a:xfrm>
            <a:off x="8869680" y="4855464"/>
            <a:ext cx="2423160" cy="384048"/>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Privacy + account limits</a:t>
            </a:r>
            <a:endParaRPr lang="en-US" sz="1250" dirty="0"/>
          </a:p>
        </p:txBody>
      </p:sp>
      <p:sp>
        <p:nvSpPr>
          <p:cNvPr id="62" name="Shape 60">
            <a:extLst>
              <a:ext uri="{C183D7F6-B498-43B3-948B-1728B52AA6E4}">
                <adec:decorative xmlns:adec="http://schemas.microsoft.com/office/drawing/2017/decorative" val="1"/>
              </a:ext>
            </a:extLst>
          </p:cNvPr>
          <p:cNvSpPr/>
          <p:nvPr/>
        </p:nvSpPr>
        <p:spPr>
          <a:xfrm>
            <a:off x="3611880" y="5961888"/>
            <a:ext cx="493776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63" name="Text 61"/>
          <p:cNvSpPr/>
          <p:nvPr/>
        </p:nvSpPr>
        <p:spPr>
          <a:xfrm>
            <a:off x="3721608" y="5961888"/>
            <a:ext cx="471830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Companion handout · Artifact Specification Guide</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9">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The same four lenses, used differently</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 name="Text 2"/>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IDEATE → 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Ideation fills the buckets. Iteration reviews the build through those same lenses.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77240" y="1828800"/>
            <a:ext cx="4663440" cy="3611880"/>
          </a:xfrm>
          <a:prstGeom prst="roundRect">
            <a:avLst>
              <a:gd name="adj" fmla="val 2532"/>
            </a:avLst>
          </a:prstGeom>
          <a:solidFill>
            <a:srgbClr val="F4EEDD"/>
          </a:solidFill>
          <a:ln w="12700">
            <a:solidFill>
              <a:srgbClr val="D5B979"/>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2331720" y="2103120"/>
            <a:ext cx="1554480" cy="384048"/>
          </a:xfrm>
          <a:prstGeom prst="roundRect">
            <a:avLst>
              <a:gd name="adj" fmla="val 28571"/>
            </a:avLst>
          </a:prstGeom>
          <a:solidFill>
            <a:srgbClr val="D5B979"/>
          </a:solidFill>
          <a:ln w="12700">
            <a:solidFill>
              <a:srgbClr val="D5B979"/>
            </a:solidFill>
            <a:prstDash val="solid"/>
          </a:ln>
        </p:spPr>
        <p:txBody>
          <a:bodyPr/>
          <a:lstStyle/>
          <a:p>
            <a:endParaRPr lang="en-US"/>
          </a:p>
        </p:txBody>
      </p:sp>
      <p:sp>
        <p:nvSpPr>
          <p:cNvPr id="10" name="Text 8"/>
          <p:cNvSpPr/>
          <p:nvPr/>
        </p:nvSpPr>
        <p:spPr>
          <a:xfrm>
            <a:off x="2441448" y="2103120"/>
            <a:ext cx="133502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IDEATE</a:t>
            </a:r>
            <a:endParaRPr lang="en-US" sz="1100" dirty="0"/>
          </a:p>
        </p:txBody>
      </p:sp>
      <p:sp>
        <p:nvSpPr>
          <p:cNvPr id="11" name="Text 9"/>
          <p:cNvSpPr/>
          <p:nvPr/>
        </p:nvSpPr>
        <p:spPr>
          <a:xfrm>
            <a:off x="1234440" y="2816352"/>
            <a:ext cx="3749040" cy="384048"/>
          </a:xfrm>
          <a:prstGeom prst="rect">
            <a:avLst/>
          </a:prstGeom>
          <a:noFill/>
          <a:ln/>
        </p:spPr>
        <p:txBody>
          <a:bodyPr wrap="square" lIns="0" tIns="0" rIns="0" bIns="0" rtlCol="0" anchor="ctr">
            <a:normAutofit/>
          </a:bodyPr>
          <a:lstStyle/>
          <a:p>
            <a:pPr marL="0" indent="0" algn="ctr">
              <a:buNone/>
            </a:pPr>
            <a:r>
              <a:rPr lang="en-US" sz="1800" b="1" dirty="0">
                <a:solidFill>
                  <a:srgbClr val="17254E"/>
                </a:solidFill>
                <a:latin typeface="Aptos" pitchFamily="34" charset="0"/>
                <a:ea typeface="Aptos" pitchFamily="34" charset="-122"/>
                <a:cs typeface="Aptos" pitchFamily="34" charset="-120"/>
              </a:rPr>
              <a:t>FILL THE BUCKETS</a:t>
            </a:r>
            <a:endParaRPr lang="en-US" sz="1800" dirty="0"/>
          </a:p>
        </p:txBody>
      </p:sp>
      <p:sp>
        <p:nvSpPr>
          <p:cNvPr id="12" name="Text 10"/>
          <p:cNvSpPr/>
          <p:nvPr/>
        </p:nvSpPr>
        <p:spPr>
          <a:xfrm>
            <a:off x="1353312" y="3401568"/>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1  Learning Context</a:t>
            </a:r>
            <a:endParaRPr lang="en-US" sz="1300" dirty="0"/>
          </a:p>
        </p:txBody>
      </p:sp>
      <p:sp>
        <p:nvSpPr>
          <p:cNvPr id="13" name="Text 11"/>
          <p:cNvSpPr/>
          <p:nvPr/>
        </p:nvSpPr>
        <p:spPr>
          <a:xfrm>
            <a:off x="1353312" y="3840480"/>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2  Interaction Design</a:t>
            </a:r>
            <a:endParaRPr lang="en-US" sz="1300" dirty="0"/>
          </a:p>
        </p:txBody>
      </p:sp>
      <p:sp>
        <p:nvSpPr>
          <p:cNvPr id="14" name="Text 12"/>
          <p:cNvSpPr/>
          <p:nvPr/>
        </p:nvSpPr>
        <p:spPr>
          <a:xfrm>
            <a:off x="1353312" y="4279392"/>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3  Expert Content</a:t>
            </a:r>
            <a:endParaRPr lang="en-US" sz="1300" dirty="0"/>
          </a:p>
        </p:txBody>
      </p:sp>
      <p:sp>
        <p:nvSpPr>
          <p:cNvPr id="15" name="Text 13"/>
          <p:cNvSpPr/>
          <p:nvPr/>
        </p:nvSpPr>
        <p:spPr>
          <a:xfrm>
            <a:off x="1353312" y="4718304"/>
            <a:ext cx="3566160" cy="329184"/>
          </a:xfrm>
          <a:prstGeom prst="rect">
            <a:avLst/>
          </a:prstGeom>
          <a:noFill/>
          <a:ln/>
        </p:spPr>
        <p:txBody>
          <a:bodyPr wrap="square" lIns="0" tIns="0" rIns="0" bIns="0" rtlCol="0" anchor="ctr">
            <a:normAutofit/>
          </a:bodyPr>
          <a:lstStyle/>
          <a:p>
            <a:pPr marL="0" indent="0">
              <a:buNone/>
            </a:pPr>
            <a:r>
              <a:rPr lang="en-US" sz="1300" b="1" dirty="0">
                <a:solidFill>
                  <a:srgbClr val="202532"/>
                </a:solidFill>
                <a:latin typeface="Aptos" pitchFamily="34" charset="0"/>
                <a:ea typeface="Aptos" pitchFamily="34" charset="-122"/>
                <a:cs typeface="Aptos" pitchFamily="34" charset="-120"/>
              </a:rPr>
              <a:t>4  Artifact Specification</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5623560" y="3547872"/>
            <a:ext cx="868680" cy="0"/>
          </a:xfrm>
          <a:prstGeom prst="line">
            <a:avLst/>
          </a:prstGeom>
          <a:noFill/>
          <a:ln w="30480">
            <a:solidFill>
              <a:srgbClr val="0B7049"/>
            </a:solidFill>
            <a:prstDash val="solid"/>
            <a:headEnd type="none"/>
            <a:tailEnd type="triangle"/>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720840" y="1828800"/>
            <a:ext cx="4663440" cy="3611880"/>
          </a:xfrm>
          <a:prstGeom prst="roundRect">
            <a:avLst>
              <a:gd name="adj" fmla="val 2532"/>
            </a:avLst>
          </a:prstGeom>
          <a:solidFill>
            <a:srgbClr val="E7F4EE"/>
          </a:solidFill>
          <a:ln w="12700">
            <a:solidFill>
              <a:srgbClr val="149966"/>
            </a:solidFill>
            <a:prstDash val="solid"/>
          </a:ln>
        </p:spPr>
        <p:txBody>
          <a:bodyPr/>
          <a:lstStyle/>
          <a:p>
            <a:endParaRPr lang="en-US"/>
          </a:p>
        </p:txBody>
      </p:sp>
      <p:sp>
        <p:nvSpPr>
          <p:cNvPr id="18" name="Shape 16">
            <a:extLst>
              <a:ext uri="{C183D7F6-B498-43B3-948B-1728B52AA6E4}">
                <adec:decorative xmlns:adec="http://schemas.microsoft.com/office/drawing/2017/decorative" val="1"/>
              </a:ext>
            </a:extLst>
          </p:cNvPr>
          <p:cNvSpPr/>
          <p:nvPr/>
        </p:nvSpPr>
        <p:spPr>
          <a:xfrm>
            <a:off x="8229600" y="2103120"/>
            <a:ext cx="1645920" cy="384048"/>
          </a:xfrm>
          <a:prstGeom prst="roundRect">
            <a:avLst>
              <a:gd name="adj" fmla="val 28571"/>
            </a:avLst>
          </a:prstGeom>
          <a:solidFill>
            <a:srgbClr val="149966"/>
          </a:solidFill>
          <a:ln w="12700">
            <a:solidFill>
              <a:srgbClr val="149966"/>
            </a:solidFill>
            <a:prstDash val="solid"/>
          </a:ln>
        </p:spPr>
        <p:txBody>
          <a:bodyPr/>
          <a:lstStyle/>
          <a:p>
            <a:endParaRPr lang="en-US"/>
          </a:p>
        </p:txBody>
      </p:sp>
      <p:sp>
        <p:nvSpPr>
          <p:cNvPr id="19" name="Text 17"/>
          <p:cNvSpPr/>
          <p:nvPr/>
        </p:nvSpPr>
        <p:spPr>
          <a:xfrm>
            <a:off x="8339328" y="2103120"/>
            <a:ext cx="1426464" cy="384048"/>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ITERATE</a:t>
            </a:r>
            <a:endParaRPr lang="en-US" sz="1100" dirty="0"/>
          </a:p>
        </p:txBody>
      </p:sp>
      <p:sp>
        <p:nvSpPr>
          <p:cNvPr id="20" name="Text 18"/>
          <p:cNvSpPr/>
          <p:nvPr/>
        </p:nvSpPr>
        <p:spPr>
          <a:xfrm>
            <a:off x="7150608" y="2816352"/>
            <a:ext cx="3794760" cy="384048"/>
          </a:xfrm>
          <a:prstGeom prst="rect">
            <a:avLst/>
          </a:prstGeom>
          <a:noFill/>
          <a:ln/>
        </p:spPr>
        <p:txBody>
          <a:bodyPr wrap="square" lIns="0" tIns="0" rIns="0" bIns="0" rtlCol="0" anchor="ctr">
            <a:normAutofit/>
          </a:bodyPr>
          <a:lstStyle/>
          <a:p>
            <a:pPr marL="0" indent="0" algn="ctr">
              <a:buNone/>
            </a:pPr>
            <a:r>
              <a:rPr lang="en-US" sz="1800" b="1" dirty="0">
                <a:solidFill>
                  <a:srgbClr val="17254E"/>
                </a:solidFill>
                <a:latin typeface="Aptos" pitchFamily="34" charset="0"/>
                <a:ea typeface="Aptos" pitchFamily="34" charset="-122"/>
                <a:cs typeface="Aptos" pitchFamily="34" charset="-120"/>
              </a:rPr>
              <a:t>REVIEW THROUGH LENSES</a:t>
            </a:r>
            <a:endParaRPr lang="en-US" sz="1800" dirty="0"/>
          </a:p>
        </p:txBody>
      </p:sp>
      <p:sp>
        <p:nvSpPr>
          <p:cNvPr id="21" name="Text 19"/>
          <p:cNvSpPr/>
          <p:nvPr/>
        </p:nvSpPr>
        <p:spPr>
          <a:xfrm>
            <a:off x="7223760" y="3401568"/>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it fit the learning?</a:t>
            </a:r>
            <a:endParaRPr lang="en-US" sz="1250" dirty="0"/>
          </a:p>
        </p:txBody>
      </p:sp>
      <p:sp>
        <p:nvSpPr>
          <p:cNvPr id="22" name="Text 20"/>
          <p:cNvSpPr/>
          <p:nvPr/>
        </p:nvSpPr>
        <p:spPr>
          <a:xfrm>
            <a:off x="7223760" y="3840480"/>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the learner act meaningfully?</a:t>
            </a:r>
            <a:endParaRPr lang="en-US" sz="1250" dirty="0"/>
          </a:p>
        </p:txBody>
      </p:sp>
      <p:sp>
        <p:nvSpPr>
          <p:cNvPr id="23" name="Text 21"/>
          <p:cNvSpPr/>
          <p:nvPr/>
        </p:nvSpPr>
        <p:spPr>
          <a:xfrm>
            <a:off x="7223760" y="4279392"/>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Is the content trustworthy?</a:t>
            </a:r>
            <a:endParaRPr lang="en-US" sz="1250" dirty="0"/>
          </a:p>
        </p:txBody>
      </p:sp>
      <p:sp>
        <p:nvSpPr>
          <p:cNvPr id="24" name="Text 22"/>
          <p:cNvSpPr/>
          <p:nvPr/>
        </p:nvSpPr>
        <p:spPr>
          <a:xfrm>
            <a:off x="7223760" y="4718304"/>
            <a:ext cx="3657600" cy="329184"/>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Does the artifact work as required?</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1828800" y="5806440"/>
            <a:ext cx="82296" cy="475488"/>
          </a:xfrm>
          <a:prstGeom prst="rect">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2121408" y="5806440"/>
            <a:ext cx="8302752" cy="475488"/>
          </a:xfrm>
          <a:prstGeom prst="rect">
            <a:avLst/>
          </a:prstGeom>
          <a:noFill/>
          <a:ln/>
        </p:spPr>
        <p:txBody>
          <a:bodyPr wrap="square" lIns="0" tIns="0" rIns="0" bIns="0" rtlCol="0" anchor="ctr">
            <a:normAutofit fontScale="85000" lnSpcReduction="20000"/>
          </a:bodyPr>
          <a:lstStyle/>
          <a:p>
            <a:pPr marL="0" indent="0">
              <a:buNone/>
            </a:pPr>
            <a:r>
              <a:rPr lang="en-US" sz="2200" i="1" dirty="0">
                <a:solidFill>
                  <a:srgbClr val="17254E"/>
                </a:solidFill>
                <a:latin typeface="Georgia" pitchFamily="34" charset="0"/>
                <a:ea typeface="Georgia" pitchFamily="34" charset="-122"/>
                <a:cs typeface="Georgia" pitchFamily="34" charset="-120"/>
              </a:rPr>
              <a:t>Iteration can reopen ideation. A mismatch may reveal that an earlier decision needs to change.</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0">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1 — Learning Context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Does this artifact serve the intended learning, learners, and course moment?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D5B979"/>
          </a:solidFill>
          <a:ln w="12700">
            <a:solidFill>
              <a:srgbClr val="D5B979"/>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Outcome alignment</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Course and module placement</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D5B979"/>
          </a:solidFill>
          <a:ln w="12700">
            <a:solidFill>
              <a:srgbClr val="D5B979"/>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Relationship to assessment</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D5B979"/>
          </a:solidFill>
          <a:ln w="12700">
            <a:solidFill>
              <a:srgbClr val="D5B979"/>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Learner readiness and prerequisites</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Purpose before and after the activity</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D5B979"/>
          </a:solidFill>
          <a:ln w="12700">
            <a:solidFill>
              <a:srgbClr val="D5B979"/>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Appropriate difficulty and duration</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D5B979"/>
          </a:solidFill>
          <a:ln w="12700">
            <a:solidFill>
              <a:srgbClr val="D5B979"/>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Value relative to the surrounding lesson</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761488"/>
            <a:ext cx="4526280" cy="205740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Georgia" pitchFamily="34" charset="0"/>
                <a:ea typeface="Georgia" pitchFamily="34" charset="-122"/>
                <a:cs typeface="Georgia" pitchFamily="34" charset="-120"/>
              </a:rPr>
              <a:t>“Revise the activity so that students compare the two models rather than merely identify their parts. Preserve the existing visual layout and controls.”</a:t>
            </a:r>
            <a:endParaRPr lang="en-US" sz="1900" dirty="0"/>
          </a:p>
        </p:txBody>
      </p:sp>
      <p:sp>
        <p:nvSpPr>
          <p:cNvPr id="28" name="Text 26"/>
          <p:cNvSpPr/>
          <p:nvPr/>
        </p:nvSpPr>
        <p:spPr>
          <a:xfrm>
            <a:off x="6355080" y="5303520"/>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Names the learning mismatch • requests one change • preserves what works</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1">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2 — Interaction Design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What does the learner do, and how does the artifact respond?</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E7F4EE"/>
          </a:solidFill>
          <a:ln w="12700">
            <a:solidFill>
              <a:srgbClr val="E7F4EE"/>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0B7049"/>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149966"/>
          </a:solidFill>
          <a:ln w="12700">
            <a:solidFill>
              <a:srgbClr val="149966"/>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Meaningful learner action</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149966"/>
          </a:solidFill>
          <a:ln w="12700">
            <a:solidFill>
              <a:srgbClr val="149966"/>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Choice, change, comparison, or explanation</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149966"/>
          </a:solidFill>
          <a:ln w="12700">
            <a:solidFill>
              <a:srgbClr val="149966"/>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Consequences and feedback</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149966"/>
          </a:solidFill>
          <a:ln w="12700">
            <a:solidFill>
              <a:srgbClr val="149966"/>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Progression rather than repetition</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149966"/>
          </a:solidFill>
          <a:ln w="12700">
            <a:solidFill>
              <a:srgbClr val="149966"/>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Useful challenge and cognitive effort</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149966"/>
          </a:solidFill>
          <a:ln w="12700">
            <a:solidFill>
              <a:srgbClr val="149966"/>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Clear relationship between form and role</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149966"/>
          </a:solidFill>
          <a:ln w="12700">
            <a:solidFill>
              <a:srgbClr val="149966"/>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 reason to interact rather than only read</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670048"/>
            <a:ext cx="4526280" cy="224028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“Add one branching decision in which each option produces a visible consequence and concise feedback. Preserve the current scenario, tone, and visual style.”</a:t>
            </a:r>
            <a:endParaRPr lang="en-US" sz="1800" dirty="0"/>
          </a:p>
        </p:txBody>
      </p:sp>
      <p:sp>
        <p:nvSpPr>
          <p:cNvPr id="28" name="Text 26"/>
          <p:cNvSpPr/>
          <p:nvPr/>
        </p:nvSpPr>
        <p:spPr>
          <a:xfrm>
            <a:off x="6355080" y="5303520"/>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Targets the learner action • defines response behavior • protects the design language</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2">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3 — Expert Content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Are the claims, examples, models, and explanations trustworthy and instructionally useful?</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DDE7F6"/>
          </a:solidFill>
          <a:ln w="12700">
            <a:solidFill>
              <a:srgbClr val="DDE7F6"/>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40547F"/>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6B7EA8"/>
          </a:solidFill>
          <a:ln w="12700">
            <a:solidFill>
              <a:srgbClr val="6B7EA8"/>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Accuracy and source authority</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6B7EA8"/>
          </a:solidFill>
          <a:ln w="12700">
            <a:solidFill>
              <a:srgbClr val="6B7EA8"/>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Disciplinary language and conventions</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6B7EA8"/>
          </a:solidFill>
          <a:ln w="12700">
            <a:solidFill>
              <a:srgbClr val="6B7EA8"/>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Appropriate simplification</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Examples, nonexamples, and edge cases</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Assumptions and limitations</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6B7EA8"/>
          </a:solidFill>
          <a:ln w="12700">
            <a:solidFill>
              <a:srgbClr val="6B7EA8"/>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Tacit expert reasoning made visible</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6B7EA8"/>
          </a:solidFill>
          <a:ln w="12700">
            <a:solidFill>
              <a:srgbClr val="6B7EA8"/>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Consistency across labels, data, and feedback</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542032"/>
            <a:ext cx="4526280" cy="2578608"/>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Georgia" pitchFamily="34" charset="0"/>
                <a:ea typeface="Georgia" pitchFamily="34" charset="-122"/>
                <a:cs typeface="Georgia" pitchFamily="34" charset="-120"/>
              </a:rPr>
              <a:t>“Correct the explanation of orbital eccentricity using the supplied course notes. Preserve the current calculations, controls, and layout. Add one sentence naming the model’s simplifying assumption.”</a:t>
            </a:r>
            <a:endParaRPr lang="en-US" sz="1700" dirty="0"/>
          </a:p>
        </p:txBody>
      </p:sp>
      <p:sp>
        <p:nvSpPr>
          <p:cNvPr id="28" name="Text 26"/>
          <p:cNvSpPr/>
          <p:nvPr/>
        </p:nvSpPr>
        <p:spPr>
          <a:xfrm>
            <a:off x="6355080" y="5349240"/>
            <a:ext cx="4526280" cy="45720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Anchors the correction • limits collateral change • makes an assumption visible</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Lens 4 — Artifact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Does the artifact work visually, accessibly, technically, and in its delivery environment?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892040" cy="4434840"/>
          </a:xfrm>
          <a:prstGeom prst="roundRect">
            <a:avLst>
              <a:gd name="adj" fmla="val 164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1024128" y="1993392"/>
            <a:ext cx="14173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0" name="Text 8"/>
          <p:cNvSpPr/>
          <p:nvPr/>
        </p:nvSpPr>
        <p:spPr>
          <a:xfrm>
            <a:off x="1133856" y="1993392"/>
            <a:ext cx="11978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REVIEW FOR</a:t>
            </a:r>
            <a:endParaRPr lang="en-US" sz="1100" dirty="0"/>
          </a:p>
        </p:txBody>
      </p:sp>
      <p:sp>
        <p:nvSpPr>
          <p:cNvPr id="11" name="Shape 9">
            <a:extLst>
              <a:ext uri="{C183D7F6-B498-43B3-948B-1728B52AA6E4}">
                <adec:decorative xmlns:adec="http://schemas.microsoft.com/office/drawing/2017/decorative" val="1"/>
              </a:ext>
            </a:extLst>
          </p:cNvPr>
          <p:cNvSpPr/>
          <p:nvPr/>
        </p:nvSpPr>
        <p:spPr>
          <a:xfrm>
            <a:off x="1051560" y="2670048"/>
            <a:ext cx="219456" cy="219456"/>
          </a:xfrm>
          <a:prstGeom prst="ellipse">
            <a:avLst/>
          </a:prstGeom>
          <a:solidFill>
            <a:srgbClr val="BD7B24"/>
          </a:solidFill>
          <a:ln w="12700">
            <a:solidFill>
              <a:srgbClr val="BD7B24"/>
            </a:solidFill>
            <a:prstDash val="solid"/>
          </a:ln>
        </p:spPr>
        <p:txBody>
          <a:bodyPr/>
          <a:lstStyle/>
          <a:p>
            <a:endParaRPr lang="en-US"/>
          </a:p>
        </p:txBody>
      </p:sp>
      <p:sp>
        <p:nvSpPr>
          <p:cNvPr id="12" name="Text 10"/>
          <p:cNvSpPr/>
          <p:nvPr/>
        </p:nvSpPr>
        <p:spPr>
          <a:xfrm>
            <a:off x="1417320" y="260604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Aesthetics, Visual clarity, and hierarchy</a:t>
            </a:r>
            <a:endParaRPr lang="en-US" sz="1250" dirty="0"/>
          </a:p>
        </p:txBody>
      </p:sp>
      <p:sp>
        <p:nvSpPr>
          <p:cNvPr id="13" name="Shape 11">
            <a:extLst>
              <a:ext uri="{C183D7F6-B498-43B3-948B-1728B52AA6E4}">
                <adec:decorative xmlns:adec="http://schemas.microsoft.com/office/drawing/2017/decorative" val="1"/>
              </a:ext>
            </a:extLst>
          </p:cNvPr>
          <p:cNvSpPr/>
          <p:nvPr/>
        </p:nvSpPr>
        <p:spPr>
          <a:xfrm>
            <a:off x="1051560" y="3108960"/>
            <a:ext cx="219456" cy="219456"/>
          </a:xfrm>
          <a:prstGeom prst="ellipse">
            <a:avLst/>
          </a:prstGeom>
          <a:solidFill>
            <a:srgbClr val="BD7B24"/>
          </a:solidFill>
          <a:ln w="12700">
            <a:solidFill>
              <a:srgbClr val="BD7B24"/>
            </a:solidFill>
            <a:prstDash val="solid"/>
          </a:ln>
        </p:spPr>
        <p:txBody>
          <a:bodyPr/>
          <a:lstStyle/>
          <a:p>
            <a:endParaRPr lang="en-US"/>
          </a:p>
        </p:txBody>
      </p:sp>
      <p:sp>
        <p:nvSpPr>
          <p:cNvPr id="14" name="Text 12"/>
          <p:cNvSpPr/>
          <p:nvPr/>
        </p:nvSpPr>
        <p:spPr>
          <a:xfrm>
            <a:off x="1417320" y="304495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Keyboard and assistive-technology access</a:t>
            </a:r>
            <a:endParaRPr lang="en-US" sz="1250" dirty="0"/>
          </a:p>
        </p:txBody>
      </p:sp>
      <p:sp>
        <p:nvSpPr>
          <p:cNvPr id="15" name="Shape 13">
            <a:extLst>
              <a:ext uri="{C183D7F6-B498-43B3-948B-1728B52AA6E4}">
                <adec:decorative xmlns:adec="http://schemas.microsoft.com/office/drawing/2017/decorative" val="1"/>
              </a:ext>
            </a:extLst>
          </p:cNvPr>
          <p:cNvSpPr/>
          <p:nvPr/>
        </p:nvSpPr>
        <p:spPr>
          <a:xfrm>
            <a:off x="1051560" y="3547872"/>
            <a:ext cx="219456" cy="219456"/>
          </a:xfrm>
          <a:prstGeom prst="ellipse">
            <a:avLst/>
          </a:prstGeom>
          <a:solidFill>
            <a:srgbClr val="BD7B24"/>
          </a:solidFill>
          <a:ln w="12700">
            <a:solidFill>
              <a:srgbClr val="BD7B24"/>
            </a:solidFill>
            <a:prstDash val="solid"/>
          </a:ln>
        </p:spPr>
        <p:txBody>
          <a:bodyPr/>
          <a:lstStyle/>
          <a:p>
            <a:endParaRPr lang="en-US"/>
          </a:p>
        </p:txBody>
      </p:sp>
      <p:sp>
        <p:nvSpPr>
          <p:cNvPr id="16" name="Text 14"/>
          <p:cNvSpPr/>
          <p:nvPr/>
        </p:nvSpPr>
        <p:spPr>
          <a:xfrm>
            <a:off x="1417320" y="3483864"/>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Labels, focus, and announced state</a:t>
            </a:r>
            <a:endParaRPr lang="en-US" sz="1250" dirty="0"/>
          </a:p>
        </p:txBody>
      </p:sp>
      <p:sp>
        <p:nvSpPr>
          <p:cNvPr id="17" name="Shape 15">
            <a:extLst>
              <a:ext uri="{C183D7F6-B498-43B3-948B-1728B52AA6E4}">
                <adec:decorative xmlns:adec="http://schemas.microsoft.com/office/drawing/2017/decorative" val="1"/>
              </a:ext>
            </a:extLst>
          </p:cNvPr>
          <p:cNvSpPr/>
          <p:nvPr/>
        </p:nvSpPr>
        <p:spPr>
          <a:xfrm>
            <a:off x="1051560" y="3986784"/>
            <a:ext cx="219456" cy="219456"/>
          </a:xfrm>
          <a:prstGeom prst="ellipse">
            <a:avLst/>
          </a:prstGeom>
          <a:solidFill>
            <a:srgbClr val="BD7B24"/>
          </a:solidFill>
          <a:ln w="12700">
            <a:solidFill>
              <a:srgbClr val="BD7B24"/>
            </a:solidFill>
            <a:prstDash val="solid"/>
          </a:ln>
        </p:spPr>
        <p:txBody>
          <a:bodyPr/>
          <a:lstStyle/>
          <a:p>
            <a:endParaRPr lang="en-US"/>
          </a:p>
        </p:txBody>
      </p:sp>
      <p:sp>
        <p:nvSpPr>
          <p:cNvPr id="18" name="Text 16"/>
          <p:cNvSpPr/>
          <p:nvPr/>
        </p:nvSpPr>
        <p:spPr>
          <a:xfrm>
            <a:off x="1417320" y="3922776"/>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Responsive and screen-size behavior</a:t>
            </a:r>
            <a:endParaRPr lang="en-US" sz="1250" dirty="0"/>
          </a:p>
        </p:txBody>
      </p:sp>
      <p:sp>
        <p:nvSpPr>
          <p:cNvPr id="19" name="Shape 17">
            <a:extLst>
              <a:ext uri="{C183D7F6-B498-43B3-948B-1728B52AA6E4}">
                <adec:decorative xmlns:adec="http://schemas.microsoft.com/office/drawing/2017/decorative" val="1"/>
              </a:ext>
            </a:extLst>
          </p:cNvPr>
          <p:cNvSpPr/>
          <p:nvPr/>
        </p:nvSpPr>
        <p:spPr>
          <a:xfrm>
            <a:off x="1051560" y="4425696"/>
            <a:ext cx="219456" cy="219456"/>
          </a:xfrm>
          <a:prstGeom prst="ellipse">
            <a:avLst/>
          </a:prstGeom>
          <a:solidFill>
            <a:srgbClr val="BD7B24"/>
          </a:solidFill>
          <a:ln w="12700">
            <a:solidFill>
              <a:srgbClr val="BD7B24"/>
            </a:solidFill>
            <a:prstDash val="solid"/>
          </a:ln>
        </p:spPr>
        <p:txBody>
          <a:bodyPr/>
          <a:lstStyle/>
          <a:p>
            <a:endParaRPr lang="en-US"/>
          </a:p>
        </p:txBody>
      </p:sp>
      <p:sp>
        <p:nvSpPr>
          <p:cNvPr id="20" name="Text 18"/>
          <p:cNvSpPr/>
          <p:nvPr/>
        </p:nvSpPr>
        <p:spPr>
          <a:xfrm>
            <a:off x="1417320" y="4361688"/>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Navigation, reset, and completion</a:t>
            </a:r>
            <a:endParaRPr lang="en-US" sz="1250" dirty="0"/>
          </a:p>
        </p:txBody>
      </p:sp>
      <p:sp>
        <p:nvSpPr>
          <p:cNvPr id="21" name="Shape 19">
            <a:extLst>
              <a:ext uri="{C183D7F6-B498-43B3-948B-1728B52AA6E4}">
                <adec:decorative xmlns:adec="http://schemas.microsoft.com/office/drawing/2017/decorative" val="1"/>
              </a:ext>
            </a:extLst>
          </p:cNvPr>
          <p:cNvSpPr/>
          <p:nvPr/>
        </p:nvSpPr>
        <p:spPr>
          <a:xfrm>
            <a:off x="1051560" y="4864608"/>
            <a:ext cx="219456" cy="219456"/>
          </a:xfrm>
          <a:prstGeom prst="ellipse">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1417320" y="4800600"/>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Files, paths, packaging, and SCORM</a:t>
            </a:r>
            <a:endParaRPr lang="en-US" sz="1250" dirty="0"/>
          </a:p>
        </p:txBody>
      </p:sp>
      <p:sp>
        <p:nvSpPr>
          <p:cNvPr id="23" name="Shape 21">
            <a:extLst>
              <a:ext uri="{C183D7F6-B498-43B3-948B-1728B52AA6E4}">
                <adec:decorative xmlns:adec="http://schemas.microsoft.com/office/drawing/2017/decorative" val="1"/>
              </a:ext>
            </a:extLst>
          </p:cNvPr>
          <p:cNvSpPr/>
          <p:nvPr/>
        </p:nvSpPr>
        <p:spPr>
          <a:xfrm>
            <a:off x="1051560" y="5303520"/>
            <a:ext cx="219456" cy="219456"/>
          </a:xfrm>
          <a:prstGeom prst="ellipse">
            <a:avLst/>
          </a:prstGeom>
          <a:solidFill>
            <a:srgbClr val="BD7B24"/>
          </a:solidFill>
          <a:ln w="12700">
            <a:solidFill>
              <a:srgbClr val="BD7B24"/>
            </a:solidFill>
            <a:prstDash val="solid"/>
          </a:ln>
        </p:spPr>
        <p:txBody>
          <a:bodyPr/>
          <a:lstStyle/>
          <a:p>
            <a:endParaRPr lang="en-US"/>
          </a:p>
        </p:txBody>
      </p:sp>
      <p:sp>
        <p:nvSpPr>
          <p:cNvPr id="24" name="Text 22"/>
          <p:cNvSpPr/>
          <p:nvPr/>
        </p:nvSpPr>
        <p:spPr>
          <a:xfrm>
            <a:off x="1417320" y="5239512"/>
            <a:ext cx="3794760" cy="347472"/>
          </a:xfrm>
          <a:prstGeom prst="rect">
            <a:avLst/>
          </a:prstGeom>
          <a:noFill/>
          <a:ln/>
        </p:spPr>
        <p:txBody>
          <a:bodyPr wrap="square" lIns="0" tIns="0" rIns="0" bIns="0" rtlCol="0" anchor="ctr">
            <a:normAutofit/>
          </a:bodyPr>
          <a:lstStyle/>
          <a:p>
            <a:pPr marL="0" indent="0">
              <a:buNone/>
            </a:pPr>
            <a:r>
              <a:rPr lang="en-US" sz="1250" b="1" dirty="0">
                <a:solidFill>
                  <a:srgbClr val="202532"/>
                </a:solidFill>
                <a:latin typeface="Aptos" pitchFamily="34" charset="0"/>
                <a:ea typeface="Aptos" pitchFamily="34" charset="-122"/>
                <a:cs typeface="Aptos" pitchFamily="34" charset="-120"/>
              </a:rPr>
              <a:t>Performance, rights, captions, and credits</a:t>
            </a:r>
            <a:endParaRPr lang="en-US" sz="1250" dirty="0"/>
          </a:p>
        </p:txBody>
      </p:sp>
      <p:sp>
        <p:nvSpPr>
          <p:cNvPr id="25" name="Shape 23">
            <a:extLst>
              <a:ext uri="{C183D7F6-B498-43B3-948B-1728B52AA6E4}">
                <adec:decorative xmlns:adec="http://schemas.microsoft.com/office/drawing/2017/decorative" val="1"/>
              </a:ext>
            </a:extLst>
          </p:cNvPr>
          <p:cNvSpPr/>
          <p:nvPr/>
        </p:nvSpPr>
        <p:spPr>
          <a:xfrm>
            <a:off x="5989320" y="1737360"/>
            <a:ext cx="5440680" cy="4434840"/>
          </a:xfrm>
          <a:prstGeom prst="roundRect">
            <a:avLst>
              <a:gd name="adj" fmla="val 2062"/>
            </a:avLst>
          </a:prstGeom>
          <a:solidFill>
            <a:srgbClr val="17254E"/>
          </a:solidFill>
          <a:ln w="12700">
            <a:solidFill>
              <a:srgbClr val="17254E"/>
            </a:solidFill>
            <a:prstDash val="solid"/>
          </a:ln>
        </p:spPr>
        <p:txBody>
          <a:bodyPr/>
          <a:lstStyle/>
          <a:p>
            <a:endParaRPr lang="en-US"/>
          </a:p>
        </p:txBody>
      </p:sp>
      <p:sp>
        <p:nvSpPr>
          <p:cNvPr id="26" name="Text 24"/>
          <p:cNvSpPr/>
          <p:nvPr/>
        </p:nvSpPr>
        <p:spPr>
          <a:xfrm>
            <a:off x="6355080" y="2084832"/>
            <a:ext cx="4526280" cy="310896"/>
          </a:xfrm>
          <a:prstGeom prst="rect">
            <a:avLst/>
          </a:prstGeom>
          <a:noFill/>
          <a:ln/>
        </p:spPr>
        <p:txBody>
          <a:bodyPr wrap="square" lIns="0" tIns="0" rIns="0" bIns="0" rtlCol="0" anchor="ctr">
            <a:normAutofit/>
          </a:bodyPr>
          <a:lstStyle/>
          <a:p>
            <a:pPr marL="0" indent="0">
              <a:buNone/>
            </a:pPr>
            <a:r>
              <a:rPr lang="en-US" sz="1100" b="1" dirty="0">
                <a:solidFill>
                  <a:srgbClr val="D5B979"/>
                </a:solidFill>
                <a:latin typeface="Aptos" pitchFamily="34" charset="0"/>
                <a:ea typeface="Aptos" pitchFamily="34" charset="-122"/>
                <a:cs typeface="Aptos" pitchFamily="34" charset="-120"/>
              </a:rPr>
              <a:t>TARGETED REVISION</a:t>
            </a:r>
            <a:endParaRPr lang="en-US" sz="1100" dirty="0"/>
          </a:p>
        </p:txBody>
      </p:sp>
      <p:sp>
        <p:nvSpPr>
          <p:cNvPr id="27" name="Text 25"/>
          <p:cNvSpPr/>
          <p:nvPr/>
        </p:nvSpPr>
        <p:spPr>
          <a:xfrm>
            <a:off x="6355080" y="2615184"/>
            <a:ext cx="4526280" cy="2331720"/>
          </a:xfrm>
          <a:prstGeom prst="rect">
            <a:avLst/>
          </a:prstGeom>
          <a:noFill/>
          <a:ln/>
        </p:spPr>
        <p:txBody>
          <a:bodyPr wrap="square" lIns="0" tIns="0" rIns="0" bIns="0" rtlCol="0" anchor="ctr">
            <a:normAutofit/>
          </a:bodyPr>
          <a:lstStyle/>
          <a:p>
            <a:pPr marL="0" indent="0">
              <a:buNone/>
            </a:pPr>
            <a:r>
              <a:rPr lang="en-US" sz="1750" b="1" dirty="0">
                <a:solidFill>
                  <a:srgbClr val="FFFFFF"/>
                </a:solidFill>
                <a:latin typeface="Georgia" pitchFamily="34" charset="0"/>
                <a:ea typeface="Georgia" pitchFamily="34" charset="-122"/>
                <a:cs typeface="Georgia" pitchFamily="34" charset="-120"/>
              </a:rPr>
              <a:t>“Make every control keyboard operable and expose the current visual state as status text for screen readers. Preserve the calculations, instructional sequence, and visual composition.”</a:t>
            </a:r>
            <a:endParaRPr lang="en-US" sz="1750" dirty="0"/>
          </a:p>
        </p:txBody>
      </p:sp>
      <p:sp>
        <p:nvSpPr>
          <p:cNvPr id="28" name="Text 26"/>
          <p:cNvSpPr/>
          <p:nvPr/>
        </p:nvSpPr>
        <p:spPr>
          <a:xfrm>
            <a:off x="6355080" y="5321808"/>
            <a:ext cx="4526280" cy="502920"/>
          </a:xfrm>
          <a:prstGeom prst="rect">
            <a:avLst/>
          </a:prstGeom>
          <a:noFill/>
          <a:ln/>
        </p:spPr>
        <p:txBody>
          <a:bodyPr wrap="square" lIns="0" tIns="0" rIns="0" bIns="0" rtlCol="0" anchor="ctr">
            <a:normAutofit/>
          </a:bodyPr>
          <a:lstStyle/>
          <a:p>
            <a:pPr marL="0" indent="0" algn="ctr">
              <a:buNone/>
            </a:pPr>
            <a:r>
              <a:rPr lang="en-US" sz="1150" i="1" dirty="0">
                <a:solidFill>
                  <a:srgbClr val="DCE4F2"/>
                </a:solidFill>
                <a:latin typeface="Aptos" pitchFamily="34" charset="0"/>
                <a:ea typeface="Aptos" pitchFamily="34" charset="-122"/>
                <a:cs typeface="Aptos" pitchFamily="34" charset="-120"/>
              </a:rPr>
              <a:t>Accessibility and QA are part of the artifact specification—not a fifth bucket</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4">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The iteration loop</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078992" cy="347472"/>
          </a:xfrm>
          <a:prstGeom prst="roundRect">
            <a:avLst>
              <a:gd name="adj" fmla="val 23684"/>
            </a:avLst>
          </a:prstGeom>
          <a:solidFill>
            <a:srgbClr val="D5B979"/>
          </a:solidFill>
          <a:ln w="12700">
            <a:solidFill>
              <a:srgbClr val="D5B979"/>
            </a:solidFill>
            <a:prstDash val="solid"/>
          </a:ln>
        </p:spPr>
        <p:txBody>
          <a:bodyPr/>
          <a:lstStyle/>
          <a:p>
            <a:endParaRPr lang="en-US"/>
          </a:p>
        </p:txBody>
      </p:sp>
      <p:sp>
        <p:nvSpPr>
          <p:cNvPr id="4" name="Text 2"/>
          <p:cNvSpPr/>
          <p:nvPr/>
        </p:nvSpPr>
        <p:spPr>
          <a:xfrm>
            <a:off x="667512" y="246888"/>
            <a:ext cx="932688"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17254E"/>
                </a:solidFill>
                <a:latin typeface="Aptos" pitchFamily="34" charset="0"/>
                <a:ea typeface="Aptos" pitchFamily="34" charset="-122"/>
                <a:cs typeface="Aptos" pitchFamily="34" charset="-120"/>
              </a:rPr>
              <a:t>ITERATE</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Start with the most important mismatch. The order is flexible; the discipline is not.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566928" y="2395728"/>
            <a:ext cx="1234440" cy="1234440"/>
          </a:xfrm>
          <a:prstGeom prst="ellipse">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640080"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LEARNING</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CONTEXT</a:t>
            </a:r>
            <a:endParaRPr lang="en-US" sz="950" dirty="0"/>
          </a:p>
        </p:txBody>
      </p:sp>
      <p:sp>
        <p:nvSpPr>
          <p:cNvPr id="10" name="Shape 8">
            <a:extLst>
              <a:ext uri="{C183D7F6-B498-43B3-948B-1728B52AA6E4}">
                <adec:decorative xmlns:adec="http://schemas.microsoft.com/office/drawing/2017/decorative" val="1"/>
              </a:ext>
            </a:extLst>
          </p:cNvPr>
          <p:cNvSpPr/>
          <p:nvPr/>
        </p:nvSpPr>
        <p:spPr>
          <a:xfrm>
            <a:off x="1892808"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1" name="Shape 9">
            <a:extLst>
              <a:ext uri="{C183D7F6-B498-43B3-948B-1728B52AA6E4}">
                <adec:decorative xmlns:adec="http://schemas.microsoft.com/office/drawing/2017/decorative" val="1"/>
              </a:ext>
            </a:extLst>
          </p:cNvPr>
          <p:cNvSpPr/>
          <p:nvPr/>
        </p:nvSpPr>
        <p:spPr>
          <a:xfrm>
            <a:off x="2468880" y="2395728"/>
            <a:ext cx="1234440" cy="1234440"/>
          </a:xfrm>
          <a:prstGeom prst="ellipse">
            <a:avLst/>
          </a:prstGeom>
          <a:solidFill>
            <a:srgbClr val="0B7049"/>
          </a:solidFill>
          <a:ln w="12700">
            <a:solidFill>
              <a:srgbClr val="0B7049"/>
            </a:solidFill>
            <a:prstDash val="solid"/>
          </a:ln>
        </p:spPr>
        <p:txBody>
          <a:bodyPr/>
          <a:lstStyle/>
          <a:p>
            <a:endParaRPr lang="en-US"/>
          </a:p>
        </p:txBody>
      </p:sp>
      <p:sp>
        <p:nvSpPr>
          <p:cNvPr id="12" name="Text 10"/>
          <p:cNvSpPr/>
          <p:nvPr/>
        </p:nvSpPr>
        <p:spPr>
          <a:xfrm>
            <a:off x="2542032"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INTERACTION</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DESIGN</a:t>
            </a:r>
            <a:endParaRPr lang="en-US" sz="950" dirty="0"/>
          </a:p>
        </p:txBody>
      </p:sp>
      <p:sp>
        <p:nvSpPr>
          <p:cNvPr id="13" name="Shape 11">
            <a:extLst>
              <a:ext uri="{C183D7F6-B498-43B3-948B-1728B52AA6E4}">
                <adec:decorative xmlns:adec="http://schemas.microsoft.com/office/drawing/2017/decorative" val="1"/>
              </a:ext>
            </a:extLst>
          </p:cNvPr>
          <p:cNvSpPr/>
          <p:nvPr/>
        </p:nvSpPr>
        <p:spPr>
          <a:xfrm>
            <a:off x="3794760"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4370832" y="2395728"/>
            <a:ext cx="1234440" cy="1234440"/>
          </a:xfrm>
          <a:prstGeom prst="ellipse">
            <a:avLst/>
          </a:prstGeom>
          <a:solidFill>
            <a:srgbClr val="6B7EA8"/>
          </a:solidFill>
          <a:ln w="12700">
            <a:solidFill>
              <a:srgbClr val="6B7EA8"/>
            </a:solidFill>
            <a:prstDash val="solid"/>
          </a:ln>
        </p:spPr>
        <p:txBody>
          <a:bodyPr/>
          <a:lstStyle/>
          <a:p>
            <a:endParaRPr lang="en-US"/>
          </a:p>
        </p:txBody>
      </p:sp>
      <p:sp>
        <p:nvSpPr>
          <p:cNvPr id="15" name="Text 13"/>
          <p:cNvSpPr/>
          <p:nvPr/>
        </p:nvSpPr>
        <p:spPr>
          <a:xfrm>
            <a:off x="4443984"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EXPERT</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CONTENT</a:t>
            </a:r>
            <a:endParaRPr lang="en-US" sz="950" dirty="0"/>
          </a:p>
        </p:txBody>
      </p:sp>
      <p:sp>
        <p:nvSpPr>
          <p:cNvPr id="16" name="Shape 14">
            <a:extLst>
              <a:ext uri="{C183D7F6-B498-43B3-948B-1728B52AA6E4}">
                <adec:decorative xmlns:adec="http://schemas.microsoft.com/office/drawing/2017/decorative" val="1"/>
              </a:ext>
            </a:extLst>
          </p:cNvPr>
          <p:cNvSpPr/>
          <p:nvPr/>
        </p:nvSpPr>
        <p:spPr>
          <a:xfrm>
            <a:off x="5696712"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272784" y="2395728"/>
            <a:ext cx="1234440" cy="1234440"/>
          </a:xfrm>
          <a:prstGeom prst="ellipse">
            <a:avLst/>
          </a:prstGeom>
          <a:solidFill>
            <a:srgbClr val="BD7B24"/>
          </a:solidFill>
          <a:ln w="12700">
            <a:solidFill>
              <a:srgbClr val="BD7B24"/>
            </a:solidFill>
            <a:prstDash val="solid"/>
          </a:ln>
        </p:spPr>
        <p:txBody>
          <a:bodyPr/>
          <a:lstStyle/>
          <a:p>
            <a:endParaRPr lang="en-US"/>
          </a:p>
        </p:txBody>
      </p:sp>
      <p:sp>
        <p:nvSpPr>
          <p:cNvPr id="18" name="Text 16"/>
          <p:cNvSpPr/>
          <p:nvPr/>
        </p:nvSpPr>
        <p:spPr>
          <a:xfrm>
            <a:off x="6345936"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ARTIFACT</a:t>
            </a:r>
            <a:endParaRPr lang="en-US" sz="950" dirty="0"/>
          </a:p>
          <a:p>
            <a:pPr marL="0" indent="0" algn="ctr">
              <a:buNone/>
            </a:pPr>
            <a:r>
              <a:rPr lang="en-US" sz="950" b="1" dirty="0">
                <a:solidFill>
                  <a:srgbClr val="FFFFFF"/>
                </a:solidFill>
                <a:latin typeface="Aptos" pitchFamily="34" charset="0"/>
                <a:ea typeface="Aptos" pitchFamily="34" charset="-122"/>
                <a:cs typeface="Aptos" pitchFamily="34" charset="-120"/>
              </a:rPr>
              <a:t>SPECIFICATION</a:t>
            </a:r>
            <a:endParaRPr lang="en-US" sz="950" dirty="0"/>
          </a:p>
        </p:txBody>
      </p:sp>
      <p:sp>
        <p:nvSpPr>
          <p:cNvPr id="19" name="Shape 17">
            <a:extLst>
              <a:ext uri="{C183D7F6-B498-43B3-948B-1728B52AA6E4}">
                <adec:decorative xmlns:adec="http://schemas.microsoft.com/office/drawing/2017/decorative" val="1"/>
              </a:ext>
            </a:extLst>
          </p:cNvPr>
          <p:cNvSpPr/>
          <p:nvPr/>
        </p:nvSpPr>
        <p:spPr>
          <a:xfrm>
            <a:off x="7598664"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8174736" y="2395728"/>
            <a:ext cx="1234440" cy="1234440"/>
          </a:xfrm>
          <a:prstGeom prst="ellipse">
            <a:avLst/>
          </a:prstGeom>
          <a:solidFill>
            <a:srgbClr val="149966"/>
          </a:solidFill>
          <a:ln w="12700">
            <a:solidFill>
              <a:srgbClr val="149966"/>
            </a:solidFill>
            <a:prstDash val="solid"/>
          </a:ln>
        </p:spPr>
        <p:txBody>
          <a:bodyPr/>
          <a:lstStyle/>
          <a:p>
            <a:endParaRPr lang="en-US"/>
          </a:p>
        </p:txBody>
      </p:sp>
      <p:sp>
        <p:nvSpPr>
          <p:cNvPr id="21" name="Text 19"/>
          <p:cNvSpPr/>
          <p:nvPr/>
        </p:nvSpPr>
        <p:spPr>
          <a:xfrm>
            <a:off x="8247888"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TEST</a:t>
            </a:r>
            <a:endParaRPr lang="en-US" sz="950" dirty="0"/>
          </a:p>
        </p:txBody>
      </p:sp>
      <p:sp>
        <p:nvSpPr>
          <p:cNvPr id="22" name="Shape 20">
            <a:extLst>
              <a:ext uri="{C183D7F6-B498-43B3-948B-1728B52AA6E4}">
                <adec:decorative xmlns:adec="http://schemas.microsoft.com/office/drawing/2017/decorative" val="1"/>
              </a:ext>
            </a:extLst>
          </p:cNvPr>
          <p:cNvSpPr/>
          <p:nvPr/>
        </p:nvSpPr>
        <p:spPr>
          <a:xfrm>
            <a:off x="9500616" y="2999232"/>
            <a:ext cx="438912" cy="0"/>
          </a:xfrm>
          <a:prstGeom prst="line">
            <a:avLst/>
          </a:prstGeom>
          <a:noFill/>
          <a:ln w="22860">
            <a:solidFill>
              <a:srgbClr val="0B7049"/>
            </a:solidFill>
            <a:prstDash val="solid"/>
            <a:headEnd type="none"/>
            <a:tailEnd type="triangle"/>
          </a:ln>
        </p:spPr>
        <p:txBody>
          <a:bodyPr/>
          <a:lstStyle/>
          <a:p>
            <a:endParaRPr lang="en-US"/>
          </a:p>
        </p:txBody>
      </p:sp>
      <p:sp>
        <p:nvSpPr>
          <p:cNvPr id="23" name="Shape 21">
            <a:extLst>
              <a:ext uri="{C183D7F6-B498-43B3-948B-1728B52AA6E4}">
                <adec:decorative xmlns:adec="http://schemas.microsoft.com/office/drawing/2017/decorative" val="1"/>
              </a:ext>
            </a:extLst>
          </p:cNvPr>
          <p:cNvSpPr/>
          <p:nvPr/>
        </p:nvSpPr>
        <p:spPr>
          <a:xfrm>
            <a:off x="10076688" y="2395728"/>
            <a:ext cx="1234440" cy="1234440"/>
          </a:xfrm>
          <a:prstGeom prst="ellipse">
            <a:avLst/>
          </a:prstGeom>
          <a:solidFill>
            <a:srgbClr val="D5B979"/>
          </a:solidFill>
          <a:ln w="12700">
            <a:solidFill>
              <a:srgbClr val="D5B979"/>
            </a:solidFill>
            <a:prstDash val="solid"/>
          </a:ln>
        </p:spPr>
        <p:txBody>
          <a:bodyPr/>
          <a:lstStyle/>
          <a:p>
            <a:endParaRPr lang="en-US"/>
          </a:p>
        </p:txBody>
      </p:sp>
      <p:sp>
        <p:nvSpPr>
          <p:cNvPr id="24" name="Text 22"/>
          <p:cNvSpPr/>
          <p:nvPr/>
        </p:nvSpPr>
        <p:spPr>
          <a:xfrm>
            <a:off x="10149840" y="2633472"/>
            <a:ext cx="1088136" cy="749808"/>
          </a:xfrm>
          <a:prstGeom prst="rect">
            <a:avLst/>
          </a:prstGeom>
          <a:noFill/>
          <a:ln/>
        </p:spPr>
        <p:txBody>
          <a:bodyPr wrap="square" lIns="0" tIns="0" rIns="0" bIns="0" rtlCol="0" anchor="ctr">
            <a:normAutofit/>
          </a:bodyPr>
          <a:lstStyle/>
          <a:p>
            <a:pPr marL="0" indent="0" algn="ctr">
              <a:buNone/>
            </a:pPr>
            <a:r>
              <a:rPr lang="en-US" sz="950" b="1" dirty="0">
                <a:solidFill>
                  <a:srgbClr val="17254E"/>
                </a:solidFill>
                <a:latin typeface="Aptos" pitchFamily="34" charset="0"/>
                <a:ea typeface="Aptos" pitchFamily="34" charset="-122"/>
                <a:cs typeface="Aptos" pitchFamily="34" charset="-120"/>
              </a:rPr>
              <a:t>REPEAT</a:t>
            </a:r>
            <a:endParaRPr lang="en-US" sz="950" dirty="0"/>
          </a:p>
        </p:txBody>
      </p:sp>
      <p:sp>
        <p:nvSpPr>
          <p:cNvPr id="25" name="Shape 23">
            <a:extLst>
              <a:ext uri="{C183D7F6-B498-43B3-948B-1728B52AA6E4}">
                <adec:decorative xmlns:adec="http://schemas.microsoft.com/office/drawing/2017/decorative" val="1"/>
              </a:ext>
            </a:extLst>
          </p:cNvPr>
          <p:cNvSpPr/>
          <p:nvPr/>
        </p:nvSpPr>
        <p:spPr>
          <a:xfrm>
            <a:off x="1051560" y="4343400"/>
            <a:ext cx="10058400" cy="1143000"/>
          </a:xfrm>
          <a:prstGeom prst="roundRect">
            <a:avLst>
              <a:gd name="adj" fmla="val 6400"/>
            </a:avLst>
          </a:prstGeom>
          <a:solidFill>
            <a:srgbClr val="FFFFFF"/>
          </a:solidFill>
          <a:ln w="12700">
            <a:solidFill>
              <a:srgbClr val="D8DCE4"/>
            </a:solidFill>
            <a:prstDash val="solid"/>
          </a:ln>
        </p:spPr>
        <p:txBody>
          <a:bodyPr/>
          <a:lstStyle/>
          <a:p>
            <a:endParaRPr lang="en-US"/>
          </a:p>
        </p:txBody>
      </p:sp>
      <p:sp>
        <p:nvSpPr>
          <p:cNvPr id="26" name="Text 24"/>
          <p:cNvSpPr/>
          <p:nvPr/>
        </p:nvSpPr>
        <p:spPr>
          <a:xfrm>
            <a:off x="1444752" y="4590288"/>
            <a:ext cx="9235440" cy="384048"/>
          </a:xfrm>
          <a:prstGeom prst="rect">
            <a:avLst/>
          </a:prstGeom>
          <a:noFill/>
          <a:ln/>
        </p:spPr>
        <p:txBody>
          <a:bodyPr wrap="square" lIns="0" tIns="0" rIns="0" bIns="0" rtlCol="0" anchor="ctr">
            <a:normAutofit fontScale="85000" lnSpcReduction="20000"/>
          </a:bodyPr>
          <a:lstStyle/>
          <a:p>
            <a:pPr marL="0" indent="0" algn="ctr">
              <a:buNone/>
            </a:pPr>
            <a:r>
              <a:rPr lang="en-US" sz="1800" b="1" dirty="0">
                <a:solidFill>
                  <a:srgbClr val="17254E"/>
                </a:solidFill>
                <a:latin typeface="Georgia" pitchFamily="34" charset="0"/>
                <a:ea typeface="Georgia" pitchFamily="34" charset="-122"/>
                <a:cs typeface="Georgia" pitchFamily="34" charset="-120"/>
              </a:rPr>
              <a:t>One pass may be enough. Another build may need several passes through one lens before moving on.</a:t>
            </a:r>
            <a:endParaRPr lang="en-US" sz="1800" dirty="0"/>
          </a:p>
        </p:txBody>
      </p:sp>
      <p:sp>
        <p:nvSpPr>
          <p:cNvPr id="27" name="Text 25"/>
          <p:cNvSpPr/>
          <p:nvPr/>
        </p:nvSpPr>
        <p:spPr>
          <a:xfrm>
            <a:off x="1444752" y="5074920"/>
            <a:ext cx="9235440" cy="274320"/>
          </a:xfrm>
          <a:prstGeom prst="rect">
            <a:avLst/>
          </a:prstGeom>
          <a:noFill/>
          <a:ln/>
        </p:spPr>
        <p:txBody>
          <a:bodyPr wrap="square" lIns="0" tIns="0" rIns="0" bIns="0" rtlCol="0" anchor="ctr">
            <a:normAutofit/>
          </a:bodyPr>
          <a:lstStyle/>
          <a:p>
            <a:pPr marL="0" indent="0" algn="ctr">
              <a:buNone/>
            </a:pPr>
            <a:r>
              <a:rPr lang="en-US" sz="1150" dirty="0">
                <a:solidFill>
                  <a:srgbClr val="0B7049"/>
                </a:solidFill>
                <a:latin typeface="Aptos" pitchFamily="34" charset="0"/>
                <a:ea typeface="Aptos" pitchFamily="34" charset="-122"/>
                <a:cs typeface="Aptos" pitchFamily="34" charset="-120"/>
              </a:rPr>
              <a:t>Use the Iteration Checklist to record the mismatch, requested change, preserved strengths, and test result.</a:t>
            </a:r>
            <a:endParaRPr lang="en-US" sz="115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Testing and troubleshooting through the lenses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 symptom points to the design dimension that should change next</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40080" y="1737360"/>
            <a:ext cx="3063240" cy="530352"/>
          </a:xfrm>
          <a:prstGeom prst="rect">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768096" y="1737360"/>
            <a:ext cx="280720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SYMPTOM</a:t>
            </a:r>
            <a:endParaRPr lang="en-US" sz="1000" dirty="0"/>
          </a:p>
        </p:txBody>
      </p:sp>
      <p:sp>
        <p:nvSpPr>
          <p:cNvPr id="10" name="Shape 8">
            <a:extLst>
              <a:ext uri="{C183D7F6-B498-43B3-948B-1728B52AA6E4}">
                <adec:decorative xmlns:adec="http://schemas.microsoft.com/office/drawing/2017/decorative" val="1"/>
              </a:ext>
            </a:extLst>
          </p:cNvPr>
          <p:cNvSpPr/>
          <p:nvPr/>
        </p:nvSpPr>
        <p:spPr>
          <a:xfrm>
            <a:off x="3886200" y="1737360"/>
            <a:ext cx="2743200" cy="530352"/>
          </a:xfrm>
          <a:prstGeom prst="rect">
            <a:avLst/>
          </a:prstGeom>
          <a:solidFill>
            <a:srgbClr val="17254E"/>
          </a:solidFill>
          <a:ln w="12700">
            <a:solidFill>
              <a:srgbClr val="17254E"/>
            </a:solidFill>
            <a:prstDash val="solid"/>
          </a:ln>
        </p:spPr>
        <p:txBody>
          <a:bodyPr/>
          <a:lstStyle/>
          <a:p>
            <a:endParaRPr lang="en-US"/>
          </a:p>
        </p:txBody>
      </p:sp>
      <p:sp>
        <p:nvSpPr>
          <p:cNvPr id="11" name="Text 9"/>
          <p:cNvSpPr/>
          <p:nvPr/>
        </p:nvSpPr>
        <p:spPr>
          <a:xfrm>
            <a:off x="4014216" y="1737360"/>
            <a:ext cx="248716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LIKELY LAYER</a:t>
            </a:r>
            <a:endParaRPr lang="en-US" sz="1000" dirty="0"/>
          </a:p>
        </p:txBody>
      </p:sp>
      <p:sp>
        <p:nvSpPr>
          <p:cNvPr id="12" name="Shape 10">
            <a:extLst>
              <a:ext uri="{C183D7F6-B498-43B3-948B-1728B52AA6E4}">
                <adec:decorative xmlns:adec="http://schemas.microsoft.com/office/drawing/2017/decorative" val="1"/>
              </a:ext>
            </a:extLst>
          </p:cNvPr>
          <p:cNvSpPr/>
          <p:nvPr/>
        </p:nvSpPr>
        <p:spPr>
          <a:xfrm>
            <a:off x="6812280" y="1737360"/>
            <a:ext cx="4709160" cy="530352"/>
          </a:xfrm>
          <a:prstGeom prst="rect">
            <a:avLst/>
          </a:prstGeom>
          <a:solidFill>
            <a:srgbClr val="17254E"/>
          </a:solidFill>
          <a:ln w="12700">
            <a:solidFill>
              <a:srgbClr val="17254E"/>
            </a:solidFill>
            <a:prstDash val="solid"/>
          </a:ln>
        </p:spPr>
        <p:txBody>
          <a:bodyPr/>
          <a:lstStyle/>
          <a:p>
            <a:endParaRPr lang="en-US"/>
          </a:p>
        </p:txBody>
      </p:sp>
      <p:sp>
        <p:nvSpPr>
          <p:cNvPr id="13" name="Text 11"/>
          <p:cNvSpPr/>
          <p:nvPr/>
        </p:nvSpPr>
        <p:spPr>
          <a:xfrm>
            <a:off x="6940296" y="1737360"/>
            <a:ext cx="4453128" cy="530352"/>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NEXT MOVE</a:t>
            </a:r>
            <a:endParaRPr lang="en-US" sz="1000" dirty="0"/>
          </a:p>
        </p:txBody>
      </p:sp>
      <p:sp>
        <p:nvSpPr>
          <p:cNvPr id="14" name="Shape 12">
            <a:extLst>
              <a:ext uri="{C183D7F6-B498-43B3-948B-1728B52AA6E4}">
                <adec:decorative xmlns:adec="http://schemas.microsoft.com/office/drawing/2017/decorative" val="1"/>
              </a:ext>
            </a:extLst>
          </p:cNvPr>
          <p:cNvSpPr/>
          <p:nvPr/>
        </p:nvSpPr>
        <p:spPr>
          <a:xfrm>
            <a:off x="640080" y="2295144"/>
            <a:ext cx="3063240" cy="457200"/>
          </a:xfrm>
          <a:prstGeom prst="rect">
            <a:avLst/>
          </a:prstGeom>
          <a:solidFill>
            <a:srgbClr val="F5F6F8"/>
          </a:solidFill>
          <a:ln w="12700">
            <a:solidFill>
              <a:srgbClr val="D8DCE4"/>
            </a:solidFill>
            <a:prstDash val="solid"/>
          </a:ln>
        </p:spPr>
        <p:txBody>
          <a:bodyPr/>
          <a:lstStyle/>
          <a:p>
            <a:endParaRPr lang="en-US"/>
          </a:p>
        </p:txBody>
      </p:sp>
      <p:sp>
        <p:nvSpPr>
          <p:cNvPr id="15" name="Text 13"/>
          <p:cNvSpPr/>
          <p:nvPr/>
        </p:nvSpPr>
        <p:spPr>
          <a:xfrm>
            <a:off x="749808" y="2313432"/>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Explanation is incorrect</a:t>
            </a:r>
            <a:endParaRPr lang="en-US" sz="1050" dirty="0"/>
          </a:p>
        </p:txBody>
      </p:sp>
      <p:sp>
        <p:nvSpPr>
          <p:cNvPr id="16" name="Shape 14">
            <a:extLst>
              <a:ext uri="{C183D7F6-B498-43B3-948B-1728B52AA6E4}">
                <adec:decorative xmlns:adec="http://schemas.microsoft.com/office/drawing/2017/decorative" val="1"/>
              </a:ext>
            </a:extLst>
          </p:cNvPr>
          <p:cNvSpPr/>
          <p:nvPr/>
        </p:nvSpPr>
        <p:spPr>
          <a:xfrm>
            <a:off x="3886200" y="2295144"/>
            <a:ext cx="2743200" cy="457200"/>
          </a:xfrm>
          <a:prstGeom prst="rect">
            <a:avLst/>
          </a:prstGeom>
          <a:solidFill>
            <a:srgbClr val="F5F6F8"/>
          </a:solidFill>
          <a:ln w="12700">
            <a:solidFill>
              <a:srgbClr val="D8DCE4"/>
            </a:solidFill>
            <a:prstDash val="solid"/>
          </a:ln>
        </p:spPr>
        <p:txBody>
          <a:bodyPr/>
          <a:lstStyle/>
          <a:p>
            <a:endParaRPr lang="en-US"/>
          </a:p>
        </p:txBody>
      </p:sp>
      <p:sp>
        <p:nvSpPr>
          <p:cNvPr id="17" name="Text 15"/>
          <p:cNvSpPr/>
          <p:nvPr/>
        </p:nvSpPr>
        <p:spPr>
          <a:xfrm>
            <a:off x="3995928" y="2313432"/>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Expert Content</a:t>
            </a:r>
            <a:endParaRPr lang="en-US" sz="940" dirty="0"/>
          </a:p>
        </p:txBody>
      </p:sp>
      <p:sp>
        <p:nvSpPr>
          <p:cNvPr id="18" name="Shape 16">
            <a:extLst>
              <a:ext uri="{C183D7F6-B498-43B3-948B-1728B52AA6E4}">
                <adec:decorative xmlns:adec="http://schemas.microsoft.com/office/drawing/2017/decorative" val="1"/>
              </a:ext>
            </a:extLst>
          </p:cNvPr>
          <p:cNvSpPr/>
          <p:nvPr/>
        </p:nvSpPr>
        <p:spPr>
          <a:xfrm>
            <a:off x="6812280" y="2295144"/>
            <a:ext cx="4709160" cy="457200"/>
          </a:xfrm>
          <a:prstGeom prst="rect">
            <a:avLst/>
          </a:prstGeom>
          <a:solidFill>
            <a:srgbClr val="F5F6F8"/>
          </a:solidFill>
          <a:ln w="12700">
            <a:solidFill>
              <a:srgbClr val="D8DCE4"/>
            </a:solidFill>
            <a:prstDash val="solid"/>
          </a:ln>
        </p:spPr>
        <p:txBody>
          <a:bodyPr/>
          <a:lstStyle/>
          <a:p>
            <a:endParaRPr lang="en-US"/>
          </a:p>
        </p:txBody>
      </p:sp>
      <p:sp>
        <p:nvSpPr>
          <p:cNvPr id="19" name="Text 17"/>
          <p:cNvSpPr/>
          <p:nvPr/>
        </p:nvSpPr>
        <p:spPr>
          <a:xfrm>
            <a:off x="6922008" y="2313432"/>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Correct it from a verified source; preserve the working interface.</a:t>
            </a:r>
            <a:endParaRPr lang="en-US" sz="940" dirty="0"/>
          </a:p>
        </p:txBody>
      </p:sp>
      <p:sp>
        <p:nvSpPr>
          <p:cNvPr id="20" name="Shape 18">
            <a:extLst>
              <a:ext uri="{C183D7F6-B498-43B3-948B-1728B52AA6E4}">
                <adec:decorative xmlns:adec="http://schemas.microsoft.com/office/drawing/2017/decorative" val="1"/>
              </a:ext>
            </a:extLst>
          </p:cNvPr>
          <p:cNvSpPr/>
          <p:nvPr/>
        </p:nvSpPr>
        <p:spPr>
          <a:xfrm>
            <a:off x="640080" y="2770632"/>
            <a:ext cx="3063240" cy="457200"/>
          </a:xfrm>
          <a:prstGeom prst="rect">
            <a:avLst/>
          </a:prstGeom>
          <a:solidFill>
            <a:srgbClr val="FFFFFF"/>
          </a:solidFill>
          <a:ln w="12700">
            <a:solidFill>
              <a:srgbClr val="D8DCE4"/>
            </a:solidFill>
            <a:prstDash val="solid"/>
          </a:ln>
        </p:spPr>
        <p:txBody>
          <a:bodyPr/>
          <a:lstStyle/>
          <a:p>
            <a:endParaRPr lang="en-US"/>
          </a:p>
        </p:txBody>
      </p:sp>
      <p:sp>
        <p:nvSpPr>
          <p:cNvPr id="21" name="Text 19"/>
          <p:cNvSpPr/>
          <p:nvPr/>
        </p:nvSpPr>
        <p:spPr>
          <a:xfrm>
            <a:off x="749808" y="2788920"/>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Learner task is weak</a:t>
            </a:r>
            <a:endParaRPr lang="en-US" sz="1050" dirty="0"/>
          </a:p>
        </p:txBody>
      </p:sp>
      <p:sp>
        <p:nvSpPr>
          <p:cNvPr id="22" name="Shape 20">
            <a:extLst>
              <a:ext uri="{C183D7F6-B498-43B3-948B-1728B52AA6E4}">
                <adec:decorative xmlns:adec="http://schemas.microsoft.com/office/drawing/2017/decorative" val="1"/>
              </a:ext>
            </a:extLst>
          </p:cNvPr>
          <p:cNvSpPr/>
          <p:nvPr/>
        </p:nvSpPr>
        <p:spPr>
          <a:xfrm>
            <a:off x="3886200" y="2770632"/>
            <a:ext cx="2743200" cy="457200"/>
          </a:xfrm>
          <a:prstGeom prst="rect">
            <a:avLst/>
          </a:prstGeom>
          <a:solidFill>
            <a:srgbClr val="FFFFFF"/>
          </a:solidFill>
          <a:ln w="12700">
            <a:solidFill>
              <a:srgbClr val="D8DCE4"/>
            </a:solidFill>
            <a:prstDash val="solid"/>
          </a:ln>
        </p:spPr>
        <p:txBody>
          <a:bodyPr/>
          <a:lstStyle/>
          <a:p>
            <a:endParaRPr lang="en-US"/>
          </a:p>
        </p:txBody>
      </p:sp>
      <p:sp>
        <p:nvSpPr>
          <p:cNvPr id="23" name="Text 21"/>
          <p:cNvSpPr/>
          <p:nvPr/>
        </p:nvSpPr>
        <p:spPr>
          <a:xfrm>
            <a:off x="3995928" y="2788920"/>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Interaction Design</a:t>
            </a:r>
            <a:endParaRPr lang="en-US" sz="940" dirty="0"/>
          </a:p>
        </p:txBody>
      </p:sp>
      <p:sp>
        <p:nvSpPr>
          <p:cNvPr id="24" name="Shape 22">
            <a:extLst>
              <a:ext uri="{C183D7F6-B498-43B3-948B-1728B52AA6E4}">
                <adec:decorative xmlns:adec="http://schemas.microsoft.com/office/drawing/2017/decorative" val="1"/>
              </a:ext>
            </a:extLst>
          </p:cNvPr>
          <p:cNvSpPr/>
          <p:nvPr/>
        </p:nvSpPr>
        <p:spPr>
          <a:xfrm>
            <a:off x="6812280" y="2770632"/>
            <a:ext cx="4709160" cy="457200"/>
          </a:xfrm>
          <a:prstGeom prst="rect">
            <a:avLst/>
          </a:prstGeom>
          <a:solidFill>
            <a:srgbClr val="FFFFFF"/>
          </a:solidFill>
          <a:ln w="12700">
            <a:solidFill>
              <a:srgbClr val="D8DCE4"/>
            </a:solidFill>
            <a:prstDash val="solid"/>
          </a:ln>
        </p:spPr>
        <p:txBody>
          <a:bodyPr/>
          <a:lstStyle/>
          <a:p>
            <a:endParaRPr lang="en-US"/>
          </a:p>
        </p:txBody>
      </p:sp>
      <p:sp>
        <p:nvSpPr>
          <p:cNvPr id="25" name="Text 23"/>
          <p:cNvSpPr/>
          <p:nvPr/>
        </p:nvSpPr>
        <p:spPr>
          <a:xfrm>
            <a:off x="6922008" y="2788920"/>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Specify a more meaningful action, consequence, or feedback loop.</a:t>
            </a:r>
            <a:endParaRPr lang="en-US" sz="940" dirty="0"/>
          </a:p>
        </p:txBody>
      </p:sp>
      <p:sp>
        <p:nvSpPr>
          <p:cNvPr id="26" name="Shape 24">
            <a:extLst>
              <a:ext uri="{C183D7F6-B498-43B3-948B-1728B52AA6E4}">
                <adec:decorative xmlns:adec="http://schemas.microsoft.com/office/drawing/2017/decorative" val="1"/>
              </a:ext>
            </a:extLst>
          </p:cNvPr>
          <p:cNvSpPr/>
          <p:nvPr/>
        </p:nvSpPr>
        <p:spPr>
          <a:xfrm>
            <a:off x="640080" y="3246120"/>
            <a:ext cx="3063240" cy="457200"/>
          </a:xfrm>
          <a:prstGeom prst="rect">
            <a:avLst/>
          </a:prstGeom>
          <a:solidFill>
            <a:srgbClr val="F5F6F8"/>
          </a:solidFill>
          <a:ln w="12700">
            <a:solidFill>
              <a:srgbClr val="D8DCE4"/>
            </a:solidFill>
            <a:prstDash val="solid"/>
          </a:ln>
        </p:spPr>
        <p:txBody>
          <a:bodyPr/>
          <a:lstStyle/>
          <a:p>
            <a:endParaRPr lang="en-US"/>
          </a:p>
        </p:txBody>
      </p:sp>
      <p:sp>
        <p:nvSpPr>
          <p:cNvPr id="27" name="Text 25"/>
          <p:cNvSpPr/>
          <p:nvPr/>
        </p:nvSpPr>
        <p:spPr>
          <a:xfrm>
            <a:off x="749808" y="3264408"/>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Activity misses the outcome</a:t>
            </a:r>
            <a:endParaRPr lang="en-US" sz="1050" dirty="0"/>
          </a:p>
        </p:txBody>
      </p:sp>
      <p:sp>
        <p:nvSpPr>
          <p:cNvPr id="28" name="Shape 26">
            <a:extLst>
              <a:ext uri="{C183D7F6-B498-43B3-948B-1728B52AA6E4}">
                <adec:decorative xmlns:adec="http://schemas.microsoft.com/office/drawing/2017/decorative" val="1"/>
              </a:ext>
            </a:extLst>
          </p:cNvPr>
          <p:cNvSpPr/>
          <p:nvPr/>
        </p:nvSpPr>
        <p:spPr>
          <a:xfrm>
            <a:off x="3886200" y="3246120"/>
            <a:ext cx="2743200" cy="457200"/>
          </a:xfrm>
          <a:prstGeom prst="rect">
            <a:avLst/>
          </a:prstGeom>
          <a:solidFill>
            <a:srgbClr val="F5F6F8"/>
          </a:solidFill>
          <a:ln w="12700">
            <a:solidFill>
              <a:srgbClr val="D8DCE4"/>
            </a:solidFill>
            <a:prstDash val="solid"/>
          </a:ln>
        </p:spPr>
        <p:txBody>
          <a:bodyPr/>
          <a:lstStyle/>
          <a:p>
            <a:endParaRPr lang="en-US"/>
          </a:p>
        </p:txBody>
      </p:sp>
      <p:sp>
        <p:nvSpPr>
          <p:cNvPr id="29" name="Text 27"/>
          <p:cNvSpPr/>
          <p:nvPr/>
        </p:nvSpPr>
        <p:spPr>
          <a:xfrm>
            <a:off x="3995928" y="3264408"/>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Learning Context</a:t>
            </a:r>
            <a:endParaRPr lang="en-US" sz="940" dirty="0"/>
          </a:p>
        </p:txBody>
      </p:sp>
      <p:sp>
        <p:nvSpPr>
          <p:cNvPr id="30" name="Shape 28">
            <a:extLst>
              <a:ext uri="{C183D7F6-B498-43B3-948B-1728B52AA6E4}">
                <adec:decorative xmlns:adec="http://schemas.microsoft.com/office/drawing/2017/decorative" val="1"/>
              </a:ext>
            </a:extLst>
          </p:cNvPr>
          <p:cNvSpPr/>
          <p:nvPr/>
        </p:nvSpPr>
        <p:spPr>
          <a:xfrm>
            <a:off x="6812280" y="3246120"/>
            <a:ext cx="4709160" cy="457200"/>
          </a:xfrm>
          <a:prstGeom prst="rect">
            <a:avLst/>
          </a:prstGeom>
          <a:solidFill>
            <a:srgbClr val="F5F6F8"/>
          </a:solidFill>
          <a:ln w="12700">
            <a:solidFill>
              <a:srgbClr val="D8DCE4"/>
            </a:solidFill>
            <a:prstDash val="solid"/>
          </a:ln>
        </p:spPr>
        <p:txBody>
          <a:bodyPr/>
          <a:lstStyle/>
          <a:p>
            <a:endParaRPr lang="en-US"/>
          </a:p>
        </p:txBody>
      </p:sp>
      <p:sp>
        <p:nvSpPr>
          <p:cNvPr id="31" name="Text 29"/>
          <p:cNvSpPr/>
          <p:nvPr/>
        </p:nvSpPr>
        <p:spPr>
          <a:xfrm>
            <a:off x="6922008" y="3264408"/>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Reconnect the task to the outcome, assessment, and course placement.</a:t>
            </a:r>
            <a:endParaRPr lang="en-US" sz="940" dirty="0"/>
          </a:p>
        </p:txBody>
      </p:sp>
      <p:sp>
        <p:nvSpPr>
          <p:cNvPr id="32" name="Shape 30">
            <a:extLst>
              <a:ext uri="{C183D7F6-B498-43B3-948B-1728B52AA6E4}">
                <adec:decorative xmlns:adec="http://schemas.microsoft.com/office/drawing/2017/decorative" val="1"/>
              </a:ext>
            </a:extLst>
          </p:cNvPr>
          <p:cNvSpPr/>
          <p:nvPr/>
        </p:nvSpPr>
        <p:spPr>
          <a:xfrm>
            <a:off x="640080" y="3721608"/>
            <a:ext cx="3063240" cy="457200"/>
          </a:xfrm>
          <a:prstGeom prst="rect">
            <a:avLst/>
          </a:prstGeom>
          <a:solidFill>
            <a:srgbClr val="FFFFFF"/>
          </a:solidFill>
          <a:ln w="12700">
            <a:solidFill>
              <a:srgbClr val="D8DCE4"/>
            </a:solidFill>
            <a:prstDash val="solid"/>
          </a:ln>
        </p:spPr>
        <p:txBody>
          <a:bodyPr/>
          <a:lstStyle/>
          <a:p>
            <a:endParaRPr lang="en-US"/>
          </a:p>
        </p:txBody>
      </p:sp>
      <p:sp>
        <p:nvSpPr>
          <p:cNvPr id="33" name="Text 31"/>
          <p:cNvSpPr/>
          <p:nvPr/>
        </p:nvSpPr>
        <p:spPr>
          <a:xfrm>
            <a:off x="749808" y="3739896"/>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Keyboard or status fails</a:t>
            </a:r>
            <a:endParaRPr lang="en-US" sz="1050" dirty="0"/>
          </a:p>
        </p:txBody>
      </p:sp>
      <p:sp>
        <p:nvSpPr>
          <p:cNvPr id="34" name="Shape 32">
            <a:extLst>
              <a:ext uri="{C183D7F6-B498-43B3-948B-1728B52AA6E4}">
                <adec:decorative xmlns:adec="http://schemas.microsoft.com/office/drawing/2017/decorative" val="1"/>
              </a:ext>
            </a:extLst>
          </p:cNvPr>
          <p:cNvSpPr/>
          <p:nvPr/>
        </p:nvSpPr>
        <p:spPr>
          <a:xfrm>
            <a:off x="3886200" y="3721608"/>
            <a:ext cx="2743200" cy="457200"/>
          </a:xfrm>
          <a:prstGeom prst="rect">
            <a:avLst/>
          </a:prstGeom>
          <a:solidFill>
            <a:srgbClr val="FFFFFF"/>
          </a:solidFill>
          <a:ln w="12700">
            <a:solidFill>
              <a:srgbClr val="D8DCE4"/>
            </a:solidFill>
            <a:prstDash val="solid"/>
          </a:ln>
        </p:spPr>
        <p:txBody>
          <a:bodyPr/>
          <a:lstStyle/>
          <a:p>
            <a:endParaRPr lang="en-US"/>
          </a:p>
        </p:txBody>
      </p:sp>
      <p:sp>
        <p:nvSpPr>
          <p:cNvPr id="35" name="Text 33"/>
          <p:cNvSpPr/>
          <p:nvPr/>
        </p:nvSpPr>
        <p:spPr>
          <a:xfrm>
            <a:off x="3995928" y="3739896"/>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36" name="Shape 34">
            <a:extLst>
              <a:ext uri="{C183D7F6-B498-43B3-948B-1728B52AA6E4}">
                <adec:decorative xmlns:adec="http://schemas.microsoft.com/office/drawing/2017/decorative" val="1"/>
              </a:ext>
            </a:extLst>
          </p:cNvPr>
          <p:cNvSpPr/>
          <p:nvPr/>
        </p:nvSpPr>
        <p:spPr>
          <a:xfrm>
            <a:off x="6812280" y="3721608"/>
            <a:ext cx="4709160" cy="457200"/>
          </a:xfrm>
          <a:prstGeom prst="rect">
            <a:avLst/>
          </a:prstGeom>
          <a:solidFill>
            <a:srgbClr val="FFFFFF"/>
          </a:solidFill>
          <a:ln w="12700">
            <a:solidFill>
              <a:srgbClr val="D8DCE4"/>
            </a:solidFill>
            <a:prstDash val="solid"/>
          </a:ln>
        </p:spPr>
        <p:txBody>
          <a:bodyPr/>
          <a:lstStyle/>
          <a:p>
            <a:endParaRPr lang="en-US"/>
          </a:p>
        </p:txBody>
      </p:sp>
      <p:sp>
        <p:nvSpPr>
          <p:cNvPr id="37" name="Text 35"/>
          <p:cNvSpPr/>
          <p:nvPr/>
        </p:nvSpPr>
        <p:spPr>
          <a:xfrm>
            <a:off x="6922008" y="3739896"/>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Repair focus order, controls, labels, and announced state.</a:t>
            </a:r>
            <a:endParaRPr lang="en-US" sz="940" dirty="0"/>
          </a:p>
        </p:txBody>
      </p:sp>
      <p:sp>
        <p:nvSpPr>
          <p:cNvPr id="38" name="Shape 36">
            <a:extLst>
              <a:ext uri="{C183D7F6-B498-43B3-948B-1728B52AA6E4}">
                <adec:decorative xmlns:adec="http://schemas.microsoft.com/office/drawing/2017/decorative" val="1"/>
              </a:ext>
            </a:extLst>
          </p:cNvPr>
          <p:cNvSpPr/>
          <p:nvPr/>
        </p:nvSpPr>
        <p:spPr>
          <a:xfrm>
            <a:off x="640080" y="4197096"/>
            <a:ext cx="3063240" cy="457200"/>
          </a:xfrm>
          <a:prstGeom prst="rect">
            <a:avLst/>
          </a:prstGeom>
          <a:solidFill>
            <a:srgbClr val="F5F6F8"/>
          </a:solidFill>
          <a:ln w="12700">
            <a:solidFill>
              <a:srgbClr val="D8DCE4"/>
            </a:solidFill>
            <a:prstDash val="solid"/>
          </a:ln>
        </p:spPr>
        <p:txBody>
          <a:bodyPr/>
          <a:lstStyle/>
          <a:p>
            <a:endParaRPr lang="en-US"/>
          </a:p>
        </p:txBody>
      </p:sp>
      <p:sp>
        <p:nvSpPr>
          <p:cNvPr id="39" name="Text 37"/>
          <p:cNvSpPr/>
          <p:nvPr/>
        </p:nvSpPr>
        <p:spPr>
          <a:xfrm>
            <a:off x="749808" y="4215384"/>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SCORM or asset path breaks</a:t>
            </a:r>
            <a:endParaRPr lang="en-US" sz="1050" dirty="0"/>
          </a:p>
        </p:txBody>
      </p:sp>
      <p:sp>
        <p:nvSpPr>
          <p:cNvPr id="40" name="Shape 38">
            <a:extLst>
              <a:ext uri="{C183D7F6-B498-43B3-948B-1728B52AA6E4}">
                <adec:decorative xmlns:adec="http://schemas.microsoft.com/office/drawing/2017/decorative" val="1"/>
              </a:ext>
            </a:extLst>
          </p:cNvPr>
          <p:cNvSpPr/>
          <p:nvPr/>
        </p:nvSpPr>
        <p:spPr>
          <a:xfrm>
            <a:off x="3886200" y="4197096"/>
            <a:ext cx="2743200" cy="457200"/>
          </a:xfrm>
          <a:prstGeom prst="rect">
            <a:avLst/>
          </a:prstGeom>
          <a:solidFill>
            <a:srgbClr val="F5F6F8"/>
          </a:solidFill>
          <a:ln w="12700">
            <a:solidFill>
              <a:srgbClr val="D8DCE4"/>
            </a:solidFill>
            <a:prstDash val="solid"/>
          </a:ln>
        </p:spPr>
        <p:txBody>
          <a:bodyPr/>
          <a:lstStyle/>
          <a:p>
            <a:endParaRPr lang="en-US"/>
          </a:p>
        </p:txBody>
      </p:sp>
      <p:sp>
        <p:nvSpPr>
          <p:cNvPr id="41" name="Text 39"/>
          <p:cNvSpPr/>
          <p:nvPr/>
        </p:nvSpPr>
        <p:spPr>
          <a:xfrm>
            <a:off x="3995928" y="4215384"/>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42" name="Shape 40">
            <a:extLst>
              <a:ext uri="{C183D7F6-B498-43B3-948B-1728B52AA6E4}">
                <adec:decorative xmlns:adec="http://schemas.microsoft.com/office/drawing/2017/decorative" val="1"/>
              </a:ext>
            </a:extLst>
          </p:cNvPr>
          <p:cNvSpPr/>
          <p:nvPr/>
        </p:nvSpPr>
        <p:spPr>
          <a:xfrm>
            <a:off x="6812280" y="4197096"/>
            <a:ext cx="4709160" cy="457200"/>
          </a:xfrm>
          <a:prstGeom prst="rect">
            <a:avLst/>
          </a:prstGeom>
          <a:solidFill>
            <a:srgbClr val="F5F6F8"/>
          </a:solidFill>
          <a:ln w="12700">
            <a:solidFill>
              <a:srgbClr val="D8DCE4"/>
            </a:solidFill>
            <a:prstDash val="solid"/>
          </a:ln>
        </p:spPr>
        <p:txBody>
          <a:bodyPr/>
          <a:lstStyle/>
          <a:p>
            <a:endParaRPr lang="en-US"/>
          </a:p>
        </p:txBody>
      </p:sp>
      <p:sp>
        <p:nvSpPr>
          <p:cNvPr id="43" name="Text 41"/>
          <p:cNvSpPr/>
          <p:nvPr/>
        </p:nvSpPr>
        <p:spPr>
          <a:xfrm>
            <a:off x="6922008" y="4215384"/>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Check manifest, zip root, launch file, and relative paths.</a:t>
            </a:r>
            <a:endParaRPr lang="en-US" sz="940" dirty="0"/>
          </a:p>
        </p:txBody>
      </p:sp>
      <p:sp>
        <p:nvSpPr>
          <p:cNvPr id="44" name="Shape 42">
            <a:extLst>
              <a:ext uri="{C183D7F6-B498-43B3-948B-1728B52AA6E4}">
                <adec:decorative xmlns:adec="http://schemas.microsoft.com/office/drawing/2017/decorative" val="1"/>
              </a:ext>
            </a:extLst>
          </p:cNvPr>
          <p:cNvSpPr/>
          <p:nvPr/>
        </p:nvSpPr>
        <p:spPr>
          <a:xfrm>
            <a:off x="640080" y="4672584"/>
            <a:ext cx="3063240" cy="457200"/>
          </a:xfrm>
          <a:prstGeom prst="rect">
            <a:avLst/>
          </a:prstGeom>
          <a:solidFill>
            <a:srgbClr val="FFFFFF"/>
          </a:solidFill>
          <a:ln w="12700">
            <a:solidFill>
              <a:srgbClr val="D8DCE4"/>
            </a:solidFill>
            <a:prstDash val="solid"/>
          </a:ln>
        </p:spPr>
        <p:txBody>
          <a:bodyPr/>
          <a:lstStyle/>
          <a:p>
            <a:endParaRPr lang="en-US"/>
          </a:p>
        </p:txBody>
      </p:sp>
      <p:sp>
        <p:nvSpPr>
          <p:cNvPr id="45" name="Text 43"/>
          <p:cNvSpPr/>
          <p:nvPr/>
        </p:nvSpPr>
        <p:spPr>
          <a:xfrm>
            <a:off x="749808" y="4690872"/>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Mobile or reset behavior fails</a:t>
            </a:r>
            <a:endParaRPr lang="en-US" sz="1050" dirty="0"/>
          </a:p>
        </p:txBody>
      </p:sp>
      <p:sp>
        <p:nvSpPr>
          <p:cNvPr id="46" name="Shape 44">
            <a:extLst>
              <a:ext uri="{C183D7F6-B498-43B3-948B-1728B52AA6E4}">
                <adec:decorative xmlns:adec="http://schemas.microsoft.com/office/drawing/2017/decorative" val="1"/>
              </a:ext>
            </a:extLst>
          </p:cNvPr>
          <p:cNvSpPr/>
          <p:nvPr/>
        </p:nvSpPr>
        <p:spPr>
          <a:xfrm>
            <a:off x="3886200" y="4672584"/>
            <a:ext cx="2743200" cy="457200"/>
          </a:xfrm>
          <a:prstGeom prst="rect">
            <a:avLst/>
          </a:prstGeom>
          <a:solidFill>
            <a:srgbClr val="FFFFFF"/>
          </a:solidFill>
          <a:ln w="12700">
            <a:solidFill>
              <a:srgbClr val="D8DCE4"/>
            </a:solidFill>
            <a:prstDash val="solid"/>
          </a:ln>
        </p:spPr>
        <p:txBody>
          <a:bodyPr/>
          <a:lstStyle/>
          <a:p>
            <a:endParaRPr lang="en-US"/>
          </a:p>
        </p:txBody>
      </p:sp>
      <p:sp>
        <p:nvSpPr>
          <p:cNvPr id="47" name="Text 45"/>
          <p:cNvSpPr/>
          <p:nvPr/>
        </p:nvSpPr>
        <p:spPr>
          <a:xfrm>
            <a:off x="3995928" y="4690872"/>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Artifact Specification</a:t>
            </a:r>
            <a:endParaRPr lang="en-US" sz="940" dirty="0"/>
          </a:p>
        </p:txBody>
      </p:sp>
      <p:sp>
        <p:nvSpPr>
          <p:cNvPr id="48" name="Shape 46">
            <a:extLst>
              <a:ext uri="{C183D7F6-B498-43B3-948B-1728B52AA6E4}">
                <adec:decorative xmlns:adec="http://schemas.microsoft.com/office/drawing/2017/decorative" val="1"/>
              </a:ext>
            </a:extLst>
          </p:cNvPr>
          <p:cNvSpPr/>
          <p:nvPr/>
        </p:nvSpPr>
        <p:spPr>
          <a:xfrm>
            <a:off x="6812280" y="4672584"/>
            <a:ext cx="4709160" cy="457200"/>
          </a:xfrm>
          <a:prstGeom prst="rect">
            <a:avLst/>
          </a:prstGeom>
          <a:solidFill>
            <a:srgbClr val="FFFFFF"/>
          </a:solidFill>
          <a:ln w="12700">
            <a:solidFill>
              <a:srgbClr val="D8DCE4"/>
            </a:solidFill>
            <a:prstDash val="solid"/>
          </a:ln>
        </p:spPr>
        <p:txBody>
          <a:bodyPr/>
          <a:lstStyle/>
          <a:p>
            <a:endParaRPr lang="en-US"/>
          </a:p>
        </p:txBody>
      </p:sp>
      <p:sp>
        <p:nvSpPr>
          <p:cNvPr id="49" name="Text 47"/>
          <p:cNvSpPr/>
          <p:nvPr/>
        </p:nvSpPr>
        <p:spPr>
          <a:xfrm>
            <a:off x="6922008" y="4690872"/>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Test required viewports, state, reset, and completion behavior.</a:t>
            </a:r>
            <a:endParaRPr lang="en-US" sz="940" dirty="0"/>
          </a:p>
        </p:txBody>
      </p:sp>
      <p:sp>
        <p:nvSpPr>
          <p:cNvPr id="50" name="Shape 48">
            <a:extLst>
              <a:ext uri="{C183D7F6-B498-43B3-948B-1728B52AA6E4}">
                <adec:decorative xmlns:adec="http://schemas.microsoft.com/office/drawing/2017/decorative" val="1"/>
              </a:ext>
            </a:extLst>
          </p:cNvPr>
          <p:cNvSpPr/>
          <p:nvPr/>
        </p:nvSpPr>
        <p:spPr>
          <a:xfrm>
            <a:off x="640080" y="5148072"/>
            <a:ext cx="3063240" cy="457200"/>
          </a:xfrm>
          <a:prstGeom prst="rect">
            <a:avLst/>
          </a:prstGeom>
          <a:solidFill>
            <a:srgbClr val="F5F6F8"/>
          </a:solidFill>
          <a:ln w="12700">
            <a:solidFill>
              <a:srgbClr val="D8DCE4"/>
            </a:solidFill>
            <a:prstDash val="solid"/>
          </a:ln>
        </p:spPr>
        <p:txBody>
          <a:bodyPr/>
          <a:lstStyle/>
          <a:p>
            <a:endParaRPr lang="en-US"/>
          </a:p>
        </p:txBody>
      </p:sp>
      <p:sp>
        <p:nvSpPr>
          <p:cNvPr id="51" name="Text 49"/>
          <p:cNvSpPr/>
          <p:nvPr/>
        </p:nvSpPr>
        <p:spPr>
          <a:xfrm>
            <a:off x="749808" y="5166360"/>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Prompt drifts or forgets</a:t>
            </a:r>
            <a:endParaRPr lang="en-US" sz="1050" dirty="0"/>
          </a:p>
        </p:txBody>
      </p:sp>
      <p:sp>
        <p:nvSpPr>
          <p:cNvPr id="52" name="Shape 50">
            <a:extLst>
              <a:ext uri="{C183D7F6-B498-43B3-948B-1728B52AA6E4}">
                <adec:decorative xmlns:adec="http://schemas.microsoft.com/office/drawing/2017/decorative" val="1"/>
              </a:ext>
            </a:extLst>
          </p:cNvPr>
          <p:cNvSpPr/>
          <p:nvPr/>
        </p:nvSpPr>
        <p:spPr>
          <a:xfrm>
            <a:off x="3886200" y="5148072"/>
            <a:ext cx="2743200" cy="457200"/>
          </a:xfrm>
          <a:prstGeom prst="rect">
            <a:avLst/>
          </a:prstGeom>
          <a:solidFill>
            <a:srgbClr val="F5F6F8"/>
          </a:solidFill>
          <a:ln w="12700">
            <a:solidFill>
              <a:srgbClr val="D8DCE4"/>
            </a:solidFill>
            <a:prstDash val="solid"/>
          </a:ln>
        </p:spPr>
        <p:txBody>
          <a:bodyPr/>
          <a:lstStyle/>
          <a:p>
            <a:endParaRPr lang="en-US"/>
          </a:p>
        </p:txBody>
      </p:sp>
      <p:sp>
        <p:nvSpPr>
          <p:cNvPr id="53" name="Text 51"/>
          <p:cNvSpPr/>
          <p:nvPr/>
        </p:nvSpPr>
        <p:spPr>
          <a:xfrm>
            <a:off x="3995928" y="5166360"/>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Four-category record</a:t>
            </a:r>
            <a:endParaRPr lang="en-US" sz="940" dirty="0"/>
          </a:p>
        </p:txBody>
      </p:sp>
      <p:sp>
        <p:nvSpPr>
          <p:cNvPr id="54" name="Shape 52">
            <a:extLst>
              <a:ext uri="{C183D7F6-B498-43B3-948B-1728B52AA6E4}">
                <adec:decorative xmlns:adec="http://schemas.microsoft.com/office/drawing/2017/decorative" val="1"/>
              </a:ext>
            </a:extLst>
          </p:cNvPr>
          <p:cNvSpPr/>
          <p:nvPr/>
        </p:nvSpPr>
        <p:spPr>
          <a:xfrm>
            <a:off x="6812280" y="5148072"/>
            <a:ext cx="4709160" cy="457200"/>
          </a:xfrm>
          <a:prstGeom prst="rect">
            <a:avLst/>
          </a:prstGeom>
          <a:solidFill>
            <a:srgbClr val="F5F6F8"/>
          </a:solidFill>
          <a:ln w="12700">
            <a:solidFill>
              <a:srgbClr val="D8DCE4"/>
            </a:solidFill>
            <a:prstDash val="solid"/>
          </a:ln>
        </p:spPr>
        <p:txBody>
          <a:bodyPr/>
          <a:lstStyle/>
          <a:p>
            <a:endParaRPr lang="en-US"/>
          </a:p>
        </p:txBody>
      </p:sp>
      <p:sp>
        <p:nvSpPr>
          <p:cNvPr id="55" name="Text 53"/>
          <p:cNvSpPr/>
          <p:nvPr/>
        </p:nvSpPr>
        <p:spPr>
          <a:xfrm>
            <a:off x="6922008" y="5166360"/>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Reload the durable design record and the current verified build.</a:t>
            </a:r>
            <a:endParaRPr lang="en-US" sz="940" dirty="0"/>
          </a:p>
        </p:txBody>
      </p:sp>
      <p:sp>
        <p:nvSpPr>
          <p:cNvPr id="56" name="Shape 54">
            <a:extLst>
              <a:ext uri="{C183D7F6-B498-43B3-948B-1728B52AA6E4}">
                <adec:decorative xmlns:adec="http://schemas.microsoft.com/office/drawing/2017/decorative" val="1"/>
              </a:ext>
            </a:extLst>
          </p:cNvPr>
          <p:cNvSpPr/>
          <p:nvPr/>
        </p:nvSpPr>
        <p:spPr>
          <a:xfrm>
            <a:off x="640080" y="5623560"/>
            <a:ext cx="3063240" cy="457200"/>
          </a:xfrm>
          <a:prstGeom prst="rect">
            <a:avLst/>
          </a:prstGeom>
          <a:solidFill>
            <a:srgbClr val="FFFFFF"/>
          </a:solidFill>
          <a:ln w="12700">
            <a:solidFill>
              <a:srgbClr val="D8DCE4"/>
            </a:solidFill>
            <a:prstDash val="solid"/>
          </a:ln>
        </p:spPr>
        <p:txBody>
          <a:bodyPr/>
          <a:lstStyle/>
          <a:p>
            <a:endParaRPr lang="en-US"/>
          </a:p>
        </p:txBody>
      </p:sp>
      <p:sp>
        <p:nvSpPr>
          <p:cNvPr id="57" name="Text 55"/>
          <p:cNvSpPr/>
          <p:nvPr/>
        </p:nvSpPr>
        <p:spPr>
          <a:xfrm>
            <a:off x="749808" y="5641848"/>
            <a:ext cx="2843784" cy="420624"/>
          </a:xfrm>
          <a:prstGeom prst="rect">
            <a:avLst/>
          </a:prstGeom>
          <a:noFill/>
          <a:ln/>
        </p:spPr>
        <p:txBody>
          <a:bodyPr wrap="square" lIns="0" tIns="0" rIns="0" bIns="0" rtlCol="0" anchor="ctr">
            <a:normAutofit/>
          </a:bodyPr>
          <a:lstStyle/>
          <a:p>
            <a:pPr marL="0" indent="0">
              <a:buNone/>
            </a:pPr>
            <a:r>
              <a:rPr lang="en-US" sz="1050" b="1" dirty="0">
                <a:solidFill>
                  <a:srgbClr val="202532"/>
                </a:solidFill>
                <a:latin typeface="Aptos" pitchFamily="34" charset="0"/>
                <a:ea typeface="Aptos" pitchFamily="34" charset="-122"/>
                <a:cs typeface="Aptos" pitchFamily="34" charset="-120"/>
              </a:rPr>
              <a:t>Implementation is too complex</a:t>
            </a:r>
            <a:endParaRPr lang="en-US" sz="1050" dirty="0"/>
          </a:p>
        </p:txBody>
      </p:sp>
      <p:sp>
        <p:nvSpPr>
          <p:cNvPr id="58" name="Shape 56">
            <a:extLst>
              <a:ext uri="{C183D7F6-B498-43B3-948B-1728B52AA6E4}">
                <adec:decorative xmlns:adec="http://schemas.microsoft.com/office/drawing/2017/decorative" val="1"/>
              </a:ext>
            </a:extLst>
          </p:cNvPr>
          <p:cNvSpPr/>
          <p:nvPr/>
        </p:nvSpPr>
        <p:spPr>
          <a:xfrm>
            <a:off x="3886200" y="5623560"/>
            <a:ext cx="2743200" cy="457200"/>
          </a:xfrm>
          <a:prstGeom prst="rect">
            <a:avLst/>
          </a:prstGeom>
          <a:solidFill>
            <a:srgbClr val="FFFFFF"/>
          </a:solidFill>
          <a:ln w="12700">
            <a:solidFill>
              <a:srgbClr val="D8DCE4"/>
            </a:solidFill>
            <a:prstDash val="solid"/>
          </a:ln>
        </p:spPr>
        <p:txBody>
          <a:bodyPr/>
          <a:lstStyle/>
          <a:p>
            <a:endParaRPr lang="en-US"/>
          </a:p>
        </p:txBody>
      </p:sp>
      <p:sp>
        <p:nvSpPr>
          <p:cNvPr id="59" name="Text 57"/>
          <p:cNvSpPr/>
          <p:nvPr/>
        </p:nvSpPr>
        <p:spPr>
          <a:xfrm>
            <a:off x="3995928" y="5641848"/>
            <a:ext cx="2523744" cy="420624"/>
          </a:xfrm>
          <a:prstGeom prst="rect">
            <a:avLst/>
          </a:prstGeom>
          <a:noFill/>
          <a:ln/>
        </p:spPr>
        <p:txBody>
          <a:bodyPr wrap="square" lIns="0" tIns="0" rIns="0" bIns="0" rtlCol="0" anchor="ctr">
            <a:normAutofit/>
          </a:bodyPr>
          <a:lstStyle/>
          <a:p>
            <a:pPr marL="0" indent="0">
              <a:buNone/>
            </a:pPr>
            <a:r>
              <a:rPr lang="en-US" sz="940" dirty="0">
                <a:solidFill>
                  <a:srgbClr val="0B7049"/>
                </a:solidFill>
                <a:latin typeface="Aptos" pitchFamily="34" charset="0"/>
                <a:ea typeface="Aptos" pitchFamily="34" charset="-122"/>
                <a:cs typeface="Aptos" pitchFamily="34" charset="-120"/>
              </a:rPr>
              <a:t>Interaction + Artifact</a:t>
            </a:r>
            <a:endParaRPr lang="en-US" sz="940" dirty="0"/>
          </a:p>
        </p:txBody>
      </p:sp>
      <p:sp>
        <p:nvSpPr>
          <p:cNvPr id="60" name="Shape 58">
            <a:extLst>
              <a:ext uri="{C183D7F6-B498-43B3-948B-1728B52AA6E4}">
                <adec:decorative xmlns:adec="http://schemas.microsoft.com/office/drawing/2017/decorative" val="1"/>
              </a:ext>
            </a:extLst>
          </p:cNvPr>
          <p:cNvSpPr/>
          <p:nvPr/>
        </p:nvSpPr>
        <p:spPr>
          <a:xfrm>
            <a:off x="6812280" y="5623560"/>
            <a:ext cx="4709160" cy="457200"/>
          </a:xfrm>
          <a:prstGeom prst="rect">
            <a:avLst/>
          </a:prstGeom>
          <a:solidFill>
            <a:srgbClr val="FFFFFF"/>
          </a:solidFill>
          <a:ln w="12700">
            <a:solidFill>
              <a:srgbClr val="D8DCE4"/>
            </a:solidFill>
            <a:prstDash val="solid"/>
          </a:ln>
        </p:spPr>
        <p:txBody>
          <a:bodyPr/>
          <a:lstStyle/>
          <a:p>
            <a:endParaRPr lang="en-US"/>
          </a:p>
        </p:txBody>
      </p:sp>
      <p:sp>
        <p:nvSpPr>
          <p:cNvPr id="61" name="Text 59"/>
          <p:cNvSpPr/>
          <p:nvPr/>
        </p:nvSpPr>
        <p:spPr>
          <a:xfrm>
            <a:off x="6922008" y="5641848"/>
            <a:ext cx="4489704" cy="420624"/>
          </a:xfrm>
          <a:prstGeom prst="rect">
            <a:avLst/>
          </a:prstGeom>
          <a:noFill/>
          <a:ln/>
        </p:spPr>
        <p:txBody>
          <a:bodyPr wrap="square" lIns="0" tIns="0" rIns="0" bIns="0" rtlCol="0" anchor="ctr">
            <a:normAutofit/>
          </a:bodyPr>
          <a:lstStyle/>
          <a:p>
            <a:pPr marL="0" indent="0">
              <a:buNone/>
            </a:pPr>
            <a:r>
              <a:rPr lang="en-US" sz="940" dirty="0">
                <a:solidFill>
                  <a:srgbClr val="202532"/>
                </a:solidFill>
                <a:latin typeface="Aptos" pitchFamily="34" charset="0"/>
                <a:ea typeface="Aptos" pitchFamily="34" charset="-122"/>
                <a:cs typeface="Aptos" pitchFamily="34" charset="-120"/>
              </a:rPr>
              <a:t>Reduce to the smallest convincing learner action and retest.</a:t>
            </a:r>
            <a:endParaRPr lang="en-US" sz="94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6">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Intentional placement completes the synthetic object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Implementation does not end when the interactive works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31520" y="1737360"/>
            <a:ext cx="4297680" cy="4480560"/>
          </a:xfrm>
          <a:prstGeom prst="roundRect">
            <a:avLst>
              <a:gd name="adj" fmla="val 2128"/>
            </a:avLst>
          </a:prstGeom>
          <a:solidFill>
            <a:srgbClr val="17254E"/>
          </a:solidFill>
          <a:ln w="12700">
            <a:solidFill>
              <a:srgbClr val="17254E"/>
            </a:solidFill>
            <a:prstDash val="solid"/>
          </a:ln>
        </p:spPr>
        <p:txBody>
          <a:bodyPr/>
          <a:lstStyle/>
          <a:p>
            <a:endParaRPr lang="en-US"/>
          </a:p>
        </p:txBody>
      </p:sp>
      <p:sp>
        <p:nvSpPr>
          <p:cNvPr id="9" name="Text 7"/>
          <p:cNvSpPr/>
          <p:nvPr/>
        </p:nvSpPr>
        <p:spPr>
          <a:xfrm>
            <a:off x="1170432" y="2103120"/>
            <a:ext cx="3429000" cy="347472"/>
          </a:xfrm>
          <a:prstGeom prst="rect">
            <a:avLst/>
          </a:prstGeom>
          <a:noFill/>
          <a:ln/>
        </p:spPr>
        <p:txBody>
          <a:bodyPr wrap="square" lIns="0" tIns="0" rIns="0" bIns="0" rtlCol="0" anchor="ctr">
            <a:normAutofit/>
          </a:bodyPr>
          <a:lstStyle/>
          <a:p>
            <a:pPr marL="0" indent="0" algn="ctr">
              <a:buNone/>
            </a:pPr>
            <a:r>
              <a:rPr lang="en-US" sz="1200" b="1" dirty="0">
                <a:solidFill>
                  <a:srgbClr val="D5B979"/>
                </a:solidFill>
                <a:latin typeface="Aptos" pitchFamily="34" charset="0"/>
                <a:ea typeface="Aptos" pitchFamily="34" charset="-122"/>
                <a:cs typeface="Aptos" pitchFamily="34" charset="-120"/>
              </a:rPr>
              <a:t>THE INTERACTIVE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1755648" y="2743200"/>
            <a:ext cx="2240280" cy="2240280"/>
          </a:xfrm>
          <a:prstGeom prst="ellipse">
            <a:avLst/>
          </a:prstGeom>
          <a:solidFill>
            <a:srgbClr val="149966"/>
          </a:solidFill>
          <a:ln w="12700">
            <a:solidFill>
              <a:srgbClr val="149966"/>
            </a:solidFill>
            <a:prstDash val="solid"/>
          </a:ln>
        </p:spPr>
        <p:txBody>
          <a:bodyPr/>
          <a:lstStyle/>
          <a:p>
            <a:endParaRPr lang="en-US"/>
          </a:p>
        </p:txBody>
      </p:sp>
      <p:sp>
        <p:nvSpPr>
          <p:cNvPr id="11" name="Text 9"/>
          <p:cNvSpPr/>
          <p:nvPr/>
        </p:nvSpPr>
        <p:spPr>
          <a:xfrm>
            <a:off x="1984248" y="3154680"/>
            <a:ext cx="1783080" cy="117043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ONE COMPONENT</a:t>
            </a:r>
            <a:endParaRPr lang="en-US" sz="1400" dirty="0"/>
          </a:p>
          <a:p>
            <a:pPr marL="0" indent="0" algn="ctr">
              <a:buNone/>
            </a:pPr>
            <a:r>
              <a:rPr lang="en-US" sz="1400" b="1" dirty="0">
                <a:solidFill>
                  <a:srgbClr val="FFFFFF"/>
                </a:solidFill>
                <a:latin typeface="Aptos" pitchFamily="34" charset="0"/>
                <a:ea typeface="Aptos" pitchFamily="34" charset="-122"/>
                <a:cs typeface="Aptos" pitchFamily="34" charset="-120"/>
              </a:rPr>
              <a:t>OF THE</a:t>
            </a:r>
            <a:endParaRPr lang="en-US" sz="1400" dirty="0"/>
          </a:p>
          <a:p>
            <a:pPr marL="0" indent="0" algn="ctr">
              <a:buNone/>
            </a:pPr>
            <a:r>
              <a:rPr lang="en-US" sz="1400" b="1" dirty="0">
                <a:solidFill>
                  <a:srgbClr val="FFFFFF"/>
                </a:solidFill>
                <a:latin typeface="Aptos" pitchFamily="34" charset="0"/>
                <a:ea typeface="Aptos" pitchFamily="34" charset="-122"/>
                <a:cs typeface="Aptos" pitchFamily="34" charset="-120"/>
              </a:rPr>
              <a:t>SYNTHETIC OBJECT</a:t>
            </a:r>
            <a:endParaRPr lang="en-US" sz="1400" dirty="0"/>
          </a:p>
        </p:txBody>
      </p:sp>
      <p:sp>
        <p:nvSpPr>
          <p:cNvPr id="12" name="Text 10"/>
          <p:cNvSpPr/>
          <p:nvPr/>
        </p:nvSpPr>
        <p:spPr>
          <a:xfrm>
            <a:off x="1170432" y="5303520"/>
            <a:ext cx="3429000" cy="594360"/>
          </a:xfrm>
          <a:prstGeom prst="rect">
            <a:avLst/>
          </a:prstGeom>
          <a:noFill/>
          <a:ln/>
        </p:spPr>
        <p:txBody>
          <a:bodyPr wrap="square" lIns="0" tIns="0" rIns="0" bIns="0" rtlCol="0" anchor="ctr">
            <a:normAutofit/>
          </a:bodyPr>
          <a:lstStyle/>
          <a:p>
            <a:pPr marL="0" indent="0" algn="ctr">
              <a:buNone/>
            </a:pPr>
            <a:r>
              <a:rPr lang="en-US" sz="1300" dirty="0">
                <a:solidFill>
                  <a:srgbClr val="DCE4F2"/>
                </a:solidFill>
                <a:latin typeface="Aptos" pitchFamily="34" charset="0"/>
                <a:ea typeface="Aptos" pitchFamily="34" charset="-122"/>
                <a:cs typeface="Aptos" pitchFamily="34" charset="-120"/>
              </a:rPr>
              <a:t>Canvas provides framing, instructions, sequencing, reflection, assessment, and continuation.</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5394960" y="1737360"/>
            <a:ext cx="6035040" cy="4480560"/>
          </a:xfrm>
          <a:prstGeom prst="roundRect">
            <a:avLst>
              <a:gd name="adj" fmla="val 1633"/>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5715000" y="2011680"/>
            <a:ext cx="210312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5" name="Text 13"/>
          <p:cNvSpPr/>
          <p:nvPr/>
        </p:nvSpPr>
        <p:spPr>
          <a:xfrm>
            <a:off x="5824728" y="2011680"/>
            <a:ext cx="188366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PLACEMENT QUESTIONS</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5715000" y="2770632"/>
            <a:ext cx="310896" cy="310896"/>
          </a:xfrm>
          <a:prstGeom prst="ellipse">
            <a:avLst/>
          </a:prstGeom>
          <a:solidFill>
            <a:srgbClr val="149966"/>
          </a:solidFill>
          <a:ln w="12700">
            <a:solidFill>
              <a:srgbClr val="149966"/>
            </a:solidFill>
            <a:prstDash val="solid"/>
          </a:ln>
        </p:spPr>
        <p:txBody>
          <a:bodyPr/>
          <a:lstStyle/>
          <a:p>
            <a:endParaRPr lang="en-US"/>
          </a:p>
        </p:txBody>
      </p:sp>
      <p:sp>
        <p:nvSpPr>
          <p:cNvPr id="17" name="Text 15"/>
          <p:cNvSpPr/>
          <p:nvPr/>
        </p:nvSpPr>
        <p:spPr>
          <a:xfrm>
            <a:off x="5715000" y="2770632"/>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18" name="Text 16"/>
          <p:cNvSpPr/>
          <p:nvPr/>
        </p:nvSpPr>
        <p:spPr>
          <a:xfrm>
            <a:off x="6172200" y="2706624"/>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Where does it appear?</a:t>
            </a:r>
            <a:endParaRPr lang="en-US" sz="1150" dirty="0"/>
          </a:p>
        </p:txBody>
      </p:sp>
      <p:sp>
        <p:nvSpPr>
          <p:cNvPr id="19" name="Shape 17">
            <a:extLst>
              <a:ext uri="{C183D7F6-B498-43B3-948B-1728B52AA6E4}">
                <adec:decorative xmlns:adec="http://schemas.microsoft.com/office/drawing/2017/decorative" val="1"/>
              </a:ext>
            </a:extLst>
          </p:cNvPr>
          <p:cNvSpPr/>
          <p:nvPr/>
        </p:nvSpPr>
        <p:spPr>
          <a:xfrm>
            <a:off x="8503920" y="2770632"/>
            <a:ext cx="310896" cy="31089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8503920" y="2770632"/>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2</a:t>
            </a:r>
            <a:endParaRPr lang="en-US" sz="800" dirty="0"/>
          </a:p>
        </p:txBody>
      </p:sp>
      <p:sp>
        <p:nvSpPr>
          <p:cNvPr id="21" name="Text 19"/>
          <p:cNvSpPr/>
          <p:nvPr/>
        </p:nvSpPr>
        <p:spPr>
          <a:xfrm>
            <a:off x="8961120" y="2706624"/>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introduces it?</a:t>
            </a:r>
            <a:endParaRPr lang="en-US" sz="1150" dirty="0"/>
          </a:p>
        </p:txBody>
      </p:sp>
      <p:sp>
        <p:nvSpPr>
          <p:cNvPr id="22" name="Shape 20">
            <a:extLst>
              <a:ext uri="{C183D7F6-B498-43B3-948B-1728B52AA6E4}">
                <adec:decorative xmlns:adec="http://schemas.microsoft.com/office/drawing/2017/decorative" val="1"/>
              </a:ext>
            </a:extLst>
          </p:cNvPr>
          <p:cNvSpPr/>
          <p:nvPr/>
        </p:nvSpPr>
        <p:spPr>
          <a:xfrm>
            <a:off x="5715000" y="3429000"/>
            <a:ext cx="310896" cy="310896"/>
          </a:xfrm>
          <a:prstGeom prst="ellipse">
            <a:avLst/>
          </a:prstGeom>
          <a:solidFill>
            <a:srgbClr val="149966"/>
          </a:solidFill>
          <a:ln w="12700">
            <a:solidFill>
              <a:srgbClr val="149966"/>
            </a:solidFill>
            <a:prstDash val="solid"/>
          </a:ln>
        </p:spPr>
        <p:txBody>
          <a:bodyPr/>
          <a:lstStyle/>
          <a:p>
            <a:endParaRPr lang="en-US"/>
          </a:p>
        </p:txBody>
      </p:sp>
      <p:sp>
        <p:nvSpPr>
          <p:cNvPr id="23" name="Text 21"/>
          <p:cNvSpPr/>
          <p:nvPr/>
        </p:nvSpPr>
        <p:spPr>
          <a:xfrm>
            <a:off x="5715000" y="3429000"/>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4" name="Text 22"/>
          <p:cNvSpPr/>
          <p:nvPr/>
        </p:nvSpPr>
        <p:spPr>
          <a:xfrm>
            <a:off x="6172200" y="3364992"/>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instructions are needed?</a:t>
            </a:r>
            <a:endParaRPr lang="en-US" sz="1150" dirty="0"/>
          </a:p>
        </p:txBody>
      </p:sp>
      <p:sp>
        <p:nvSpPr>
          <p:cNvPr id="25" name="Shape 23">
            <a:extLst>
              <a:ext uri="{C183D7F6-B498-43B3-948B-1728B52AA6E4}">
                <adec:decorative xmlns:adec="http://schemas.microsoft.com/office/drawing/2017/decorative" val="1"/>
              </a:ext>
            </a:extLst>
          </p:cNvPr>
          <p:cNvSpPr/>
          <p:nvPr/>
        </p:nvSpPr>
        <p:spPr>
          <a:xfrm>
            <a:off x="8503920" y="3429000"/>
            <a:ext cx="310896" cy="310896"/>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8503920" y="3429000"/>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4</a:t>
            </a:r>
            <a:endParaRPr lang="en-US" sz="800" dirty="0"/>
          </a:p>
        </p:txBody>
      </p:sp>
      <p:sp>
        <p:nvSpPr>
          <p:cNvPr id="27" name="Text 25"/>
          <p:cNvSpPr/>
          <p:nvPr/>
        </p:nvSpPr>
        <p:spPr>
          <a:xfrm>
            <a:off x="8961120" y="3364992"/>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follows it?</a:t>
            </a:r>
            <a:endParaRPr lang="en-US" sz="1150" dirty="0"/>
          </a:p>
        </p:txBody>
      </p:sp>
      <p:sp>
        <p:nvSpPr>
          <p:cNvPr id="28" name="Shape 26">
            <a:extLst>
              <a:ext uri="{C183D7F6-B498-43B3-948B-1728B52AA6E4}">
                <adec:decorative xmlns:adec="http://schemas.microsoft.com/office/drawing/2017/decorative" val="1"/>
              </a:ext>
            </a:extLst>
          </p:cNvPr>
          <p:cNvSpPr/>
          <p:nvPr/>
        </p:nvSpPr>
        <p:spPr>
          <a:xfrm>
            <a:off x="5715000" y="4087368"/>
            <a:ext cx="310896" cy="310896"/>
          </a:xfrm>
          <a:prstGeom prst="ellipse">
            <a:avLst/>
          </a:prstGeom>
          <a:solidFill>
            <a:srgbClr val="149966"/>
          </a:solidFill>
          <a:ln w="12700">
            <a:solidFill>
              <a:srgbClr val="149966"/>
            </a:solidFill>
            <a:prstDash val="solid"/>
          </a:ln>
        </p:spPr>
        <p:txBody>
          <a:bodyPr/>
          <a:lstStyle/>
          <a:p>
            <a:endParaRPr lang="en-US"/>
          </a:p>
        </p:txBody>
      </p:sp>
      <p:sp>
        <p:nvSpPr>
          <p:cNvPr id="29" name="Text 27"/>
          <p:cNvSpPr/>
          <p:nvPr/>
        </p:nvSpPr>
        <p:spPr>
          <a:xfrm>
            <a:off x="5715000" y="4087368"/>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30" name="Text 28"/>
          <p:cNvSpPr/>
          <p:nvPr/>
        </p:nvSpPr>
        <p:spPr>
          <a:xfrm>
            <a:off x="6172200" y="4023360"/>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How is completion understood?</a:t>
            </a:r>
            <a:endParaRPr lang="en-US" sz="1150" dirty="0"/>
          </a:p>
        </p:txBody>
      </p:sp>
      <p:sp>
        <p:nvSpPr>
          <p:cNvPr id="31" name="Shape 29">
            <a:extLst>
              <a:ext uri="{C183D7F6-B498-43B3-948B-1728B52AA6E4}">
                <adec:decorative xmlns:adec="http://schemas.microsoft.com/office/drawing/2017/decorative" val="1"/>
              </a:ext>
            </a:extLst>
          </p:cNvPr>
          <p:cNvSpPr/>
          <p:nvPr/>
        </p:nvSpPr>
        <p:spPr>
          <a:xfrm>
            <a:off x="8503920" y="4087368"/>
            <a:ext cx="310896" cy="310896"/>
          </a:xfrm>
          <a:prstGeom prst="ellipse">
            <a:avLst/>
          </a:prstGeom>
          <a:solidFill>
            <a:srgbClr val="D5B979"/>
          </a:solidFill>
          <a:ln w="12700">
            <a:solidFill>
              <a:srgbClr val="D5B979"/>
            </a:solidFill>
            <a:prstDash val="solid"/>
          </a:ln>
        </p:spPr>
        <p:txBody>
          <a:bodyPr/>
          <a:lstStyle/>
          <a:p>
            <a:endParaRPr lang="en-US"/>
          </a:p>
        </p:txBody>
      </p:sp>
      <p:sp>
        <p:nvSpPr>
          <p:cNvPr id="32" name="Text 30"/>
          <p:cNvSpPr/>
          <p:nvPr/>
        </p:nvSpPr>
        <p:spPr>
          <a:xfrm>
            <a:off x="8503920" y="4087368"/>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6</a:t>
            </a:r>
            <a:endParaRPr lang="en-US" sz="800" dirty="0"/>
          </a:p>
        </p:txBody>
      </p:sp>
      <p:sp>
        <p:nvSpPr>
          <p:cNvPr id="33" name="Text 31"/>
          <p:cNvSpPr/>
          <p:nvPr/>
        </p:nvSpPr>
        <p:spPr>
          <a:xfrm>
            <a:off x="8961120" y="4023360"/>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Does it prepare another task?</a:t>
            </a:r>
            <a:endParaRPr lang="en-US" sz="1150" dirty="0"/>
          </a:p>
        </p:txBody>
      </p:sp>
      <p:sp>
        <p:nvSpPr>
          <p:cNvPr id="34" name="Shape 32">
            <a:extLst>
              <a:ext uri="{C183D7F6-B498-43B3-948B-1728B52AA6E4}">
                <adec:decorative xmlns:adec="http://schemas.microsoft.com/office/drawing/2017/decorative" val="1"/>
              </a:ext>
            </a:extLst>
          </p:cNvPr>
          <p:cNvSpPr/>
          <p:nvPr/>
        </p:nvSpPr>
        <p:spPr>
          <a:xfrm>
            <a:off x="5715000" y="4745736"/>
            <a:ext cx="310896" cy="310896"/>
          </a:xfrm>
          <a:prstGeom prst="ellipse">
            <a:avLst/>
          </a:prstGeom>
          <a:solidFill>
            <a:srgbClr val="149966"/>
          </a:solidFill>
          <a:ln w="12700">
            <a:solidFill>
              <a:srgbClr val="149966"/>
            </a:solidFill>
            <a:prstDash val="solid"/>
          </a:ln>
        </p:spPr>
        <p:txBody>
          <a:bodyPr/>
          <a:lstStyle/>
          <a:p>
            <a:endParaRPr lang="en-US"/>
          </a:p>
        </p:txBody>
      </p:sp>
      <p:sp>
        <p:nvSpPr>
          <p:cNvPr id="35" name="Text 33"/>
          <p:cNvSpPr/>
          <p:nvPr/>
        </p:nvSpPr>
        <p:spPr>
          <a:xfrm>
            <a:off x="5715000" y="4745736"/>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7</a:t>
            </a:r>
            <a:endParaRPr lang="en-US" sz="800" dirty="0"/>
          </a:p>
        </p:txBody>
      </p:sp>
      <p:sp>
        <p:nvSpPr>
          <p:cNvPr id="36" name="Text 34"/>
          <p:cNvSpPr/>
          <p:nvPr/>
        </p:nvSpPr>
        <p:spPr>
          <a:xfrm>
            <a:off x="6172200" y="4681728"/>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Is it central or supporting?</a:t>
            </a:r>
            <a:endParaRPr lang="en-US" sz="1150" dirty="0"/>
          </a:p>
        </p:txBody>
      </p:sp>
      <p:sp>
        <p:nvSpPr>
          <p:cNvPr id="37" name="Shape 35">
            <a:extLst>
              <a:ext uri="{C183D7F6-B498-43B3-948B-1728B52AA6E4}">
                <adec:decorative xmlns:adec="http://schemas.microsoft.com/office/drawing/2017/decorative" val="1"/>
              </a:ext>
            </a:extLst>
          </p:cNvPr>
          <p:cNvSpPr/>
          <p:nvPr/>
        </p:nvSpPr>
        <p:spPr>
          <a:xfrm>
            <a:off x="8503920" y="4745736"/>
            <a:ext cx="310896" cy="310896"/>
          </a:xfrm>
          <a:prstGeom prst="ellipse">
            <a:avLst/>
          </a:prstGeom>
          <a:solidFill>
            <a:srgbClr val="D5B979"/>
          </a:solidFill>
          <a:ln w="12700">
            <a:solidFill>
              <a:srgbClr val="D5B979"/>
            </a:solidFill>
            <a:prstDash val="solid"/>
          </a:ln>
        </p:spPr>
        <p:txBody>
          <a:bodyPr/>
          <a:lstStyle/>
          <a:p>
            <a:endParaRPr lang="en-US"/>
          </a:p>
        </p:txBody>
      </p:sp>
      <p:sp>
        <p:nvSpPr>
          <p:cNvPr id="38" name="Text 36"/>
          <p:cNvSpPr/>
          <p:nvPr/>
        </p:nvSpPr>
        <p:spPr>
          <a:xfrm>
            <a:off x="8503920" y="4745736"/>
            <a:ext cx="310896" cy="310896"/>
          </a:xfrm>
          <a:prstGeom prst="rect">
            <a:avLst/>
          </a:prstGeom>
          <a:noFill/>
          <a:ln/>
        </p:spPr>
        <p:txBody>
          <a:bodyPr wrap="square" lIns="0" tIns="0" rIns="0" bIns="0" rtlCol="0" anchor="ctr">
            <a:normAutofit/>
          </a:bodyPr>
          <a:lstStyle/>
          <a:p>
            <a:pPr marL="0" indent="0" algn="ctr">
              <a:buNone/>
            </a:pPr>
            <a:r>
              <a:rPr lang="en-US" sz="800" b="1" dirty="0">
                <a:solidFill>
                  <a:srgbClr val="17254E"/>
                </a:solidFill>
                <a:latin typeface="Aptos" pitchFamily="34" charset="0"/>
                <a:ea typeface="Aptos" pitchFamily="34" charset="-122"/>
                <a:cs typeface="Aptos" pitchFamily="34" charset="-120"/>
              </a:rPr>
              <a:t>8</a:t>
            </a:r>
            <a:endParaRPr lang="en-US" sz="800" dirty="0"/>
          </a:p>
        </p:txBody>
      </p:sp>
      <p:sp>
        <p:nvSpPr>
          <p:cNvPr id="39" name="Text 37"/>
          <p:cNvSpPr/>
          <p:nvPr/>
        </p:nvSpPr>
        <p:spPr>
          <a:xfrm>
            <a:off x="8961120" y="4681728"/>
            <a:ext cx="2240280" cy="438912"/>
          </a:xfrm>
          <a:prstGeom prst="rect">
            <a:avLst/>
          </a:prstGeom>
          <a:noFill/>
          <a:ln/>
        </p:spPr>
        <p:txBody>
          <a:bodyPr wrap="square" lIns="0" tIns="0" rIns="0" bIns="0" rtlCol="0" anchor="ctr">
            <a:normAutofit/>
          </a:bodyPr>
          <a:lstStyle/>
          <a:p>
            <a:pPr marL="0" indent="0">
              <a:buNone/>
            </a:pPr>
            <a:r>
              <a:rPr lang="en-US" sz="1150" b="1" dirty="0">
                <a:solidFill>
                  <a:srgbClr val="202532"/>
                </a:solidFill>
                <a:latin typeface="Aptos" pitchFamily="34" charset="0"/>
                <a:ea typeface="Aptos" pitchFamily="34" charset="-122"/>
                <a:cs typeface="Aptos" pitchFamily="34" charset="-120"/>
              </a:rPr>
              <a:t>What should remain native in Canvas?</a:t>
            </a:r>
            <a:endParaRPr lang="en-US" sz="1150" dirty="0"/>
          </a:p>
        </p:txBody>
      </p:sp>
      <p:sp>
        <p:nvSpPr>
          <p:cNvPr id="40" name="Text 38"/>
          <p:cNvSpPr/>
          <p:nvPr/>
        </p:nvSpPr>
        <p:spPr>
          <a:xfrm>
            <a:off x="5742432" y="5623560"/>
            <a:ext cx="5303520" cy="347472"/>
          </a:xfrm>
          <a:prstGeom prst="rect">
            <a:avLst/>
          </a:prstGeom>
          <a:noFill/>
          <a:ln/>
        </p:spPr>
        <p:txBody>
          <a:bodyPr wrap="square" lIns="0" tIns="0" rIns="0" bIns="0" rtlCol="0" anchor="ctr">
            <a:normAutofit/>
          </a:bodyPr>
          <a:lstStyle/>
          <a:p>
            <a:pPr marL="0" indent="0" algn="ctr">
              <a:buNone/>
            </a:pPr>
            <a:r>
              <a:rPr lang="en-US" sz="1100" i="1" dirty="0">
                <a:solidFill>
                  <a:srgbClr val="0B7049"/>
                </a:solidFill>
                <a:latin typeface="Aptos" pitchFamily="34" charset="0"/>
                <a:ea typeface="Aptos" pitchFamily="34" charset="-122"/>
                <a:cs typeface="Aptos" pitchFamily="34" charset="-120"/>
              </a:rPr>
              <a:t>Use the Canvas Placement Guide to design the whole learning object—not only the embedded media.</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17254E"/>
        </a:solidFill>
        <a:effectLst/>
      </p:bgPr>
    </p:bg>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Now that we have a process, let’s push the envelope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149966"/>
          </a:solidFill>
          <a:ln w="12700">
            <a:solidFill>
              <a:srgbClr val="149966"/>
            </a:solidFill>
            <a:prstDash val="solid"/>
          </a:ln>
        </p:spPr>
        <p:txBody>
          <a:bodyPr/>
          <a:lstStyle/>
          <a:p>
            <a:endParaRPr lang="en-US"/>
          </a:p>
        </p:txBody>
      </p:sp>
      <p:sp>
        <p:nvSpPr>
          <p:cNvPr id="3" name="Text 1"/>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IMPLEMENT</a:t>
            </a:r>
            <a:endParaRPr lang="en-US" sz="900" dirty="0"/>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Audience suggestions → bounded first build → visible iteration</a:t>
            </a:r>
            <a:endParaRPr lang="en-US" sz="1500" dirty="0"/>
          </a:p>
        </p:txBody>
      </p:sp>
      <p:sp>
        <p:nvSpPr>
          <p:cNvPr id="7" name="Text 5"/>
          <p:cNvSpPr/>
          <p:nvPr/>
        </p:nvSpPr>
        <p:spPr>
          <a:xfrm>
            <a:off x="1005840" y="1737360"/>
            <a:ext cx="10149840" cy="502920"/>
          </a:xfrm>
          <a:prstGeom prst="rect">
            <a:avLst/>
          </a:prstGeom>
          <a:noFill/>
          <a:ln/>
        </p:spPr>
        <p:txBody>
          <a:bodyPr wrap="square" lIns="0" tIns="0" rIns="0" bIns="0" rtlCol="0" anchor="ctr">
            <a:normAutofit/>
          </a:bodyPr>
          <a:lstStyle/>
          <a:p>
            <a:pPr marL="0" indent="0" algn="ctr">
              <a:buNone/>
            </a:pPr>
            <a:r>
              <a:rPr lang="en-US" sz="1300" b="1" kern="0" spc="160" dirty="0">
                <a:solidFill>
                  <a:srgbClr val="D5B979"/>
                </a:solidFill>
                <a:latin typeface="Aptos" pitchFamily="34" charset="0"/>
                <a:ea typeface="Aptos" pitchFamily="34" charset="-122"/>
                <a:cs typeface="Aptos" pitchFamily="34" charset="-120"/>
              </a:rPr>
              <a:t>BUILD SOMETHING THAT FEELS IMPOSSIBLE</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1051560" y="2468880"/>
            <a:ext cx="438912" cy="438912"/>
          </a:xfrm>
          <a:prstGeom prst="ellipse">
            <a:avLst/>
          </a:prstGeom>
          <a:solidFill>
            <a:srgbClr val="149966"/>
          </a:solidFill>
          <a:ln w="12700">
            <a:solidFill>
              <a:srgbClr val="149966"/>
            </a:solidFill>
            <a:prstDash val="solid"/>
          </a:ln>
        </p:spPr>
        <p:txBody>
          <a:bodyPr/>
          <a:lstStyle/>
          <a:p>
            <a:endParaRPr lang="en-US"/>
          </a:p>
        </p:txBody>
      </p:sp>
      <p:sp>
        <p:nvSpPr>
          <p:cNvPr id="9" name="Text 7"/>
          <p:cNvSpPr/>
          <p:nvPr/>
        </p:nvSpPr>
        <p:spPr>
          <a:xfrm>
            <a:off x="1051560" y="2468880"/>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0" name="Text 8"/>
          <p:cNvSpPr/>
          <p:nvPr/>
        </p:nvSpPr>
        <p:spPr>
          <a:xfrm>
            <a:off x="1673352" y="2450592"/>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Choose a learning purpose</a:t>
            </a:r>
            <a:endParaRPr lang="en-US" sz="1450" dirty="0"/>
          </a:p>
        </p:txBody>
      </p:sp>
      <p:sp>
        <p:nvSpPr>
          <p:cNvPr id="11" name="Shape 9">
            <a:extLst>
              <a:ext uri="{C183D7F6-B498-43B3-948B-1728B52AA6E4}">
                <adec:decorative xmlns:adec="http://schemas.microsoft.com/office/drawing/2017/decorative" val="1"/>
              </a:ext>
            </a:extLst>
          </p:cNvPr>
          <p:cNvSpPr/>
          <p:nvPr/>
        </p:nvSpPr>
        <p:spPr>
          <a:xfrm>
            <a:off x="6675120" y="2468880"/>
            <a:ext cx="438912" cy="438912"/>
          </a:xfrm>
          <a:prstGeom prst="ellipse">
            <a:avLst/>
          </a:prstGeom>
          <a:solidFill>
            <a:srgbClr val="149966"/>
          </a:solidFill>
          <a:ln w="12700">
            <a:solidFill>
              <a:srgbClr val="149966"/>
            </a:solidFill>
            <a:prstDash val="solid"/>
          </a:ln>
        </p:spPr>
        <p:txBody>
          <a:bodyPr/>
          <a:lstStyle/>
          <a:p>
            <a:endParaRPr lang="en-US"/>
          </a:p>
        </p:txBody>
      </p:sp>
      <p:sp>
        <p:nvSpPr>
          <p:cNvPr id="12" name="Text 10"/>
          <p:cNvSpPr/>
          <p:nvPr/>
        </p:nvSpPr>
        <p:spPr>
          <a:xfrm>
            <a:off x="6675120" y="2468880"/>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3" name="Text 11"/>
          <p:cNvSpPr/>
          <p:nvPr/>
        </p:nvSpPr>
        <p:spPr>
          <a:xfrm>
            <a:off x="7296912" y="2450592"/>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Choose the interaction form + role</a:t>
            </a:r>
            <a:endParaRPr lang="en-US" sz="1450" dirty="0"/>
          </a:p>
        </p:txBody>
      </p:sp>
      <p:sp>
        <p:nvSpPr>
          <p:cNvPr id="14" name="Shape 12">
            <a:extLst>
              <a:ext uri="{C183D7F6-B498-43B3-948B-1728B52AA6E4}">
                <adec:decorative xmlns:adec="http://schemas.microsoft.com/office/drawing/2017/decorative" val="1"/>
              </a:ext>
            </a:extLst>
          </p:cNvPr>
          <p:cNvSpPr/>
          <p:nvPr/>
        </p:nvSpPr>
        <p:spPr>
          <a:xfrm>
            <a:off x="1051560" y="3227832"/>
            <a:ext cx="438912" cy="438912"/>
          </a:xfrm>
          <a:prstGeom prst="ellipse">
            <a:avLst/>
          </a:prstGeom>
          <a:solidFill>
            <a:srgbClr val="149966"/>
          </a:solidFill>
          <a:ln w="12700">
            <a:solidFill>
              <a:srgbClr val="149966"/>
            </a:solidFill>
            <a:prstDash val="solid"/>
          </a:ln>
        </p:spPr>
        <p:txBody>
          <a:bodyPr/>
          <a:lstStyle/>
          <a:p>
            <a:endParaRPr lang="en-US"/>
          </a:p>
        </p:txBody>
      </p:sp>
      <p:sp>
        <p:nvSpPr>
          <p:cNvPr id="15" name="Text 13"/>
          <p:cNvSpPr/>
          <p:nvPr/>
        </p:nvSpPr>
        <p:spPr>
          <a:xfrm>
            <a:off x="1051560" y="3227832"/>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16" name="Text 14"/>
          <p:cNvSpPr/>
          <p:nvPr/>
        </p:nvSpPr>
        <p:spPr>
          <a:xfrm>
            <a:off x="1673352" y="3209544"/>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Fill the four categories</a:t>
            </a:r>
            <a:endParaRPr lang="en-US" sz="1450" dirty="0"/>
          </a:p>
        </p:txBody>
      </p:sp>
      <p:sp>
        <p:nvSpPr>
          <p:cNvPr id="17" name="Shape 15">
            <a:extLst>
              <a:ext uri="{C183D7F6-B498-43B3-948B-1728B52AA6E4}">
                <adec:decorative xmlns:adec="http://schemas.microsoft.com/office/drawing/2017/decorative" val="1"/>
              </a:ext>
            </a:extLst>
          </p:cNvPr>
          <p:cNvSpPr/>
          <p:nvPr/>
        </p:nvSpPr>
        <p:spPr>
          <a:xfrm>
            <a:off x="6675120" y="3227832"/>
            <a:ext cx="438912" cy="438912"/>
          </a:xfrm>
          <a:prstGeom prst="ellipse">
            <a:avLst/>
          </a:prstGeom>
          <a:solidFill>
            <a:srgbClr val="149966"/>
          </a:solidFill>
          <a:ln w="12700">
            <a:solidFill>
              <a:srgbClr val="149966"/>
            </a:solidFill>
            <a:prstDash val="solid"/>
          </a:ln>
        </p:spPr>
        <p:txBody>
          <a:bodyPr/>
          <a:lstStyle/>
          <a:p>
            <a:endParaRPr lang="en-US"/>
          </a:p>
        </p:txBody>
      </p:sp>
      <p:sp>
        <p:nvSpPr>
          <p:cNvPr id="18" name="Text 16"/>
          <p:cNvSpPr/>
          <p:nvPr/>
        </p:nvSpPr>
        <p:spPr>
          <a:xfrm>
            <a:off x="6675120" y="3227832"/>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19" name="Text 17"/>
          <p:cNvSpPr/>
          <p:nvPr/>
        </p:nvSpPr>
        <p:spPr>
          <a:xfrm>
            <a:off x="7296912" y="3209544"/>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Build the smallest convincing slice</a:t>
            </a:r>
            <a:endParaRPr lang="en-US" sz="1450" dirty="0"/>
          </a:p>
        </p:txBody>
      </p:sp>
      <p:sp>
        <p:nvSpPr>
          <p:cNvPr id="20" name="Shape 18">
            <a:extLst>
              <a:ext uri="{C183D7F6-B498-43B3-948B-1728B52AA6E4}">
                <adec:decorative xmlns:adec="http://schemas.microsoft.com/office/drawing/2017/decorative" val="1"/>
              </a:ext>
            </a:extLst>
          </p:cNvPr>
          <p:cNvSpPr/>
          <p:nvPr/>
        </p:nvSpPr>
        <p:spPr>
          <a:xfrm>
            <a:off x="1051560" y="3986784"/>
            <a:ext cx="438912" cy="438912"/>
          </a:xfrm>
          <a:prstGeom prst="ellipse">
            <a:avLst/>
          </a:prstGeom>
          <a:solidFill>
            <a:srgbClr val="149966"/>
          </a:solidFill>
          <a:ln w="12700">
            <a:solidFill>
              <a:srgbClr val="149966"/>
            </a:solidFill>
            <a:prstDash val="solid"/>
          </a:ln>
        </p:spPr>
        <p:txBody>
          <a:bodyPr/>
          <a:lstStyle/>
          <a:p>
            <a:endParaRPr lang="en-US"/>
          </a:p>
        </p:txBody>
      </p:sp>
      <p:sp>
        <p:nvSpPr>
          <p:cNvPr id="21" name="Text 19"/>
          <p:cNvSpPr/>
          <p:nvPr/>
        </p:nvSpPr>
        <p:spPr>
          <a:xfrm>
            <a:off x="1051560" y="3986784"/>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22" name="Text 20"/>
          <p:cNvSpPr/>
          <p:nvPr/>
        </p:nvSpPr>
        <p:spPr>
          <a:xfrm>
            <a:off x="1673352" y="3968496"/>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Review through one lens</a:t>
            </a:r>
            <a:endParaRPr lang="en-US" sz="1450" dirty="0"/>
          </a:p>
        </p:txBody>
      </p:sp>
      <p:sp>
        <p:nvSpPr>
          <p:cNvPr id="23" name="Shape 21">
            <a:extLst>
              <a:ext uri="{C183D7F6-B498-43B3-948B-1728B52AA6E4}">
                <adec:decorative xmlns:adec="http://schemas.microsoft.com/office/drawing/2017/decorative" val="1"/>
              </a:ext>
            </a:extLst>
          </p:cNvPr>
          <p:cNvSpPr/>
          <p:nvPr/>
        </p:nvSpPr>
        <p:spPr>
          <a:xfrm>
            <a:off x="6675120" y="3986784"/>
            <a:ext cx="438912" cy="438912"/>
          </a:xfrm>
          <a:prstGeom prst="ellipse">
            <a:avLst/>
          </a:prstGeom>
          <a:solidFill>
            <a:srgbClr val="149966"/>
          </a:solidFill>
          <a:ln w="12700">
            <a:solidFill>
              <a:srgbClr val="149966"/>
            </a:solidFill>
            <a:prstDash val="solid"/>
          </a:ln>
        </p:spPr>
        <p:txBody>
          <a:bodyPr/>
          <a:lstStyle/>
          <a:p>
            <a:endParaRPr lang="en-US"/>
          </a:p>
        </p:txBody>
      </p:sp>
      <p:sp>
        <p:nvSpPr>
          <p:cNvPr id="24" name="Text 22"/>
          <p:cNvSpPr/>
          <p:nvPr/>
        </p:nvSpPr>
        <p:spPr>
          <a:xfrm>
            <a:off x="6675120" y="3986784"/>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6</a:t>
            </a:r>
            <a:endParaRPr lang="en-US" sz="900" dirty="0"/>
          </a:p>
        </p:txBody>
      </p:sp>
      <p:sp>
        <p:nvSpPr>
          <p:cNvPr id="25" name="Text 23"/>
          <p:cNvSpPr/>
          <p:nvPr/>
        </p:nvSpPr>
        <p:spPr>
          <a:xfrm>
            <a:off x="7296912" y="3968496"/>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Request a targeted revision</a:t>
            </a:r>
            <a:endParaRPr lang="en-US" sz="1450" dirty="0"/>
          </a:p>
        </p:txBody>
      </p:sp>
      <p:sp>
        <p:nvSpPr>
          <p:cNvPr id="26" name="Shape 24">
            <a:extLst>
              <a:ext uri="{C183D7F6-B498-43B3-948B-1728B52AA6E4}">
                <adec:decorative xmlns:adec="http://schemas.microsoft.com/office/drawing/2017/decorative" val="1"/>
              </a:ext>
            </a:extLst>
          </p:cNvPr>
          <p:cNvSpPr/>
          <p:nvPr/>
        </p:nvSpPr>
        <p:spPr>
          <a:xfrm>
            <a:off x="1051560" y="4745736"/>
            <a:ext cx="438912" cy="438912"/>
          </a:xfrm>
          <a:prstGeom prst="ellipse">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1051560" y="4745736"/>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7</a:t>
            </a:r>
            <a:endParaRPr lang="en-US" sz="900" dirty="0"/>
          </a:p>
        </p:txBody>
      </p:sp>
      <p:sp>
        <p:nvSpPr>
          <p:cNvPr id="28" name="Text 26"/>
          <p:cNvSpPr/>
          <p:nvPr/>
        </p:nvSpPr>
        <p:spPr>
          <a:xfrm>
            <a:off x="1673352" y="4727448"/>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Test the result</a:t>
            </a:r>
            <a:endParaRPr lang="en-US" sz="1450" dirty="0"/>
          </a:p>
        </p:txBody>
      </p:sp>
      <p:sp>
        <p:nvSpPr>
          <p:cNvPr id="29" name="Shape 27">
            <a:extLst>
              <a:ext uri="{C183D7F6-B498-43B3-948B-1728B52AA6E4}">
                <adec:decorative xmlns:adec="http://schemas.microsoft.com/office/drawing/2017/decorative" val="1"/>
              </a:ext>
            </a:extLst>
          </p:cNvPr>
          <p:cNvSpPr/>
          <p:nvPr/>
        </p:nvSpPr>
        <p:spPr>
          <a:xfrm>
            <a:off x="6675120" y="4745736"/>
            <a:ext cx="438912" cy="438912"/>
          </a:xfrm>
          <a:prstGeom prst="ellipse">
            <a:avLst/>
          </a:prstGeom>
          <a:solidFill>
            <a:srgbClr val="D5B979"/>
          </a:solidFill>
          <a:ln w="12700">
            <a:solidFill>
              <a:srgbClr val="D5B979"/>
            </a:solidFill>
            <a:prstDash val="solid"/>
          </a:ln>
        </p:spPr>
        <p:txBody>
          <a:bodyPr/>
          <a:lstStyle/>
          <a:p>
            <a:endParaRPr lang="en-US"/>
          </a:p>
        </p:txBody>
      </p:sp>
      <p:sp>
        <p:nvSpPr>
          <p:cNvPr id="30" name="Text 28"/>
          <p:cNvSpPr/>
          <p:nvPr/>
        </p:nvSpPr>
        <p:spPr>
          <a:xfrm>
            <a:off x="6675120" y="4745736"/>
            <a:ext cx="438912" cy="438912"/>
          </a:xfrm>
          <a:prstGeom prst="rect">
            <a:avLst/>
          </a:prstGeom>
          <a:noFill/>
          <a:ln/>
        </p:spPr>
        <p:txBody>
          <a:bodyPr wrap="square" lIns="0" tIns="0" rIns="0" bIns="0" rtlCol="0" anchor="ctr">
            <a:normAutofit/>
          </a:bodyPr>
          <a:lstStyle/>
          <a:p>
            <a:pPr marL="0" indent="0" algn="ctr">
              <a:buNone/>
            </a:pPr>
            <a:r>
              <a:rPr lang="en-US" sz="900" b="1" dirty="0">
                <a:solidFill>
                  <a:srgbClr val="17254E"/>
                </a:solidFill>
                <a:latin typeface="Aptos" pitchFamily="34" charset="0"/>
                <a:ea typeface="Aptos" pitchFamily="34" charset="-122"/>
                <a:cs typeface="Aptos" pitchFamily="34" charset="-120"/>
              </a:rPr>
              <a:t>8</a:t>
            </a:r>
            <a:endParaRPr lang="en-US" sz="900" dirty="0"/>
          </a:p>
        </p:txBody>
      </p:sp>
      <p:sp>
        <p:nvSpPr>
          <p:cNvPr id="31" name="Text 29"/>
          <p:cNvSpPr/>
          <p:nvPr/>
        </p:nvSpPr>
        <p:spPr>
          <a:xfrm>
            <a:off x="7296912" y="4727448"/>
            <a:ext cx="4663440" cy="47548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Name placement + preservation</a:t>
            </a:r>
            <a:endParaRPr lang="en-US" sz="145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Art history: from one image to guided visual analysis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 name="Text 2"/>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Starting materials, uncertainties, and four-bucket design direction</a:t>
            </a:r>
            <a:endParaRPr lang="en-US" sz="1500" dirty="0"/>
          </a:p>
        </p:txBody>
      </p:sp>
      <p:pic>
        <p:nvPicPr>
          <p:cNvPr id="8" name="Image 0" descr="Jacques-Louis David's Neoclassical painting, Oath of the Horatii, depicting three Roman brothers extending their arms in a salute toward their father, who holds up three swords, while a group of women weep in grief on the right."/>
          <p:cNvPicPr>
            <a:picLocks noChangeAspect="1"/>
          </p:cNvPicPr>
          <p:nvPr/>
        </p:nvPicPr>
        <p:blipFill>
          <a:blip r:embed="rId3"/>
          <a:stretch>
            <a:fillRect/>
          </a:stretch>
        </p:blipFill>
        <p:spPr>
          <a:xfrm>
            <a:off x="713232" y="1755648"/>
            <a:ext cx="4937760" cy="3977640"/>
          </a:xfrm>
          <a:prstGeom prst="rect">
            <a:avLst/>
          </a:prstGeom>
        </p:spPr>
      </p:pic>
      <p:sp>
        <p:nvSpPr>
          <p:cNvPr id="9" name="Shape 6">
            <a:extLst>
              <a:ext uri="{C183D7F6-B498-43B3-948B-1728B52AA6E4}">
                <adec:decorative xmlns:adec="http://schemas.microsoft.com/office/drawing/2017/decorative" val="1"/>
              </a:ext>
            </a:extLst>
          </p:cNvPr>
          <p:cNvSpPr/>
          <p:nvPr/>
        </p:nvSpPr>
        <p:spPr>
          <a:xfrm>
            <a:off x="6016752" y="1755648"/>
            <a:ext cx="5440680" cy="3977640"/>
          </a:xfrm>
          <a:prstGeom prst="roundRect">
            <a:avLst>
              <a:gd name="adj" fmla="val 1839"/>
            </a:avLst>
          </a:prstGeom>
          <a:solidFill>
            <a:srgbClr val="FFFFFF"/>
          </a:solidFill>
          <a:ln w="12700">
            <a:solidFill>
              <a:srgbClr val="D8DCE4"/>
            </a:solidFill>
            <a:prstDash val="solid"/>
          </a:ln>
        </p:spPr>
        <p:txBody>
          <a:bodyPr/>
          <a:lstStyle/>
          <a:p>
            <a:endParaRPr lang="en-US"/>
          </a:p>
        </p:txBody>
      </p:sp>
      <p:sp>
        <p:nvSpPr>
          <p:cNvPr id="10" name="Shape 7">
            <a:extLst>
              <a:ext uri="{C183D7F6-B498-43B3-948B-1728B52AA6E4}">
                <adec:decorative xmlns:adec="http://schemas.microsoft.com/office/drawing/2017/decorative" val="1"/>
              </a:ext>
            </a:extLst>
          </p:cNvPr>
          <p:cNvSpPr/>
          <p:nvPr/>
        </p:nvSpPr>
        <p:spPr>
          <a:xfrm>
            <a:off x="6309360" y="2029968"/>
            <a:ext cx="2514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8"/>
          <p:cNvSpPr/>
          <p:nvPr/>
        </p:nvSpPr>
        <p:spPr>
          <a:xfrm>
            <a:off x="6419088" y="2029968"/>
            <a:ext cx="2295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WHAT THE INSTRUCTOR BRINGS</a:t>
            </a:r>
            <a:endParaRPr lang="en-US" sz="1100" dirty="0"/>
          </a:p>
        </p:txBody>
      </p:sp>
      <p:sp>
        <p:nvSpPr>
          <p:cNvPr id="12" name="Text 9"/>
          <p:cNvSpPr/>
          <p:nvPr/>
        </p:nvSpPr>
        <p:spPr>
          <a:xfrm>
            <a:off x="6327648" y="2743200"/>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Outcome</a:t>
            </a:r>
            <a:endParaRPr lang="en-US" sz="1100" dirty="0"/>
          </a:p>
        </p:txBody>
      </p:sp>
      <p:sp>
        <p:nvSpPr>
          <p:cNvPr id="13" name="Text 10"/>
          <p:cNvSpPr/>
          <p:nvPr/>
        </p:nvSpPr>
        <p:spPr>
          <a:xfrm>
            <a:off x="6327648" y="3044952"/>
            <a:ext cx="4526280" cy="566928"/>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Analyze how formal visual elements contribute to meaning.</a:t>
            </a:r>
            <a:endParaRPr lang="en-US" sz="1600" dirty="0"/>
          </a:p>
        </p:txBody>
      </p:sp>
      <p:sp>
        <p:nvSpPr>
          <p:cNvPr id="14" name="Text 11"/>
          <p:cNvSpPr/>
          <p:nvPr/>
        </p:nvSpPr>
        <p:spPr>
          <a:xfrm>
            <a:off x="6327648" y="3785616"/>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Resource</a:t>
            </a:r>
            <a:endParaRPr lang="en-US" sz="1100" dirty="0"/>
          </a:p>
        </p:txBody>
      </p:sp>
      <p:sp>
        <p:nvSpPr>
          <p:cNvPr id="15" name="Text 12"/>
          <p:cNvSpPr/>
          <p:nvPr/>
        </p:nvSpPr>
        <p:spPr>
          <a:xfrm>
            <a:off x="6327648" y="4087368"/>
            <a:ext cx="4526280" cy="530352"/>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One public-domain image: Oath of the Horatii (1784).</a:t>
            </a:r>
            <a:endParaRPr lang="en-US" sz="1600" dirty="0"/>
          </a:p>
        </p:txBody>
      </p:sp>
      <p:sp>
        <p:nvSpPr>
          <p:cNvPr id="16" name="Text 13"/>
          <p:cNvSpPr/>
          <p:nvPr/>
        </p:nvSpPr>
        <p:spPr>
          <a:xfrm>
            <a:off x="6327648" y="4773168"/>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Need</a:t>
            </a:r>
            <a:endParaRPr lang="en-US" sz="1100" dirty="0"/>
          </a:p>
        </p:txBody>
      </p:sp>
      <p:sp>
        <p:nvSpPr>
          <p:cNvPr id="17" name="Text 14"/>
          <p:cNvSpPr/>
          <p:nvPr/>
        </p:nvSpPr>
        <p:spPr>
          <a:xfrm>
            <a:off x="6327648" y="5074920"/>
            <a:ext cx="4526280" cy="502920"/>
          </a:xfrm>
          <a:prstGeom prst="rect">
            <a:avLst/>
          </a:prstGeom>
          <a:noFill/>
          <a:ln/>
        </p:spPr>
        <p:txBody>
          <a:bodyPr wrap="square" lIns="0" tIns="0" rIns="0" bIns="0" rtlCol="0" anchor="ctr">
            <a:normAutofit/>
          </a:bodyPr>
          <a:lstStyle/>
          <a:p>
            <a:pPr marL="0" indent="0">
              <a:buNone/>
            </a:pPr>
            <a:r>
              <a:rPr lang="en-US" sz="1600" dirty="0">
                <a:solidFill>
                  <a:srgbClr val="202532"/>
                </a:solidFill>
                <a:latin typeface="Aptos" pitchFamily="34" charset="0"/>
                <a:ea typeface="Aptos" pitchFamily="34" charset="-122"/>
                <a:cs typeface="Aptos" pitchFamily="34" charset="-120"/>
              </a:rPr>
              <a:t>Help novices use visible evidence to support an interpretation.</a:t>
            </a:r>
            <a:endParaRPr lang="en-US" sz="16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Art history: diagnose, revise, test, and place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42" name="Shape 1">
            <a:extLst>
              <a:ext uri="{FF2B5EF4-FFF2-40B4-BE49-F238E27FC236}">
                <a16:creationId xmlns:a16="http://schemas.microsoft.com/office/drawing/2014/main" id="{F3F61AD2-1D62-7535-C412-1C2F64A5D2C7}"/>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43" name="Text 2">
            <a:extLst>
              <a:ext uri="{FF2B5EF4-FFF2-40B4-BE49-F238E27FC236}">
                <a16:creationId xmlns:a16="http://schemas.microsoft.com/office/drawing/2014/main" id="{2DBD2264-1C78-8ACB-7A4D-1105A52E395B}"/>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8" name="Shape 6">
            <a:extLst>
              <a:ext uri="{C183D7F6-B498-43B3-948B-1728B52AA6E4}">
                <adec:decorative xmlns:adec="http://schemas.microsoft.com/office/drawing/2017/decorative" val="1"/>
              </a:ext>
            </a:extLst>
          </p:cNvPr>
          <p:cNvSpPr/>
          <p:nvPr/>
        </p:nvSpPr>
        <p:spPr>
          <a:xfrm>
            <a:off x="713232" y="1737360"/>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13232" y="1737360"/>
            <a:ext cx="1417320" cy="859536"/>
          </a:xfrm>
          <a:prstGeom prst="roundRect">
            <a:avLst>
              <a:gd name="adj" fmla="val 8511"/>
            </a:avLst>
          </a:prstGeom>
          <a:solidFill>
            <a:srgbClr val="17254E"/>
          </a:solidFill>
          <a:ln w="12700">
            <a:solidFill>
              <a:srgbClr val="17254E"/>
            </a:solidFill>
            <a:prstDash val="solid"/>
          </a:ln>
        </p:spPr>
        <p:txBody>
          <a:bodyPr/>
          <a:lstStyle/>
          <a:p>
            <a:endParaRPr lang="en-US"/>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The first build becomes evidence for the next design decision</a:t>
            </a:r>
            <a:endParaRPr lang="en-US" sz="1500" dirty="0"/>
          </a:p>
        </p:txBody>
      </p:sp>
      <p:sp>
        <p:nvSpPr>
          <p:cNvPr id="10" name="Text 8"/>
          <p:cNvSpPr/>
          <p:nvPr/>
        </p:nvSpPr>
        <p:spPr>
          <a:xfrm>
            <a:off x="822960" y="1737360"/>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CONTEXT</a:t>
            </a:r>
            <a:endParaRPr lang="en-US" sz="950" dirty="0"/>
          </a:p>
        </p:txBody>
      </p:sp>
      <p:sp>
        <p:nvSpPr>
          <p:cNvPr id="11" name="Text 9"/>
          <p:cNvSpPr/>
          <p:nvPr/>
        </p:nvSpPr>
        <p:spPr>
          <a:xfrm>
            <a:off x="2395728" y="1847088"/>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Novices prepare for discussion and visual-analysis writing</a:t>
            </a:r>
            <a:endParaRPr lang="en-US" sz="1250" dirty="0"/>
          </a:p>
        </p:txBody>
      </p:sp>
      <p:sp>
        <p:nvSpPr>
          <p:cNvPr id="12" name="Shape 10">
            <a:extLst>
              <a:ext uri="{C183D7F6-B498-43B3-948B-1728B52AA6E4}">
                <adec:decorative xmlns:adec="http://schemas.microsoft.com/office/drawing/2017/decorative" val="1"/>
              </a:ext>
            </a:extLst>
          </p:cNvPr>
          <p:cNvSpPr/>
          <p:nvPr/>
        </p:nvSpPr>
        <p:spPr>
          <a:xfrm>
            <a:off x="713232" y="2816352"/>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713232" y="2816352"/>
            <a:ext cx="1417320" cy="859536"/>
          </a:xfrm>
          <a:prstGeom prst="roundRect">
            <a:avLst>
              <a:gd name="adj" fmla="val 8511"/>
            </a:avLst>
          </a:prstGeom>
          <a:solidFill>
            <a:srgbClr val="0B7049"/>
          </a:solidFill>
          <a:ln w="12700">
            <a:solidFill>
              <a:srgbClr val="0B7049"/>
            </a:solidFill>
            <a:prstDash val="solid"/>
          </a:ln>
        </p:spPr>
        <p:txBody>
          <a:bodyPr/>
          <a:lstStyle/>
          <a:p>
            <a:endParaRPr lang="en-US"/>
          </a:p>
        </p:txBody>
      </p:sp>
      <p:sp>
        <p:nvSpPr>
          <p:cNvPr id="14" name="Text 12"/>
          <p:cNvSpPr/>
          <p:nvPr/>
        </p:nvSpPr>
        <p:spPr>
          <a:xfrm>
            <a:off x="822960" y="2816352"/>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INTERACTION</a:t>
            </a:r>
            <a:endParaRPr lang="en-US" sz="950" dirty="0"/>
          </a:p>
        </p:txBody>
      </p:sp>
      <p:sp>
        <p:nvSpPr>
          <p:cNvPr id="15" name="Text 13"/>
          <p:cNvSpPr/>
          <p:nvPr/>
        </p:nvSpPr>
        <p:spPr>
          <a:xfrm>
            <a:off x="2395728" y="2926080"/>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Select details that support a claim; compare evidence</a:t>
            </a:r>
            <a:endParaRPr lang="en-US" sz="1250" dirty="0"/>
          </a:p>
        </p:txBody>
      </p:sp>
      <p:sp>
        <p:nvSpPr>
          <p:cNvPr id="16" name="Shape 14">
            <a:extLst>
              <a:ext uri="{C183D7F6-B498-43B3-948B-1728B52AA6E4}">
                <adec:decorative xmlns:adec="http://schemas.microsoft.com/office/drawing/2017/decorative" val="1"/>
              </a:ext>
            </a:extLst>
          </p:cNvPr>
          <p:cNvSpPr/>
          <p:nvPr/>
        </p:nvSpPr>
        <p:spPr>
          <a:xfrm>
            <a:off x="713232" y="3895344"/>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713232" y="3895344"/>
            <a:ext cx="1417320" cy="859536"/>
          </a:xfrm>
          <a:prstGeom prst="roundRect">
            <a:avLst>
              <a:gd name="adj" fmla="val 8511"/>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822960" y="3895344"/>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EXPERT CONTENT</a:t>
            </a:r>
            <a:endParaRPr lang="en-US" sz="950" dirty="0"/>
          </a:p>
        </p:txBody>
      </p:sp>
      <p:sp>
        <p:nvSpPr>
          <p:cNvPr id="19" name="Text 17"/>
          <p:cNvSpPr/>
          <p:nvPr/>
        </p:nvSpPr>
        <p:spPr>
          <a:xfrm>
            <a:off x="2395728" y="4005072"/>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Verified vocabulary + observable features + interpretive limits</a:t>
            </a:r>
            <a:endParaRPr lang="en-US" sz="1250" dirty="0"/>
          </a:p>
        </p:txBody>
      </p:sp>
      <p:sp>
        <p:nvSpPr>
          <p:cNvPr id="20" name="Shape 18">
            <a:extLst>
              <a:ext uri="{C183D7F6-B498-43B3-948B-1728B52AA6E4}">
                <adec:decorative xmlns:adec="http://schemas.microsoft.com/office/drawing/2017/decorative" val="1"/>
              </a:ext>
            </a:extLst>
          </p:cNvPr>
          <p:cNvSpPr/>
          <p:nvPr/>
        </p:nvSpPr>
        <p:spPr>
          <a:xfrm>
            <a:off x="713232" y="4974336"/>
            <a:ext cx="5532120" cy="859536"/>
          </a:xfrm>
          <a:prstGeom prst="roundRect">
            <a:avLst>
              <a:gd name="adj" fmla="val 8511"/>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713232" y="4974336"/>
            <a:ext cx="1417320" cy="859536"/>
          </a:xfrm>
          <a:prstGeom prst="roundRect">
            <a:avLst>
              <a:gd name="adj" fmla="val 8511"/>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822960" y="4974336"/>
            <a:ext cx="1197864" cy="859536"/>
          </a:xfrm>
          <a:prstGeom prst="rect">
            <a:avLst/>
          </a:prstGeom>
          <a:noFill/>
          <a:ln/>
        </p:spPr>
        <p:txBody>
          <a:bodyPr wrap="square" lIns="0" tIns="0" rIns="0" bIns="0" rtlCol="0" anchor="ctr">
            <a:normAutofit/>
          </a:bodyPr>
          <a:lstStyle/>
          <a:p>
            <a:pPr marL="0" indent="0" algn="ctr">
              <a:buNone/>
            </a:pPr>
            <a:r>
              <a:rPr lang="en-US" sz="950" b="1" dirty="0">
                <a:solidFill>
                  <a:srgbClr val="FFFFFF"/>
                </a:solidFill>
                <a:latin typeface="Aptos" pitchFamily="34" charset="0"/>
                <a:ea typeface="Aptos" pitchFamily="34" charset="-122"/>
                <a:cs typeface="Aptos" pitchFamily="34" charset="-120"/>
              </a:rPr>
              <a:t>SPECS</a:t>
            </a:r>
            <a:endParaRPr lang="en-US" sz="950" dirty="0"/>
          </a:p>
        </p:txBody>
      </p:sp>
      <p:sp>
        <p:nvSpPr>
          <p:cNvPr id="23" name="Text 21"/>
          <p:cNvSpPr/>
          <p:nvPr/>
        </p:nvSpPr>
        <p:spPr>
          <a:xfrm>
            <a:off x="2395728" y="5084064"/>
            <a:ext cx="3547872" cy="640080"/>
          </a:xfrm>
          <a:prstGeom prst="rect">
            <a:avLst/>
          </a:prstGeom>
          <a:noFill/>
          <a:ln/>
        </p:spPr>
        <p:txBody>
          <a:bodyPr wrap="square" lIns="0" tIns="0" rIns="0" bIns="0" rtlCol="0" anchor="ctr">
            <a:normAutofit/>
          </a:bodyPr>
          <a:lstStyle/>
          <a:p>
            <a:pPr marL="0" indent="0">
              <a:buNone/>
            </a:pPr>
            <a:r>
              <a:rPr lang="en-US" sz="1250" dirty="0">
                <a:solidFill>
                  <a:srgbClr val="202532"/>
                </a:solidFill>
                <a:latin typeface="Aptos" pitchFamily="34" charset="0"/>
                <a:ea typeface="Aptos" pitchFamily="34" charset="-122"/>
                <a:cs typeface="Aptos" pitchFamily="34" charset="-120"/>
              </a:rPr>
              <a:t>5–8 min, keyboard accessible, no drag-and-drop, SCORM 1.2</a:t>
            </a:r>
            <a:endParaRPr lang="en-US" sz="1250" dirty="0"/>
          </a:p>
        </p:txBody>
      </p:sp>
      <p:sp>
        <p:nvSpPr>
          <p:cNvPr id="24" name="Shape 22">
            <a:extLst>
              <a:ext uri="{C183D7F6-B498-43B3-948B-1728B52AA6E4}">
                <adec:decorative xmlns:adec="http://schemas.microsoft.com/office/drawing/2017/decorative" val="1"/>
              </a:ext>
            </a:extLst>
          </p:cNvPr>
          <p:cNvSpPr/>
          <p:nvPr/>
        </p:nvSpPr>
        <p:spPr>
          <a:xfrm>
            <a:off x="6565392" y="1737360"/>
            <a:ext cx="4892040" cy="4526280"/>
          </a:xfrm>
          <a:prstGeom prst="roundRect">
            <a:avLst>
              <a:gd name="adj" fmla="val 2020"/>
            </a:avLst>
          </a:prstGeom>
          <a:solidFill>
            <a:srgbClr val="17254E"/>
          </a:solidFill>
          <a:ln w="12700">
            <a:solidFill>
              <a:srgbClr val="17254E"/>
            </a:solidFill>
            <a:prstDash val="solid"/>
          </a:ln>
        </p:spPr>
        <p:txBody>
          <a:bodyPr/>
          <a:lstStyle/>
          <a:p>
            <a:endParaRPr lang="en-US"/>
          </a:p>
        </p:txBody>
      </p:sp>
      <p:sp>
        <p:nvSpPr>
          <p:cNvPr id="25" name="Text 23"/>
          <p:cNvSpPr/>
          <p:nvPr/>
        </p:nvSpPr>
        <p:spPr>
          <a:xfrm>
            <a:off x="6903720" y="2057400"/>
            <a:ext cx="4114800" cy="292608"/>
          </a:xfrm>
          <a:prstGeom prst="rect">
            <a:avLst/>
          </a:prstGeom>
          <a:noFill/>
          <a:ln/>
        </p:spPr>
        <p:txBody>
          <a:bodyPr wrap="square" lIns="0" tIns="0" rIns="0" bIns="0" rtlCol="0" anchor="ctr">
            <a:normAutofit/>
          </a:bodyPr>
          <a:lstStyle/>
          <a:p>
            <a:pPr marL="0" indent="0">
              <a:buNone/>
            </a:pPr>
            <a:r>
              <a:rPr lang="en-US" sz="1000" b="1" dirty="0">
                <a:solidFill>
                  <a:srgbClr val="D5B979"/>
                </a:solidFill>
                <a:latin typeface="Aptos" pitchFamily="34" charset="0"/>
                <a:ea typeface="Aptos" pitchFamily="34" charset="-122"/>
                <a:cs typeface="Aptos" pitchFamily="34" charset="-120"/>
              </a:rPr>
              <a:t>FROM FIRST BUILD TO COURSE PLACEMENT</a:t>
            </a:r>
            <a:endParaRPr lang="en-US" sz="1000" dirty="0"/>
          </a:p>
        </p:txBody>
      </p:sp>
      <p:sp>
        <p:nvSpPr>
          <p:cNvPr id="26" name="Shape 24">
            <a:extLst>
              <a:ext uri="{C183D7F6-B498-43B3-948B-1728B52AA6E4}">
                <adec:decorative xmlns:adec="http://schemas.microsoft.com/office/drawing/2017/decorative" val="1"/>
              </a:ext>
            </a:extLst>
          </p:cNvPr>
          <p:cNvSpPr/>
          <p:nvPr/>
        </p:nvSpPr>
        <p:spPr>
          <a:xfrm>
            <a:off x="6931152" y="2670048"/>
            <a:ext cx="420624" cy="420624"/>
          </a:xfrm>
          <a:prstGeom prst="ellipse">
            <a:avLst/>
          </a:prstGeom>
          <a:solidFill>
            <a:srgbClr val="149966"/>
          </a:solidFill>
          <a:ln w="12700">
            <a:solidFill>
              <a:srgbClr val="149966"/>
            </a:solidFill>
            <a:prstDash val="solid"/>
          </a:ln>
        </p:spPr>
        <p:txBody>
          <a:bodyPr/>
          <a:lstStyle/>
          <a:p>
            <a:endParaRPr lang="en-US"/>
          </a:p>
        </p:txBody>
      </p:sp>
      <p:sp>
        <p:nvSpPr>
          <p:cNvPr id="27" name="Text 25"/>
          <p:cNvSpPr/>
          <p:nvPr/>
        </p:nvSpPr>
        <p:spPr>
          <a:xfrm>
            <a:off x="6931152" y="2670048"/>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28" name="Text 26"/>
          <p:cNvSpPr/>
          <p:nvPr/>
        </p:nvSpPr>
        <p:spPr>
          <a:xfrm>
            <a:off x="7571232" y="2651760"/>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Mismatch: recognition only</a:t>
            </a:r>
            <a:endParaRPr lang="en-US" sz="1300" dirty="0"/>
          </a:p>
        </p:txBody>
      </p:sp>
      <p:sp>
        <p:nvSpPr>
          <p:cNvPr id="29" name="Shape 27">
            <a:extLst>
              <a:ext uri="{C183D7F6-B498-43B3-948B-1728B52AA6E4}">
                <adec:decorative xmlns:adec="http://schemas.microsoft.com/office/drawing/2017/decorative" val="1"/>
              </a:ext>
            </a:extLst>
          </p:cNvPr>
          <p:cNvSpPr/>
          <p:nvPr/>
        </p:nvSpPr>
        <p:spPr>
          <a:xfrm>
            <a:off x="7141464" y="3118104"/>
            <a:ext cx="0" cy="320040"/>
          </a:xfrm>
          <a:prstGeom prst="line">
            <a:avLst/>
          </a:prstGeom>
          <a:noFill/>
          <a:ln w="15240">
            <a:solidFill>
              <a:srgbClr val="8FA0BF"/>
            </a:solidFill>
            <a:prstDash val="solid"/>
            <a:headEnd type="none"/>
            <a:tailEnd type="none"/>
          </a:ln>
        </p:spPr>
        <p:txBody>
          <a:bodyPr/>
          <a:lstStyle/>
          <a:p>
            <a:endParaRPr lang="en-US"/>
          </a:p>
        </p:txBody>
      </p:sp>
      <p:sp>
        <p:nvSpPr>
          <p:cNvPr id="30" name="Shape 28">
            <a:extLst>
              <a:ext uri="{C183D7F6-B498-43B3-948B-1728B52AA6E4}">
                <adec:decorative xmlns:adec="http://schemas.microsoft.com/office/drawing/2017/decorative" val="1"/>
              </a:ext>
            </a:extLst>
          </p:cNvPr>
          <p:cNvSpPr/>
          <p:nvPr/>
        </p:nvSpPr>
        <p:spPr>
          <a:xfrm>
            <a:off x="6931152" y="3474720"/>
            <a:ext cx="420624" cy="420624"/>
          </a:xfrm>
          <a:prstGeom prst="ellipse">
            <a:avLst/>
          </a:prstGeom>
          <a:solidFill>
            <a:srgbClr val="149966"/>
          </a:solidFill>
          <a:ln w="12700">
            <a:solidFill>
              <a:srgbClr val="149966"/>
            </a:solidFill>
            <a:prstDash val="solid"/>
          </a:ln>
        </p:spPr>
        <p:txBody>
          <a:bodyPr/>
          <a:lstStyle/>
          <a:p>
            <a:endParaRPr lang="en-US"/>
          </a:p>
        </p:txBody>
      </p:sp>
      <p:sp>
        <p:nvSpPr>
          <p:cNvPr id="31" name="Text 29"/>
          <p:cNvSpPr/>
          <p:nvPr/>
        </p:nvSpPr>
        <p:spPr>
          <a:xfrm>
            <a:off x="6931152" y="3474720"/>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32" name="Text 30"/>
          <p:cNvSpPr/>
          <p:nvPr/>
        </p:nvSpPr>
        <p:spPr>
          <a:xfrm>
            <a:off x="7571232" y="3456432"/>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Lens: Interaction Design</a:t>
            </a:r>
            <a:endParaRPr lang="en-US" sz="1300" dirty="0"/>
          </a:p>
        </p:txBody>
      </p:sp>
      <p:sp>
        <p:nvSpPr>
          <p:cNvPr id="33" name="Shape 31">
            <a:extLst>
              <a:ext uri="{C183D7F6-B498-43B3-948B-1728B52AA6E4}">
                <adec:decorative xmlns:adec="http://schemas.microsoft.com/office/drawing/2017/decorative" val="1"/>
              </a:ext>
            </a:extLst>
          </p:cNvPr>
          <p:cNvSpPr/>
          <p:nvPr/>
        </p:nvSpPr>
        <p:spPr>
          <a:xfrm>
            <a:off x="7141464" y="3922776"/>
            <a:ext cx="0" cy="320040"/>
          </a:xfrm>
          <a:prstGeom prst="line">
            <a:avLst/>
          </a:prstGeom>
          <a:noFill/>
          <a:ln w="15240">
            <a:solidFill>
              <a:srgbClr val="8FA0BF"/>
            </a:solidFill>
            <a:prstDash val="solid"/>
            <a:headEnd type="none"/>
            <a:tailEnd type="none"/>
          </a:ln>
        </p:spPr>
        <p:txBody>
          <a:bodyPr/>
          <a:lstStyle/>
          <a:p>
            <a:endParaRPr lang="en-US"/>
          </a:p>
        </p:txBody>
      </p:sp>
      <p:sp>
        <p:nvSpPr>
          <p:cNvPr id="34" name="Shape 32">
            <a:extLst>
              <a:ext uri="{C183D7F6-B498-43B3-948B-1728B52AA6E4}">
                <adec:decorative xmlns:adec="http://schemas.microsoft.com/office/drawing/2017/decorative" val="1"/>
              </a:ext>
            </a:extLst>
          </p:cNvPr>
          <p:cNvSpPr/>
          <p:nvPr/>
        </p:nvSpPr>
        <p:spPr>
          <a:xfrm>
            <a:off x="6931152" y="4279392"/>
            <a:ext cx="420624" cy="420624"/>
          </a:xfrm>
          <a:prstGeom prst="ellipse">
            <a:avLst/>
          </a:prstGeom>
          <a:solidFill>
            <a:srgbClr val="149966"/>
          </a:solidFill>
          <a:ln w="12700">
            <a:solidFill>
              <a:srgbClr val="149966"/>
            </a:solidFill>
            <a:prstDash val="solid"/>
          </a:ln>
        </p:spPr>
        <p:txBody>
          <a:bodyPr/>
          <a:lstStyle/>
          <a:p>
            <a:endParaRPr lang="en-US"/>
          </a:p>
        </p:txBody>
      </p:sp>
      <p:sp>
        <p:nvSpPr>
          <p:cNvPr id="35" name="Text 33"/>
          <p:cNvSpPr/>
          <p:nvPr/>
        </p:nvSpPr>
        <p:spPr>
          <a:xfrm>
            <a:off x="6931152" y="4279392"/>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36" name="Text 34"/>
          <p:cNvSpPr/>
          <p:nvPr/>
        </p:nvSpPr>
        <p:spPr>
          <a:xfrm>
            <a:off x="7571232" y="4261104"/>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Target: compare evidence</a:t>
            </a:r>
            <a:endParaRPr lang="en-US" sz="1300" dirty="0"/>
          </a:p>
        </p:txBody>
      </p:sp>
      <p:sp>
        <p:nvSpPr>
          <p:cNvPr id="37" name="Shape 35">
            <a:extLst>
              <a:ext uri="{C183D7F6-B498-43B3-948B-1728B52AA6E4}">
                <adec:decorative xmlns:adec="http://schemas.microsoft.com/office/drawing/2017/decorative" val="1"/>
              </a:ext>
            </a:extLst>
          </p:cNvPr>
          <p:cNvSpPr/>
          <p:nvPr/>
        </p:nvSpPr>
        <p:spPr>
          <a:xfrm>
            <a:off x="7141464" y="4727448"/>
            <a:ext cx="0" cy="320040"/>
          </a:xfrm>
          <a:prstGeom prst="line">
            <a:avLst/>
          </a:prstGeom>
          <a:noFill/>
          <a:ln w="15240">
            <a:solidFill>
              <a:srgbClr val="8FA0BF"/>
            </a:solidFill>
            <a:prstDash val="solid"/>
            <a:headEnd type="none"/>
            <a:tailEnd type="none"/>
          </a:ln>
        </p:spPr>
        <p:txBody>
          <a:bodyPr/>
          <a:lstStyle/>
          <a:p>
            <a:endParaRPr lang="en-US"/>
          </a:p>
        </p:txBody>
      </p:sp>
      <p:sp>
        <p:nvSpPr>
          <p:cNvPr id="38" name="Shape 36">
            <a:extLst>
              <a:ext uri="{C183D7F6-B498-43B3-948B-1728B52AA6E4}">
                <adec:decorative xmlns:adec="http://schemas.microsoft.com/office/drawing/2017/decorative" val="1"/>
              </a:ext>
            </a:extLst>
          </p:cNvPr>
          <p:cNvSpPr/>
          <p:nvPr/>
        </p:nvSpPr>
        <p:spPr>
          <a:xfrm>
            <a:off x="6931152" y="5084064"/>
            <a:ext cx="420624" cy="420624"/>
          </a:xfrm>
          <a:prstGeom prst="ellipse">
            <a:avLst/>
          </a:prstGeom>
          <a:solidFill>
            <a:srgbClr val="D5B979"/>
          </a:solidFill>
          <a:ln w="12700">
            <a:solidFill>
              <a:srgbClr val="D5B979"/>
            </a:solidFill>
            <a:prstDash val="solid"/>
          </a:ln>
        </p:spPr>
        <p:txBody>
          <a:bodyPr/>
          <a:lstStyle/>
          <a:p>
            <a:endParaRPr lang="en-US"/>
          </a:p>
        </p:txBody>
      </p:sp>
      <p:sp>
        <p:nvSpPr>
          <p:cNvPr id="39" name="Text 37"/>
          <p:cNvSpPr/>
          <p:nvPr/>
        </p:nvSpPr>
        <p:spPr>
          <a:xfrm>
            <a:off x="6931152" y="5084064"/>
            <a:ext cx="420624" cy="420624"/>
          </a:xfrm>
          <a:prstGeom prst="rect">
            <a:avLst/>
          </a:prstGeom>
          <a:noFill/>
          <a:ln/>
        </p:spPr>
        <p:txBody>
          <a:bodyPr wrap="square" lIns="0" tIns="0" rIns="0" bIns="0" rtlCol="0" anchor="ctr">
            <a:normAutofit/>
          </a:bodyPr>
          <a:lstStyle/>
          <a:p>
            <a:pPr marL="0" indent="0" algn="ctr">
              <a:buNone/>
            </a:pPr>
            <a:r>
              <a:rPr lang="en-US" sz="900" b="1" dirty="0">
                <a:solidFill>
                  <a:srgbClr val="17254E"/>
                </a:solidFill>
                <a:latin typeface="Aptos" pitchFamily="34" charset="0"/>
                <a:ea typeface="Aptos" pitchFamily="34" charset="-122"/>
                <a:cs typeface="Aptos" pitchFamily="34" charset="-120"/>
              </a:rPr>
              <a:t>4</a:t>
            </a:r>
            <a:endParaRPr lang="en-US" sz="900" dirty="0"/>
          </a:p>
        </p:txBody>
      </p:sp>
      <p:sp>
        <p:nvSpPr>
          <p:cNvPr id="40" name="Text 38"/>
          <p:cNvSpPr/>
          <p:nvPr/>
        </p:nvSpPr>
        <p:spPr>
          <a:xfrm>
            <a:off x="7571232" y="5065776"/>
            <a:ext cx="3337560" cy="457200"/>
          </a:xfrm>
          <a:prstGeom prst="rect">
            <a:avLst/>
          </a:prstGeom>
          <a:noFill/>
          <a:ln/>
        </p:spPr>
        <p:txBody>
          <a:bodyPr wrap="square" lIns="0" tIns="0" rIns="0" bIns="0" rtlCol="0" anchor="ctr">
            <a:normAutofit/>
          </a:bodyPr>
          <a:lstStyle/>
          <a:p>
            <a:pPr marL="0" indent="0">
              <a:buNone/>
            </a:pPr>
            <a:r>
              <a:rPr lang="en-US" sz="1300" b="1" dirty="0">
                <a:solidFill>
                  <a:srgbClr val="FFFFFF"/>
                </a:solidFill>
                <a:latin typeface="Aptos" pitchFamily="34" charset="0"/>
                <a:ea typeface="Aptos" pitchFamily="34" charset="-122"/>
                <a:cs typeface="Aptos" pitchFamily="34" charset="-120"/>
              </a:rPr>
              <a:t>Test + place before writing</a:t>
            </a:r>
            <a:endParaRPr lang="en-US" sz="1300" dirty="0"/>
          </a:p>
        </p:txBody>
      </p:sp>
      <p:sp>
        <p:nvSpPr>
          <p:cNvPr id="41" name="Text 39"/>
          <p:cNvSpPr/>
          <p:nvPr/>
        </p:nvSpPr>
        <p:spPr>
          <a:xfrm>
            <a:off x="6903720" y="5806440"/>
            <a:ext cx="4251960" cy="320040"/>
          </a:xfrm>
          <a:prstGeom prst="rect">
            <a:avLst/>
          </a:prstGeom>
          <a:noFill/>
          <a:ln/>
        </p:spPr>
        <p:txBody>
          <a:bodyPr wrap="square" lIns="0" tIns="0" rIns="0" bIns="0" rtlCol="0" anchor="ctr">
            <a:normAutofit/>
          </a:bodyPr>
          <a:lstStyle/>
          <a:p>
            <a:pPr marL="0" indent="0" algn="ctr">
              <a:buNone/>
            </a:pPr>
            <a:r>
              <a:rPr lang="en-US" sz="1100" i="1" dirty="0">
                <a:solidFill>
                  <a:srgbClr val="DCE4F2"/>
                </a:solidFill>
                <a:latin typeface="Aptos" pitchFamily="34" charset="0"/>
                <a:ea typeface="Aptos" pitchFamily="34" charset="-122"/>
                <a:cs typeface="Aptos" pitchFamily="34" charset="-120"/>
              </a:rPr>
              <a:t>AI builds a component of the synthetic object—not “the lesson.”</a:t>
            </a:r>
            <a:endParaRPr lang="en-US" sz="11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EFA"/>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Physics: from a source to an interactive mission planner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Shape 1">
            <a:extLst>
              <a:ext uri="{FF2B5EF4-FFF2-40B4-BE49-F238E27FC236}">
                <a16:creationId xmlns:a16="http://schemas.microsoft.com/office/drawing/2014/main" id="{F70E446E-7098-E3A2-C594-677D0CCF9581}"/>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19" name="Text 2">
            <a:extLst>
              <a:ext uri="{FF2B5EF4-FFF2-40B4-BE49-F238E27FC236}">
                <a16:creationId xmlns:a16="http://schemas.microsoft.com/office/drawing/2014/main" id="{CE8F5B3A-7545-A631-5BDC-057B26737036}"/>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A high-asset design direction with explicit model and validation requirements</a:t>
            </a:r>
            <a:endParaRPr lang="en-US" sz="1500" dirty="0"/>
          </a:p>
        </p:txBody>
      </p:sp>
      <p:pic>
        <p:nvPicPr>
          <p:cNvPr id="8" name="Image 0" descr="An orbital mechanics interactive design document with an illustration: earth, mars, spacecraft, and sun objects and orbital paths. "/>
          <p:cNvPicPr>
            <a:picLocks noChangeAspect="1"/>
          </p:cNvPicPr>
          <p:nvPr/>
        </p:nvPicPr>
        <p:blipFill>
          <a:blip r:embed="rId3"/>
          <a:stretch>
            <a:fillRect/>
          </a:stretch>
        </p:blipFill>
        <p:spPr>
          <a:xfrm>
            <a:off x="713232" y="1828800"/>
            <a:ext cx="5669280" cy="3182112"/>
          </a:xfrm>
          <a:prstGeom prst="rect">
            <a:avLst/>
          </a:prstGeom>
        </p:spPr>
      </p:pic>
      <p:sp>
        <p:nvSpPr>
          <p:cNvPr id="9" name="Shape 6">
            <a:extLst>
              <a:ext uri="{C183D7F6-B498-43B3-948B-1728B52AA6E4}">
                <adec:decorative xmlns:adec="http://schemas.microsoft.com/office/drawing/2017/decorative" val="1"/>
              </a:ext>
            </a:extLst>
          </p:cNvPr>
          <p:cNvSpPr/>
          <p:nvPr/>
        </p:nvSpPr>
        <p:spPr>
          <a:xfrm>
            <a:off x="6720840" y="1828800"/>
            <a:ext cx="4709160" cy="3611880"/>
          </a:xfrm>
          <a:prstGeom prst="roundRect">
            <a:avLst>
              <a:gd name="adj" fmla="val 2025"/>
            </a:avLst>
          </a:prstGeom>
          <a:solidFill>
            <a:srgbClr val="FFFFFF"/>
          </a:solidFill>
          <a:ln w="12700">
            <a:solidFill>
              <a:srgbClr val="D8DCE4"/>
            </a:solidFill>
            <a:prstDash val="solid"/>
          </a:ln>
        </p:spPr>
        <p:txBody>
          <a:bodyPr/>
          <a:lstStyle/>
          <a:p>
            <a:endParaRPr lang="en-US"/>
          </a:p>
        </p:txBody>
      </p:sp>
      <p:sp>
        <p:nvSpPr>
          <p:cNvPr id="10" name="Shape 7">
            <a:extLst>
              <a:ext uri="{C183D7F6-B498-43B3-948B-1728B52AA6E4}">
                <adec:decorative xmlns:adec="http://schemas.microsoft.com/office/drawing/2017/decorative" val="1"/>
              </a:ext>
            </a:extLst>
          </p:cNvPr>
          <p:cNvSpPr/>
          <p:nvPr/>
        </p:nvSpPr>
        <p:spPr>
          <a:xfrm>
            <a:off x="7022592" y="2103120"/>
            <a:ext cx="2514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8"/>
          <p:cNvSpPr/>
          <p:nvPr/>
        </p:nvSpPr>
        <p:spPr>
          <a:xfrm>
            <a:off x="7132320" y="2103120"/>
            <a:ext cx="2295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WHAT THE INSTRUCTOR BRINGS</a:t>
            </a:r>
            <a:endParaRPr lang="en-US" sz="1100" dirty="0"/>
          </a:p>
        </p:txBody>
      </p:sp>
      <p:sp>
        <p:nvSpPr>
          <p:cNvPr id="12" name="Text 9"/>
          <p:cNvSpPr/>
          <p:nvPr/>
        </p:nvSpPr>
        <p:spPr>
          <a:xfrm>
            <a:off x="7022592" y="2761488"/>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Outcome</a:t>
            </a:r>
            <a:endParaRPr lang="en-US" sz="1100" dirty="0"/>
          </a:p>
        </p:txBody>
      </p:sp>
      <p:sp>
        <p:nvSpPr>
          <p:cNvPr id="13" name="Text 10"/>
          <p:cNvSpPr/>
          <p:nvPr/>
        </p:nvSpPr>
        <p:spPr>
          <a:xfrm>
            <a:off x="7022592" y="3054096"/>
            <a:ext cx="3840480" cy="658368"/>
          </a:xfrm>
          <a:prstGeom prst="rect">
            <a:avLst/>
          </a:prstGeom>
          <a:noFill/>
          <a:ln/>
        </p:spPr>
        <p:txBody>
          <a:bodyPr wrap="square" lIns="0" tIns="0" rIns="0" bIns="0" rtlCol="0" anchor="ctr">
            <a:normAutofit/>
          </a:bodyPr>
          <a:lstStyle/>
          <a:p>
            <a:pPr marL="0" indent="0">
              <a:buNone/>
            </a:pPr>
            <a:r>
              <a:rPr lang="en-US" sz="1500" dirty="0">
                <a:solidFill>
                  <a:srgbClr val="202532"/>
                </a:solidFill>
                <a:latin typeface="Aptos" pitchFamily="34" charset="0"/>
                <a:ea typeface="Aptos" pitchFamily="34" charset="-122"/>
                <a:cs typeface="Aptos" pitchFamily="34" charset="-120"/>
              </a:rPr>
              <a:t>Explain why an Earth-to-Mars mission must launch at the right phase angle.</a:t>
            </a:r>
            <a:endParaRPr lang="en-US" sz="1500" dirty="0"/>
          </a:p>
        </p:txBody>
      </p:sp>
      <p:sp>
        <p:nvSpPr>
          <p:cNvPr id="14" name="Text 11"/>
          <p:cNvSpPr/>
          <p:nvPr/>
        </p:nvSpPr>
        <p:spPr>
          <a:xfrm>
            <a:off x="7022592" y="3840480"/>
            <a:ext cx="91440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Resources</a:t>
            </a:r>
            <a:endParaRPr lang="en-US" sz="1100" dirty="0"/>
          </a:p>
        </p:txBody>
      </p:sp>
      <p:sp>
        <p:nvSpPr>
          <p:cNvPr id="15" name="Text 12"/>
          <p:cNvSpPr/>
          <p:nvPr/>
        </p:nvSpPr>
        <p:spPr>
          <a:xfrm>
            <a:off x="7022592" y="4133088"/>
            <a:ext cx="3840480" cy="566928"/>
          </a:xfrm>
          <a:prstGeom prst="rect">
            <a:avLst/>
          </a:prstGeom>
          <a:noFill/>
          <a:ln/>
        </p:spPr>
        <p:txBody>
          <a:bodyPr wrap="square" lIns="0" tIns="0" rIns="0" bIns="0" rtlCol="0" anchor="ctr">
            <a:normAutofit/>
          </a:bodyPr>
          <a:lstStyle/>
          <a:p>
            <a:pPr marL="0" indent="0">
              <a:buNone/>
            </a:pPr>
            <a:r>
              <a:rPr lang="en-US" sz="1500" dirty="0">
                <a:solidFill>
                  <a:srgbClr val="202532"/>
                </a:solidFill>
                <a:latin typeface="Aptos" pitchFamily="34" charset="0"/>
                <a:ea typeface="Aptos" pitchFamily="34" charset="-122"/>
                <a:cs typeface="Aptos" pitchFamily="34" charset="-120"/>
              </a:rPr>
              <a:t>NASA/JPL guidance + constants + formulas + expected values.</a:t>
            </a:r>
            <a:endParaRPr lang="en-US" sz="1500" dirty="0"/>
          </a:p>
        </p:txBody>
      </p:sp>
      <p:sp>
        <p:nvSpPr>
          <p:cNvPr id="16" name="Text 13"/>
          <p:cNvSpPr/>
          <p:nvPr/>
        </p:nvSpPr>
        <p:spPr>
          <a:xfrm>
            <a:off x="7022592" y="4846320"/>
            <a:ext cx="1097280" cy="274320"/>
          </a:xfrm>
          <a:prstGeom prst="rect">
            <a:avLst/>
          </a:prstGeom>
          <a:noFill/>
          <a:ln/>
        </p:spPr>
        <p:txBody>
          <a:bodyPr wrap="square" lIns="0" tIns="0" rIns="0" bIns="0" rtlCol="0" anchor="ctr">
            <a:normAutofit/>
          </a:bodyPr>
          <a:lstStyle/>
          <a:p>
            <a:pPr marL="0" indent="0">
              <a:buNone/>
            </a:pPr>
            <a:r>
              <a:rPr lang="en-US" sz="1100" b="1" dirty="0">
                <a:solidFill>
                  <a:srgbClr val="0B7049"/>
                </a:solidFill>
                <a:latin typeface="Aptos" pitchFamily="34" charset="0"/>
                <a:ea typeface="Aptos" pitchFamily="34" charset="-122"/>
                <a:cs typeface="Aptos" pitchFamily="34" charset="-120"/>
              </a:rPr>
              <a:t>Responsibility</a:t>
            </a:r>
            <a:endParaRPr lang="en-US" sz="1100" dirty="0"/>
          </a:p>
        </p:txBody>
      </p:sp>
      <p:sp>
        <p:nvSpPr>
          <p:cNvPr id="17" name="Text 14"/>
          <p:cNvSpPr/>
          <p:nvPr/>
        </p:nvSpPr>
        <p:spPr>
          <a:xfrm>
            <a:off x="7022592" y="5120640"/>
            <a:ext cx="3840480" cy="411480"/>
          </a:xfrm>
          <a:prstGeom prst="rect">
            <a:avLst/>
          </a:prstGeom>
          <a:noFill/>
          <a:ln/>
        </p:spPr>
        <p:txBody>
          <a:bodyPr wrap="square" lIns="0" tIns="0" rIns="0" bIns="0" rtlCol="0" anchor="ctr">
            <a:normAutofit lnSpcReduction="10000"/>
          </a:bodyPr>
          <a:lstStyle/>
          <a:p>
            <a:pPr marL="0" indent="0">
              <a:buNone/>
            </a:pPr>
            <a:r>
              <a:rPr lang="en-US" sz="1400" dirty="0">
                <a:solidFill>
                  <a:srgbClr val="202532"/>
                </a:solidFill>
                <a:latin typeface="Aptos" pitchFamily="34" charset="0"/>
                <a:ea typeface="Aptos" pitchFamily="34" charset="-122"/>
                <a:cs typeface="Aptos" pitchFamily="34" charset="-120"/>
              </a:rPr>
              <a:t>State assumptions and limits; validate calculations.</a:t>
            </a:r>
            <a:endParaRPr lang="en-US" sz="14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EFA"/>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Physics: the prompt becomes a test specification</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6" name="Shape 1">
            <a:extLst>
              <a:ext uri="{FF2B5EF4-FFF2-40B4-BE49-F238E27FC236}">
                <a16:creationId xmlns:a16="http://schemas.microsoft.com/office/drawing/2014/main" id="{9A0ED042-8909-6972-5447-E2586E7E4D0B}"/>
              </a:ext>
              <a:ext uri="{C183D7F6-B498-43B3-948B-1728B52AA6E4}">
                <adec:decorative xmlns:adec="http://schemas.microsoft.com/office/drawing/2017/decorative" val="1"/>
              </a:ext>
            </a:extLst>
          </p:cNvPr>
          <p:cNvSpPr/>
          <p:nvPr/>
        </p:nvSpPr>
        <p:spPr>
          <a:xfrm>
            <a:off x="594360" y="246888"/>
            <a:ext cx="1965960" cy="347472"/>
          </a:xfrm>
          <a:prstGeom prst="roundRect">
            <a:avLst>
              <a:gd name="adj" fmla="val 23684"/>
            </a:avLst>
          </a:prstGeom>
          <a:solidFill>
            <a:srgbClr val="17254E"/>
          </a:solidFill>
          <a:ln w="12700">
            <a:solidFill>
              <a:srgbClr val="17254E"/>
            </a:solidFill>
            <a:prstDash val="solid"/>
          </a:ln>
        </p:spPr>
        <p:txBody>
          <a:bodyPr/>
          <a:lstStyle/>
          <a:p>
            <a:endParaRPr lang="en-US"/>
          </a:p>
        </p:txBody>
      </p:sp>
      <p:sp>
        <p:nvSpPr>
          <p:cNvPr id="27" name="Text 2">
            <a:extLst>
              <a:ext uri="{FF2B5EF4-FFF2-40B4-BE49-F238E27FC236}">
                <a16:creationId xmlns:a16="http://schemas.microsoft.com/office/drawing/2014/main" id="{6B32F2B8-0F37-2890-FB4B-F068C04D8C8E}"/>
              </a:ext>
            </a:extLst>
          </p:cNvPr>
          <p:cNvSpPr/>
          <p:nvPr/>
        </p:nvSpPr>
        <p:spPr>
          <a:xfrm>
            <a:off x="667512" y="246888"/>
            <a:ext cx="181965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CASE STUDIES</a:t>
            </a:r>
            <a:endParaRPr lang="en-US" sz="900"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Review through lenses, request targeted corrections, then validate and package</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658368"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58368" y="1847088"/>
            <a:ext cx="2523744" cy="640080"/>
          </a:xfrm>
          <a:prstGeom prst="roundRect">
            <a:avLst>
              <a:gd name="adj" fmla="val 11429"/>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768096"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FIRST BUILD</a:t>
            </a:r>
            <a:endParaRPr lang="en-US" sz="1000" dirty="0"/>
          </a:p>
        </p:txBody>
      </p:sp>
      <p:sp>
        <p:nvSpPr>
          <p:cNvPr id="11" name="Text 9"/>
          <p:cNvSpPr/>
          <p:nvPr/>
        </p:nvSpPr>
        <p:spPr>
          <a:xfrm>
            <a:off x="886968"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Orbital model works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Explanation drifts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Control lacks status text</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3474720"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13" name="Shape 11">
            <a:extLst>
              <a:ext uri="{C183D7F6-B498-43B3-948B-1728B52AA6E4}">
                <adec:decorative xmlns:adec="http://schemas.microsoft.com/office/drawing/2017/decorative" val="1"/>
              </a:ext>
            </a:extLst>
          </p:cNvPr>
          <p:cNvSpPr/>
          <p:nvPr/>
        </p:nvSpPr>
        <p:spPr>
          <a:xfrm>
            <a:off x="3474720" y="1847088"/>
            <a:ext cx="2523744" cy="640080"/>
          </a:xfrm>
          <a:prstGeom prst="roundRect">
            <a:avLst>
              <a:gd name="adj" fmla="val 11429"/>
            </a:avLst>
          </a:prstGeom>
          <a:solidFill>
            <a:srgbClr val="0B7049"/>
          </a:solidFill>
          <a:ln w="12700">
            <a:solidFill>
              <a:srgbClr val="0B7049"/>
            </a:solidFill>
            <a:prstDash val="solid"/>
          </a:ln>
        </p:spPr>
        <p:txBody>
          <a:bodyPr/>
          <a:lstStyle/>
          <a:p>
            <a:endParaRPr lang="en-US"/>
          </a:p>
        </p:txBody>
      </p:sp>
      <p:sp>
        <p:nvSpPr>
          <p:cNvPr id="14" name="Text 12"/>
          <p:cNvSpPr/>
          <p:nvPr/>
        </p:nvSpPr>
        <p:spPr>
          <a:xfrm>
            <a:off x="3584448"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LENS REVIEW</a:t>
            </a:r>
            <a:endParaRPr lang="en-US" sz="1000" dirty="0"/>
          </a:p>
        </p:txBody>
      </p:sp>
      <p:sp>
        <p:nvSpPr>
          <p:cNvPr id="15" name="Text 13"/>
          <p:cNvSpPr/>
          <p:nvPr/>
        </p:nvSpPr>
        <p:spPr>
          <a:xfrm>
            <a:off x="3703320"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Expert Content</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Artifact Specification</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Interaction Design</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6291072"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17" name="Shape 15">
            <a:extLst>
              <a:ext uri="{C183D7F6-B498-43B3-948B-1728B52AA6E4}">
                <adec:decorative xmlns:adec="http://schemas.microsoft.com/office/drawing/2017/decorative" val="1"/>
              </a:ext>
            </a:extLst>
          </p:cNvPr>
          <p:cNvSpPr/>
          <p:nvPr/>
        </p:nvSpPr>
        <p:spPr>
          <a:xfrm>
            <a:off x="6291072" y="1847088"/>
            <a:ext cx="2523744" cy="640080"/>
          </a:xfrm>
          <a:prstGeom prst="roundRect">
            <a:avLst>
              <a:gd name="adj" fmla="val 11429"/>
            </a:avLst>
          </a:prstGeom>
          <a:solidFill>
            <a:srgbClr val="6B7EA8"/>
          </a:solidFill>
          <a:ln w="12700">
            <a:solidFill>
              <a:srgbClr val="6B7EA8"/>
            </a:solidFill>
            <a:prstDash val="solid"/>
          </a:ln>
        </p:spPr>
        <p:txBody>
          <a:bodyPr/>
          <a:lstStyle/>
          <a:p>
            <a:endParaRPr lang="en-US"/>
          </a:p>
        </p:txBody>
      </p:sp>
      <p:sp>
        <p:nvSpPr>
          <p:cNvPr id="18" name="Text 16"/>
          <p:cNvSpPr/>
          <p:nvPr/>
        </p:nvSpPr>
        <p:spPr>
          <a:xfrm>
            <a:off x="6400800"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TARGET + TEST</a:t>
            </a:r>
            <a:endParaRPr lang="en-US" sz="1000" dirty="0"/>
          </a:p>
        </p:txBody>
      </p:sp>
      <p:sp>
        <p:nvSpPr>
          <p:cNvPr id="19" name="Text 17"/>
          <p:cNvSpPr/>
          <p:nvPr/>
        </p:nvSpPr>
        <p:spPr>
          <a:xfrm>
            <a:off x="6519672"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Correct from notes</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Announce visual state</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Validate baseline values</a:t>
            </a:r>
            <a:endParaRPr lang="en-US" sz="1400" dirty="0"/>
          </a:p>
        </p:txBody>
      </p:sp>
      <p:sp>
        <p:nvSpPr>
          <p:cNvPr id="20" name="Shape 18">
            <a:extLst>
              <a:ext uri="{C183D7F6-B498-43B3-948B-1728B52AA6E4}">
                <adec:decorative xmlns:adec="http://schemas.microsoft.com/office/drawing/2017/decorative" val="1"/>
              </a:ext>
            </a:extLst>
          </p:cNvPr>
          <p:cNvSpPr/>
          <p:nvPr/>
        </p:nvSpPr>
        <p:spPr>
          <a:xfrm>
            <a:off x="9107424" y="1847088"/>
            <a:ext cx="2523744" cy="3246120"/>
          </a:xfrm>
          <a:prstGeom prst="roundRect">
            <a:avLst>
              <a:gd name="adj" fmla="val 2899"/>
            </a:avLst>
          </a:prstGeom>
          <a:solidFill>
            <a:srgbClr val="FFFFFF"/>
          </a:solidFill>
          <a:ln w="12700">
            <a:solidFill>
              <a:srgbClr val="D8DCE4"/>
            </a:solidFill>
            <a:prstDash val="solid"/>
          </a:ln>
        </p:spPr>
        <p:txBody>
          <a:bodyPr/>
          <a:lstStyle/>
          <a:p>
            <a:endParaRPr lang="en-US"/>
          </a:p>
        </p:txBody>
      </p:sp>
      <p:sp>
        <p:nvSpPr>
          <p:cNvPr id="21" name="Shape 19">
            <a:extLst>
              <a:ext uri="{C183D7F6-B498-43B3-948B-1728B52AA6E4}">
                <adec:decorative xmlns:adec="http://schemas.microsoft.com/office/drawing/2017/decorative" val="1"/>
              </a:ext>
            </a:extLst>
          </p:cNvPr>
          <p:cNvSpPr/>
          <p:nvPr/>
        </p:nvSpPr>
        <p:spPr>
          <a:xfrm>
            <a:off x="9107424" y="1847088"/>
            <a:ext cx="2523744" cy="640080"/>
          </a:xfrm>
          <a:prstGeom prst="roundRect">
            <a:avLst>
              <a:gd name="adj" fmla="val 11429"/>
            </a:avLst>
          </a:prstGeom>
          <a:solidFill>
            <a:srgbClr val="BD7B24"/>
          </a:solidFill>
          <a:ln w="12700">
            <a:solidFill>
              <a:srgbClr val="BD7B24"/>
            </a:solidFill>
            <a:prstDash val="solid"/>
          </a:ln>
        </p:spPr>
        <p:txBody>
          <a:bodyPr/>
          <a:lstStyle/>
          <a:p>
            <a:endParaRPr lang="en-US"/>
          </a:p>
        </p:txBody>
      </p:sp>
      <p:sp>
        <p:nvSpPr>
          <p:cNvPr id="22" name="Text 20"/>
          <p:cNvSpPr/>
          <p:nvPr/>
        </p:nvSpPr>
        <p:spPr>
          <a:xfrm>
            <a:off x="9217152" y="1847088"/>
            <a:ext cx="2304288" cy="640080"/>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IMPLEMENT</a:t>
            </a:r>
            <a:endParaRPr lang="en-US" sz="1000" dirty="0"/>
          </a:p>
        </p:txBody>
      </p:sp>
      <p:sp>
        <p:nvSpPr>
          <p:cNvPr id="23" name="Text 21"/>
          <p:cNvSpPr/>
          <p:nvPr/>
        </p:nvSpPr>
        <p:spPr>
          <a:xfrm>
            <a:off x="9336024" y="2880360"/>
            <a:ext cx="2066544" cy="1737360"/>
          </a:xfrm>
          <a:prstGeom prst="rect">
            <a:avLst/>
          </a:prstGeom>
          <a:noFill/>
          <a:ln/>
        </p:spPr>
        <p:txBody>
          <a:bodyPr wrap="square" lIns="0" tIns="0" rIns="0" bIns="0" rtlCol="0" anchor="t">
            <a:normAutofit/>
          </a:bodyPr>
          <a:lstStyle/>
          <a:p>
            <a:pPr marL="0" indent="0" algn="ctr">
              <a:buNone/>
            </a:pPr>
            <a:r>
              <a:rPr lang="en-US" sz="1400" dirty="0">
                <a:solidFill>
                  <a:srgbClr val="202532"/>
                </a:solidFill>
                <a:latin typeface="Aptos" pitchFamily="34" charset="0"/>
                <a:ea typeface="Aptos" pitchFamily="34" charset="-122"/>
                <a:cs typeface="Aptos" pitchFamily="34" charset="-120"/>
              </a:rPr>
              <a:t>Preserve source</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Package SCORM</a:t>
            </a:r>
            <a:endParaRPr lang="en-US" sz="1400" dirty="0"/>
          </a:p>
          <a:p>
            <a:pPr marL="0" indent="0" algn="ctr">
              <a:buNone/>
            </a:pPr>
            <a:r>
              <a:rPr lang="en-US" sz="1400" dirty="0">
                <a:solidFill>
                  <a:srgbClr val="202532"/>
                </a:solidFill>
                <a:latin typeface="Aptos" pitchFamily="34" charset="0"/>
                <a:ea typeface="Aptos" pitchFamily="34" charset="-122"/>
                <a:cs typeface="Aptos" pitchFamily="34" charset="-120"/>
              </a:rPr>
              <a:t>Place before transfer task</a:t>
            </a:r>
            <a:endParaRPr lang="en-US" sz="1400" dirty="0"/>
          </a:p>
        </p:txBody>
      </p:sp>
      <p:sp>
        <p:nvSpPr>
          <p:cNvPr id="24" name="Shape 22">
            <a:extLst>
              <a:ext uri="{C183D7F6-B498-43B3-948B-1728B52AA6E4}">
                <adec:decorative xmlns:adec="http://schemas.microsoft.com/office/drawing/2017/decorative" val="1"/>
              </a:ext>
            </a:extLst>
          </p:cNvPr>
          <p:cNvSpPr/>
          <p:nvPr/>
        </p:nvSpPr>
        <p:spPr>
          <a:xfrm>
            <a:off x="1828800" y="5623560"/>
            <a:ext cx="82296" cy="512064"/>
          </a:xfrm>
          <a:prstGeom prst="rect">
            <a:avLst/>
          </a:prstGeom>
          <a:solidFill>
            <a:srgbClr val="D5B979"/>
          </a:solidFill>
          <a:ln w="12700">
            <a:solidFill>
              <a:srgbClr val="D5B979"/>
            </a:solidFill>
            <a:prstDash val="solid"/>
          </a:ln>
        </p:spPr>
        <p:txBody>
          <a:bodyPr/>
          <a:lstStyle/>
          <a:p>
            <a:endParaRPr lang="en-US"/>
          </a:p>
        </p:txBody>
      </p:sp>
      <p:sp>
        <p:nvSpPr>
          <p:cNvPr id="25" name="Text 23"/>
          <p:cNvSpPr/>
          <p:nvPr/>
        </p:nvSpPr>
        <p:spPr>
          <a:xfrm>
            <a:off x="2121408" y="5623560"/>
            <a:ext cx="8302752" cy="512064"/>
          </a:xfrm>
          <a:prstGeom prst="rect">
            <a:avLst/>
          </a:prstGeom>
          <a:noFill/>
          <a:ln/>
        </p:spPr>
        <p:txBody>
          <a:bodyPr wrap="square" lIns="0" tIns="0" rIns="0" bIns="0" rtlCol="0" anchor="ctr">
            <a:normAutofit fontScale="92500" lnSpcReduction="20000"/>
          </a:bodyPr>
          <a:lstStyle/>
          <a:p>
            <a:pPr marL="0" indent="0">
              <a:buNone/>
            </a:pPr>
            <a:r>
              <a:rPr lang="en-US" sz="2200" i="1" dirty="0">
                <a:solidFill>
                  <a:srgbClr val="17254E"/>
                </a:solidFill>
                <a:latin typeface="Georgia" pitchFamily="34" charset="0"/>
                <a:ea typeface="Georgia" pitchFamily="34" charset="-122"/>
                <a:cs typeface="Georgia" pitchFamily="34" charset="-120"/>
              </a:rPr>
              <a:t>AI can draft the implementation. The specification lets us test whether it is right.</a:t>
            </a:r>
            <a:endParaRPr lang="en-US" sz="22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EFA"/>
        </a:solidFill>
        <a:effectLst/>
      </p:bgPr>
    </p:bg>
    <p:spTree>
      <p:nvGrpSpPr>
        <p:cNvPr id="1" name=""/>
        <p:cNvGrpSpPr/>
        <p:nvPr/>
      </p:nvGrpSpPr>
      <p:grpSpPr>
        <a:xfrm>
          <a:off x="0" y="0"/>
          <a:ext cx="0" cy="0"/>
          <a:chOff x="0" y="0"/>
          <a:chExt cx="0" cy="0"/>
        </a:xfrm>
      </p:grpSpPr>
      <p:sp>
        <p:nvSpPr>
          <p:cNvPr id="5" name="Text 3"/>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254E"/>
                </a:solidFill>
                <a:effectLst/>
                <a:uLnTx/>
                <a:uFillTx/>
                <a:latin typeface="Georgia" pitchFamily="34" charset="0"/>
                <a:ea typeface="Georgia" pitchFamily="34" charset="-122"/>
                <a:cs typeface="Georgia" pitchFamily="34" charset="-120"/>
              </a:rPr>
              <a:t>Let’s build one together</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0" y="0"/>
            <a:ext cx="146304" cy="6858000"/>
          </a:xfrm>
          <a:prstGeom prst="rect">
            <a:avLst/>
          </a:prstGeom>
          <a:solidFill>
            <a:srgbClr val="149966"/>
          </a:solidFill>
          <a:ln w="12700">
            <a:solidFill>
              <a:srgbClr val="149966"/>
            </a:solidFill>
            <a:prstDash val="solid"/>
          </a:ln>
        </p:spPr>
        <p:txBody>
          <a:bodyPr/>
          <a:lstStyle/>
          <a:p>
            <a:endParaRPr lang="en-US"/>
          </a:p>
        </p:txBody>
      </p:sp>
      <p:sp>
        <p:nvSpPr>
          <p:cNvPr id="3" name="Shape 1">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BD3D58"/>
          </a:solidFill>
          <a:ln w="12700">
            <a:solidFill>
              <a:srgbClr val="BD3D58"/>
            </a:solidFill>
            <a:prstDash val="solid"/>
          </a:ln>
        </p:spPr>
        <p:txBody>
          <a:bodyPr/>
          <a:lstStyle/>
          <a:p>
            <a:endParaRPr lang="en-US" dirty="0">
              <a:highlight>
                <a:srgbClr val="800000"/>
              </a:highlight>
            </a:endParaRPr>
          </a:p>
        </p:txBody>
      </p:sp>
      <p:sp>
        <p:nvSpPr>
          <p:cNvPr id="4" name="Text 2"/>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LIVE BUILD</a:t>
            </a:r>
            <a:endParaRPr lang="en-US" sz="900" b="1" dirty="0"/>
          </a:p>
        </p:txBody>
      </p:sp>
      <p:sp>
        <p:nvSpPr>
          <p:cNvPr id="6" name="Text 4"/>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576173"/>
                </a:solidFill>
                <a:latin typeface="Aptos" pitchFamily="34" charset="0"/>
                <a:ea typeface="Aptos" pitchFamily="34" charset="-122"/>
                <a:cs typeface="Aptos" pitchFamily="34" charset="-120"/>
              </a:rPr>
              <a:t>Use the prompts on screen to capture audience suggestions</a:t>
            </a:r>
            <a:endParaRPr lang="en-US" sz="1500" dirty="0"/>
          </a:p>
        </p:txBody>
      </p:sp>
      <p:sp>
        <p:nvSpPr>
          <p:cNvPr id="8" name="Shape 6">
            <a:extLst>
              <a:ext uri="{C183D7F6-B498-43B3-948B-1728B52AA6E4}">
                <adec:decorative xmlns:adec="http://schemas.microsoft.com/office/drawing/2017/decorative" val="1"/>
              </a:ext>
            </a:extLst>
          </p:cNvPr>
          <p:cNvSpPr/>
          <p:nvPr/>
        </p:nvSpPr>
        <p:spPr>
          <a:xfrm>
            <a:off x="749808" y="178308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749808" y="1783080"/>
            <a:ext cx="5138928" cy="457200"/>
          </a:xfrm>
          <a:prstGeom prst="roundRect">
            <a:avLst>
              <a:gd name="adj" fmla="val 16000"/>
            </a:avLst>
          </a:prstGeom>
          <a:solidFill>
            <a:srgbClr val="17254E"/>
          </a:solidFill>
          <a:ln w="12700">
            <a:solidFill>
              <a:srgbClr val="17254E"/>
            </a:solidFill>
            <a:prstDash val="solid"/>
          </a:ln>
        </p:spPr>
        <p:txBody>
          <a:bodyPr/>
          <a:lstStyle/>
          <a:p>
            <a:endParaRPr lang="en-US"/>
          </a:p>
        </p:txBody>
      </p:sp>
      <p:sp>
        <p:nvSpPr>
          <p:cNvPr id="10" name="Text 8"/>
          <p:cNvSpPr/>
          <p:nvPr/>
        </p:nvSpPr>
        <p:spPr>
          <a:xfrm>
            <a:off x="932688" y="178308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LEARNING CONTEXT</a:t>
            </a:r>
            <a:endParaRPr lang="en-US" sz="1000" dirty="0"/>
          </a:p>
        </p:txBody>
      </p:sp>
      <p:sp>
        <p:nvSpPr>
          <p:cNvPr id="11" name="Text 9"/>
          <p:cNvSpPr/>
          <p:nvPr/>
        </p:nvSpPr>
        <p:spPr>
          <a:xfrm>
            <a:off x="978408" y="244144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Who are the learners? What should they be able to do?</a:t>
            </a:r>
            <a:endParaRPr lang="en-US" sz="1400" dirty="0"/>
          </a:p>
        </p:txBody>
      </p:sp>
      <p:sp>
        <p:nvSpPr>
          <p:cNvPr id="12" name="Text 10"/>
          <p:cNvSpPr/>
          <p:nvPr/>
        </p:nvSpPr>
        <p:spPr>
          <a:xfrm>
            <a:off x="978408" y="313639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13" name="Shape 11">
            <a:extLst>
              <a:ext uri="{C183D7F6-B498-43B3-948B-1728B52AA6E4}">
                <adec:decorative xmlns:adec="http://schemas.microsoft.com/office/drawing/2017/decorative" val="1"/>
              </a:ext>
            </a:extLst>
          </p:cNvPr>
          <p:cNvSpPr/>
          <p:nvPr/>
        </p:nvSpPr>
        <p:spPr>
          <a:xfrm>
            <a:off x="6345936" y="178308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14" name="Shape 12">
            <a:extLst>
              <a:ext uri="{C183D7F6-B498-43B3-948B-1728B52AA6E4}">
                <adec:decorative xmlns:adec="http://schemas.microsoft.com/office/drawing/2017/decorative" val="1"/>
              </a:ext>
            </a:extLst>
          </p:cNvPr>
          <p:cNvSpPr/>
          <p:nvPr/>
        </p:nvSpPr>
        <p:spPr>
          <a:xfrm>
            <a:off x="6345936" y="1783080"/>
            <a:ext cx="5138928" cy="457200"/>
          </a:xfrm>
          <a:prstGeom prst="roundRect">
            <a:avLst>
              <a:gd name="adj" fmla="val 16000"/>
            </a:avLst>
          </a:prstGeom>
          <a:solidFill>
            <a:srgbClr val="0B7049"/>
          </a:solidFill>
          <a:ln w="12700">
            <a:solidFill>
              <a:srgbClr val="0B7049"/>
            </a:solidFill>
            <a:prstDash val="solid"/>
          </a:ln>
        </p:spPr>
        <p:txBody>
          <a:bodyPr/>
          <a:lstStyle/>
          <a:p>
            <a:endParaRPr lang="en-US"/>
          </a:p>
        </p:txBody>
      </p:sp>
      <p:sp>
        <p:nvSpPr>
          <p:cNvPr id="15" name="Text 13"/>
          <p:cNvSpPr/>
          <p:nvPr/>
        </p:nvSpPr>
        <p:spPr>
          <a:xfrm>
            <a:off x="6528816" y="178308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INTERACTION DESIGN</a:t>
            </a:r>
            <a:endParaRPr lang="en-US" sz="1000" dirty="0"/>
          </a:p>
        </p:txBody>
      </p:sp>
      <p:sp>
        <p:nvSpPr>
          <p:cNvPr id="16" name="Text 14"/>
          <p:cNvSpPr/>
          <p:nvPr/>
        </p:nvSpPr>
        <p:spPr>
          <a:xfrm>
            <a:off x="6574536" y="244144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What should they change, choose, compare, or explain?</a:t>
            </a:r>
            <a:endParaRPr lang="en-US" sz="1400" dirty="0"/>
          </a:p>
        </p:txBody>
      </p:sp>
      <p:sp>
        <p:nvSpPr>
          <p:cNvPr id="17" name="Text 15"/>
          <p:cNvSpPr/>
          <p:nvPr/>
        </p:nvSpPr>
        <p:spPr>
          <a:xfrm>
            <a:off x="6574536" y="313639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18" name="Shape 16">
            <a:extLst>
              <a:ext uri="{C183D7F6-B498-43B3-948B-1728B52AA6E4}">
                <adec:decorative xmlns:adec="http://schemas.microsoft.com/office/drawing/2017/decorative" val="1"/>
              </a:ext>
            </a:extLst>
          </p:cNvPr>
          <p:cNvSpPr/>
          <p:nvPr/>
        </p:nvSpPr>
        <p:spPr>
          <a:xfrm>
            <a:off x="749808" y="393192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749808" y="3931920"/>
            <a:ext cx="5138928" cy="457200"/>
          </a:xfrm>
          <a:prstGeom prst="roundRect">
            <a:avLst>
              <a:gd name="adj" fmla="val 16000"/>
            </a:avLst>
          </a:prstGeom>
          <a:solidFill>
            <a:srgbClr val="6B7EA8"/>
          </a:solidFill>
          <a:ln w="12700">
            <a:solidFill>
              <a:srgbClr val="6B7EA8"/>
            </a:solidFill>
            <a:prstDash val="solid"/>
          </a:ln>
        </p:spPr>
        <p:txBody>
          <a:bodyPr/>
          <a:lstStyle/>
          <a:p>
            <a:endParaRPr lang="en-US"/>
          </a:p>
        </p:txBody>
      </p:sp>
      <p:sp>
        <p:nvSpPr>
          <p:cNvPr id="20" name="Text 18"/>
          <p:cNvSpPr/>
          <p:nvPr/>
        </p:nvSpPr>
        <p:spPr>
          <a:xfrm>
            <a:off x="932688" y="393192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EXPERT CONTENT</a:t>
            </a:r>
            <a:endParaRPr lang="en-US" sz="1000" dirty="0"/>
          </a:p>
        </p:txBody>
      </p:sp>
      <p:sp>
        <p:nvSpPr>
          <p:cNvPr id="21" name="Text 19"/>
          <p:cNvSpPr/>
          <p:nvPr/>
        </p:nvSpPr>
        <p:spPr>
          <a:xfrm>
            <a:off x="978408" y="459028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What trusted material, examples, models, or claims should it use?</a:t>
            </a:r>
            <a:endParaRPr lang="en-US" sz="1400" dirty="0"/>
          </a:p>
        </p:txBody>
      </p:sp>
      <p:sp>
        <p:nvSpPr>
          <p:cNvPr id="22" name="Text 20"/>
          <p:cNvSpPr/>
          <p:nvPr/>
        </p:nvSpPr>
        <p:spPr>
          <a:xfrm>
            <a:off x="978408" y="528523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23" name="Shape 21">
            <a:extLst>
              <a:ext uri="{C183D7F6-B498-43B3-948B-1728B52AA6E4}">
                <adec:decorative xmlns:adec="http://schemas.microsoft.com/office/drawing/2017/decorative" val="1"/>
              </a:ext>
            </a:extLst>
          </p:cNvPr>
          <p:cNvSpPr/>
          <p:nvPr/>
        </p:nvSpPr>
        <p:spPr>
          <a:xfrm>
            <a:off x="6345936" y="3931920"/>
            <a:ext cx="5138928" cy="1783080"/>
          </a:xfrm>
          <a:prstGeom prst="roundRect">
            <a:avLst>
              <a:gd name="adj" fmla="val 4103"/>
            </a:avLst>
          </a:prstGeom>
          <a:solidFill>
            <a:srgbClr val="FFFFFF"/>
          </a:solidFill>
          <a:ln w="12700">
            <a:solidFill>
              <a:srgbClr val="D8DCE4"/>
            </a:solidFill>
            <a:prstDash val="solid"/>
          </a:ln>
        </p:spPr>
        <p:txBody>
          <a:bodyPr/>
          <a:lstStyle/>
          <a:p>
            <a:endParaRPr lang="en-US"/>
          </a:p>
        </p:txBody>
      </p:sp>
      <p:sp>
        <p:nvSpPr>
          <p:cNvPr id="24" name="Shape 22">
            <a:extLst>
              <a:ext uri="{C183D7F6-B498-43B3-948B-1728B52AA6E4}">
                <adec:decorative xmlns:adec="http://schemas.microsoft.com/office/drawing/2017/decorative" val="1"/>
              </a:ext>
            </a:extLst>
          </p:cNvPr>
          <p:cNvSpPr/>
          <p:nvPr/>
        </p:nvSpPr>
        <p:spPr>
          <a:xfrm>
            <a:off x="6345936" y="3931920"/>
            <a:ext cx="5138928" cy="457200"/>
          </a:xfrm>
          <a:prstGeom prst="roundRect">
            <a:avLst>
              <a:gd name="adj" fmla="val 16000"/>
            </a:avLst>
          </a:prstGeom>
          <a:solidFill>
            <a:srgbClr val="BD7B24"/>
          </a:solidFill>
          <a:ln w="12700">
            <a:solidFill>
              <a:srgbClr val="BD7B24"/>
            </a:solidFill>
            <a:prstDash val="solid"/>
          </a:ln>
        </p:spPr>
        <p:txBody>
          <a:bodyPr/>
          <a:lstStyle/>
          <a:p>
            <a:endParaRPr lang="en-US"/>
          </a:p>
        </p:txBody>
      </p:sp>
      <p:sp>
        <p:nvSpPr>
          <p:cNvPr id="25" name="Text 23"/>
          <p:cNvSpPr/>
          <p:nvPr/>
        </p:nvSpPr>
        <p:spPr>
          <a:xfrm>
            <a:off x="6528816" y="3931920"/>
            <a:ext cx="4773168" cy="457200"/>
          </a:xfrm>
          <a:prstGeom prst="rect">
            <a:avLst/>
          </a:prstGeom>
          <a:noFill/>
          <a:ln/>
        </p:spPr>
        <p:txBody>
          <a:bodyPr wrap="square" lIns="0" tIns="0" rIns="0" bIns="0" rtlCol="0" anchor="ctr">
            <a:normAutofit/>
          </a:bodyPr>
          <a:lstStyle/>
          <a:p>
            <a:pPr marL="0" indent="0">
              <a:buNone/>
            </a:pPr>
            <a:r>
              <a:rPr lang="en-US" sz="1000" b="1" dirty="0">
                <a:solidFill>
                  <a:srgbClr val="FFFFFF"/>
                </a:solidFill>
                <a:latin typeface="Aptos" pitchFamily="34" charset="0"/>
                <a:ea typeface="Aptos" pitchFamily="34" charset="-122"/>
                <a:cs typeface="Aptos" pitchFamily="34" charset="-120"/>
              </a:rPr>
              <a:t>ARTIFACT SPECIFICATION</a:t>
            </a:r>
            <a:endParaRPr lang="en-US" sz="1000" dirty="0"/>
          </a:p>
        </p:txBody>
      </p:sp>
      <p:sp>
        <p:nvSpPr>
          <p:cNvPr id="26" name="Text 24"/>
          <p:cNvSpPr/>
          <p:nvPr/>
        </p:nvSpPr>
        <p:spPr>
          <a:xfrm>
            <a:off x="6574536" y="4590288"/>
            <a:ext cx="4663440" cy="621792"/>
          </a:xfrm>
          <a:prstGeom prst="rect">
            <a:avLst/>
          </a:prstGeom>
          <a:noFill/>
          <a:ln/>
        </p:spPr>
        <p:txBody>
          <a:bodyPr wrap="square" lIns="0" tIns="0" rIns="0" bIns="0" rtlCol="0" anchor="t">
            <a:normAutofit/>
          </a:bodyPr>
          <a:lstStyle/>
          <a:p>
            <a:pPr marL="0" indent="0">
              <a:buNone/>
            </a:pPr>
            <a:r>
              <a:rPr lang="en-US" sz="1400" dirty="0">
                <a:solidFill>
                  <a:srgbClr val="202532"/>
                </a:solidFill>
                <a:latin typeface="Aptos" pitchFamily="34" charset="0"/>
                <a:ea typeface="Aptos" pitchFamily="34" charset="-122"/>
                <a:cs typeface="Aptos" pitchFamily="34" charset="-120"/>
              </a:rPr>
              <a:t>How long? What format? What accessibility and delivery constraints?</a:t>
            </a:r>
            <a:endParaRPr lang="en-US" sz="1400" dirty="0"/>
          </a:p>
        </p:txBody>
      </p:sp>
      <p:sp>
        <p:nvSpPr>
          <p:cNvPr id="27" name="Text 25"/>
          <p:cNvSpPr/>
          <p:nvPr/>
        </p:nvSpPr>
        <p:spPr>
          <a:xfrm>
            <a:off x="6574536" y="5285232"/>
            <a:ext cx="4663440" cy="237744"/>
          </a:xfrm>
          <a:prstGeom prst="rect">
            <a:avLst/>
          </a:prstGeom>
          <a:noFill/>
          <a:ln/>
        </p:spPr>
        <p:txBody>
          <a:bodyPr wrap="square" lIns="0" tIns="0" rIns="0" bIns="0" rtlCol="0" anchor="ctr">
            <a:normAutofit/>
          </a:bodyPr>
          <a:lstStyle/>
          <a:p>
            <a:pPr marL="0" indent="0">
              <a:buNone/>
            </a:pPr>
            <a:r>
              <a:rPr lang="en-US" sz="1000" i="1" dirty="0">
                <a:solidFill>
                  <a:srgbClr val="8A93A3"/>
                </a:solidFill>
                <a:latin typeface="Aptos" pitchFamily="34" charset="0"/>
                <a:ea typeface="Aptos" pitchFamily="34" charset="-122"/>
                <a:cs typeface="Aptos" pitchFamily="34" charset="-120"/>
              </a:rPr>
              <a:t>Type notes here during the session…</a:t>
            </a:r>
            <a:endParaRPr lang="en-US" sz="1000" dirty="0"/>
          </a:p>
        </p:txBody>
      </p:sp>
      <p:sp>
        <p:nvSpPr>
          <p:cNvPr id="7" name="Text 5"/>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576173"/>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17254E"/>
        </a:solidFill>
        <a:effectLst/>
      </p:bgPr>
    </p:bg>
    <p:spTree>
      <p:nvGrpSpPr>
        <p:cNvPr id="1" name=""/>
        <p:cNvGrpSpPr/>
        <p:nvPr/>
      </p:nvGrpSpPr>
      <p:grpSpPr>
        <a:xfrm>
          <a:off x="0" y="0"/>
          <a:ext cx="0" cy="0"/>
          <a:chOff x="0" y="0"/>
          <a:chExt cx="0" cy="0"/>
        </a:xfrm>
      </p:grpSpPr>
      <p:sp>
        <p:nvSpPr>
          <p:cNvPr id="4" name="Text 2"/>
          <p:cNvSpPr>
            <a:spLocks noGrp="1"/>
          </p:cNvSpPr>
          <p:nvPr>
            <p:ph type="title" idx="4294967295"/>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If AI became perfect tomorrow, what would still be missing?</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7030A0"/>
          </a:solidFill>
          <a:ln w="12700">
            <a:solidFill>
              <a:srgbClr val="7030A0"/>
            </a:solidFill>
            <a:prstDash val="solid"/>
          </a:ln>
        </p:spPr>
        <p:txBody>
          <a:bodyPr/>
          <a:lstStyle/>
          <a:p>
            <a:endParaRPr lang="en-US"/>
          </a:p>
        </p:txBody>
      </p:sp>
      <p:sp>
        <p:nvSpPr>
          <p:cNvPr id="3" name="Text 1"/>
          <p:cNvSpPr/>
          <p:nvPr/>
        </p:nvSpPr>
        <p:spPr>
          <a:xfrm>
            <a:off x="667512" y="246888"/>
            <a:ext cx="1179576" cy="347472"/>
          </a:xfrm>
          <a:prstGeom prst="rect">
            <a:avLst/>
          </a:prstGeom>
          <a:noFill/>
          <a:ln/>
        </p:spPr>
        <p:txBody>
          <a:bodyPr wrap="square" lIns="0" tIns="0" rIns="0" bIns="0" rtlCol="0" anchor="ctr">
            <a:normAutofit/>
          </a:bodyPr>
          <a:lstStyle/>
          <a:p>
            <a:pPr marL="0" indent="0" algn="ctr">
              <a:buNone/>
            </a:pPr>
            <a:r>
              <a:rPr lang="en-US" sz="900" b="1" kern="0" spc="120" dirty="0">
                <a:solidFill>
                  <a:srgbClr val="FFFFFF"/>
                </a:solidFill>
                <a:latin typeface="Aptos" pitchFamily="34" charset="0"/>
                <a:ea typeface="Aptos" pitchFamily="34" charset="-122"/>
                <a:cs typeface="Aptos" pitchFamily="34" charset="-120"/>
              </a:rPr>
              <a:t>BIG QUESTION</a:t>
            </a:r>
            <a:endParaRPr lang="en-US" sz="900" dirty="0"/>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The work that remains is the work of educational judgment</a:t>
            </a:r>
            <a:endParaRPr lang="en-US" sz="1500" dirty="0"/>
          </a:p>
        </p:txBody>
      </p:sp>
      <p:sp>
        <p:nvSpPr>
          <p:cNvPr id="7" name="Shape 5">
            <a:extLst>
              <a:ext uri="{C183D7F6-B498-43B3-948B-1728B52AA6E4}">
                <adec:decorative xmlns:adec="http://schemas.microsoft.com/office/drawing/2017/decorative" val="1"/>
              </a:ext>
            </a:extLst>
          </p:cNvPr>
          <p:cNvSpPr/>
          <p:nvPr/>
        </p:nvSpPr>
        <p:spPr>
          <a:xfrm>
            <a:off x="960120" y="1828800"/>
            <a:ext cx="402336" cy="402336"/>
          </a:xfrm>
          <a:prstGeom prst="ellipse">
            <a:avLst/>
          </a:prstGeom>
          <a:solidFill>
            <a:srgbClr val="D5B979"/>
          </a:solidFill>
          <a:ln w="12700">
            <a:solidFill>
              <a:srgbClr val="D5B979"/>
            </a:solidFill>
            <a:prstDash val="solid"/>
          </a:ln>
        </p:spPr>
        <p:txBody>
          <a:bodyPr/>
          <a:lstStyle/>
          <a:p>
            <a:endParaRPr lang="en-US"/>
          </a:p>
        </p:txBody>
      </p:sp>
      <p:sp>
        <p:nvSpPr>
          <p:cNvPr id="8" name="Text 6"/>
          <p:cNvSpPr/>
          <p:nvPr/>
        </p:nvSpPr>
        <p:spPr>
          <a:xfrm>
            <a:off x="960120" y="1828800"/>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9" name="Text 7"/>
          <p:cNvSpPr/>
          <p:nvPr/>
        </p:nvSpPr>
        <p:spPr>
          <a:xfrm>
            <a:off x="1581912" y="1783080"/>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Choosing worthwhile learning outcomes</a:t>
            </a:r>
            <a:endParaRPr lang="en-US" sz="1450" dirty="0"/>
          </a:p>
        </p:txBody>
      </p:sp>
      <p:sp>
        <p:nvSpPr>
          <p:cNvPr id="10" name="Shape 8">
            <a:extLst>
              <a:ext uri="{C183D7F6-B498-43B3-948B-1728B52AA6E4}">
                <adec:decorative xmlns:adec="http://schemas.microsoft.com/office/drawing/2017/decorative" val="1"/>
              </a:ext>
            </a:extLst>
          </p:cNvPr>
          <p:cNvSpPr/>
          <p:nvPr/>
        </p:nvSpPr>
        <p:spPr>
          <a:xfrm>
            <a:off x="6446520" y="1828800"/>
            <a:ext cx="402336" cy="402336"/>
          </a:xfrm>
          <a:prstGeom prst="ellipse">
            <a:avLst/>
          </a:prstGeom>
          <a:solidFill>
            <a:srgbClr val="D5B979"/>
          </a:solidFill>
          <a:ln w="12700">
            <a:solidFill>
              <a:srgbClr val="D5B979"/>
            </a:solidFill>
            <a:prstDash val="solid"/>
          </a:ln>
        </p:spPr>
        <p:txBody>
          <a:bodyPr/>
          <a:lstStyle/>
          <a:p>
            <a:endParaRPr lang="en-US"/>
          </a:p>
        </p:txBody>
      </p:sp>
      <p:sp>
        <p:nvSpPr>
          <p:cNvPr id="11" name="Text 9"/>
          <p:cNvSpPr/>
          <p:nvPr/>
        </p:nvSpPr>
        <p:spPr>
          <a:xfrm>
            <a:off x="6446520" y="1828800"/>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2" name="Text 10"/>
          <p:cNvSpPr/>
          <p:nvPr/>
        </p:nvSpPr>
        <p:spPr>
          <a:xfrm>
            <a:off x="7068312" y="1783080"/>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Understanding your students</a:t>
            </a:r>
            <a:endParaRPr lang="en-US" sz="1450" dirty="0"/>
          </a:p>
        </p:txBody>
      </p:sp>
      <p:sp>
        <p:nvSpPr>
          <p:cNvPr id="13" name="Shape 11">
            <a:extLst>
              <a:ext uri="{C183D7F6-B498-43B3-948B-1728B52AA6E4}">
                <adec:decorative xmlns:adec="http://schemas.microsoft.com/office/drawing/2017/decorative" val="1"/>
              </a:ext>
            </a:extLst>
          </p:cNvPr>
          <p:cNvSpPr/>
          <p:nvPr/>
        </p:nvSpPr>
        <p:spPr>
          <a:xfrm>
            <a:off x="960120" y="2715768"/>
            <a:ext cx="402336" cy="402336"/>
          </a:xfrm>
          <a:prstGeom prst="ellipse">
            <a:avLst/>
          </a:prstGeom>
          <a:solidFill>
            <a:srgbClr val="D5B979"/>
          </a:solidFill>
          <a:ln w="12700">
            <a:solidFill>
              <a:srgbClr val="D5B979"/>
            </a:solidFill>
            <a:prstDash val="solid"/>
          </a:ln>
        </p:spPr>
        <p:txBody>
          <a:bodyPr/>
          <a:lstStyle/>
          <a:p>
            <a:endParaRPr lang="en-US"/>
          </a:p>
        </p:txBody>
      </p:sp>
      <p:sp>
        <p:nvSpPr>
          <p:cNvPr id="14" name="Text 12"/>
          <p:cNvSpPr/>
          <p:nvPr/>
        </p:nvSpPr>
        <p:spPr>
          <a:xfrm>
            <a:off x="960120" y="2715768"/>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5" name="Text 13"/>
          <p:cNvSpPr/>
          <p:nvPr/>
        </p:nvSpPr>
        <p:spPr>
          <a:xfrm>
            <a:off x="1581912" y="2670048"/>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Designing authentic assessment</a:t>
            </a:r>
            <a:endParaRPr lang="en-US" sz="1450" dirty="0"/>
          </a:p>
        </p:txBody>
      </p:sp>
      <p:sp>
        <p:nvSpPr>
          <p:cNvPr id="16" name="Shape 14">
            <a:extLst>
              <a:ext uri="{C183D7F6-B498-43B3-948B-1728B52AA6E4}">
                <adec:decorative xmlns:adec="http://schemas.microsoft.com/office/drawing/2017/decorative" val="1"/>
              </a:ext>
            </a:extLst>
          </p:cNvPr>
          <p:cNvSpPr/>
          <p:nvPr/>
        </p:nvSpPr>
        <p:spPr>
          <a:xfrm>
            <a:off x="6446520" y="2715768"/>
            <a:ext cx="402336" cy="402336"/>
          </a:xfrm>
          <a:prstGeom prst="ellipse">
            <a:avLst/>
          </a:prstGeom>
          <a:solidFill>
            <a:srgbClr val="D5B979"/>
          </a:solidFill>
          <a:ln w="12700">
            <a:solidFill>
              <a:srgbClr val="D5B979"/>
            </a:solidFill>
            <a:prstDash val="solid"/>
          </a:ln>
        </p:spPr>
        <p:txBody>
          <a:bodyPr/>
          <a:lstStyle/>
          <a:p>
            <a:endParaRPr lang="en-US"/>
          </a:p>
        </p:txBody>
      </p:sp>
      <p:sp>
        <p:nvSpPr>
          <p:cNvPr id="17" name="Text 15"/>
          <p:cNvSpPr/>
          <p:nvPr/>
        </p:nvSpPr>
        <p:spPr>
          <a:xfrm>
            <a:off x="6446520" y="2715768"/>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18" name="Text 16"/>
          <p:cNvSpPr/>
          <p:nvPr/>
        </p:nvSpPr>
        <p:spPr>
          <a:xfrm>
            <a:off x="7068312" y="2670048"/>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Knowing your discipline</a:t>
            </a:r>
            <a:endParaRPr lang="en-US" sz="1450" dirty="0"/>
          </a:p>
        </p:txBody>
      </p:sp>
      <p:sp>
        <p:nvSpPr>
          <p:cNvPr id="19" name="Shape 17">
            <a:extLst>
              <a:ext uri="{C183D7F6-B498-43B3-948B-1728B52AA6E4}">
                <adec:decorative xmlns:adec="http://schemas.microsoft.com/office/drawing/2017/decorative" val="1"/>
              </a:ext>
            </a:extLst>
          </p:cNvPr>
          <p:cNvSpPr/>
          <p:nvPr/>
        </p:nvSpPr>
        <p:spPr>
          <a:xfrm>
            <a:off x="960120" y="3602736"/>
            <a:ext cx="402336" cy="402336"/>
          </a:xfrm>
          <a:prstGeom prst="ellipse">
            <a:avLst/>
          </a:prstGeom>
          <a:solidFill>
            <a:srgbClr val="D5B979"/>
          </a:solidFill>
          <a:ln w="12700">
            <a:solidFill>
              <a:srgbClr val="D5B979"/>
            </a:solidFill>
            <a:prstDash val="solid"/>
          </a:ln>
        </p:spPr>
        <p:txBody>
          <a:bodyPr/>
          <a:lstStyle/>
          <a:p>
            <a:endParaRPr lang="en-US"/>
          </a:p>
        </p:txBody>
      </p:sp>
      <p:sp>
        <p:nvSpPr>
          <p:cNvPr id="20" name="Text 18"/>
          <p:cNvSpPr/>
          <p:nvPr/>
        </p:nvSpPr>
        <p:spPr>
          <a:xfrm>
            <a:off x="960120" y="3602736"/>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1" name="Text 19"/>
          <p:cNvSpPr/>
          <p:nvPr/>
        </p:nvSpPr>
        <p:spPr>
          <a:xfrm>
            <a:off x="1581912" y="3557016"/>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Exercising judgment</a:t>
            </a:r>
            <a:endParaRPr lang="en-US" sz="1450" dirty="0"/>
          </a:p>
        </p:txBody>
      </p:sp>
      <p:sp>
        <p:nvSpPr>
          <p:cNvPr id="22" name="Shape 20">
            <a:extLst>
              <a:ext uri="{C183D7F6-B498-43B3-948B-1728B52AA6E4}">
                <adec:decorative xmlns:adec="http://schemas.microsoft.com/office/drawing/2017/decorative" val="1"/>
              </a:ext>
            </a:extLst>
          </p:cNvPr>
          <p:cNvSpPr/>
          <p:nvPr/>
        </p:nvSpPr>
        <p:spPr>
          <a:xfrm>
            <a:off x="6446520" y="3602736"/>
            <a:ext cx="402336" cy="402336"/>
          </a:xfrm>
          <a:prstGeom prst="ellipse">
            <a:avLst/>
          </a:prstGeom>
          <a:solidFill>
            <a:srgbClr val="D5B979"/>
          </a:solidFill>
          <a:ln w="12700">
            <a:solidFill>
              <a:srgbClr val="D5B979"/>
            </a:solidFill>
            <a:prstDash val="solid"/>
          </a:ln>
        </p:spPr>
        <p:txBody>
          <a:bodyPr/>
          <a:lstStyle/>
          <a:p>
            <a:endParaRPr lang="en-US"/>
          </a:p>
        </p:txBody>
      </p:sp>
      <p:sp>
        <p:nvSpPr>
          <p:cNvPr id="23" name="Text 21"/>
          <p:cNvSpPr/>
          <p:nvPr/>
        </p:nvSpPr>
        <p:spPr>
          <a:xfrm>
            <a:off x="6446520" y="3602736"/>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4" name="Text 22"/>
          <p:cNvSpPr/>
          <p:nvPr/>
        </p:nvSpPr>
        <p:spPr>
          <a:xfrm>
            <a:off x="7068312" y="3557016"/>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Deciding when technology should not be used</a:t>
            </a:r>
            <a:endParaRPr lang="en-US" sz="1450" dirty="0"/>
          </a:p>
        </p:txBody>
      </p:sp>
      <p:sp>
        <p:nvSpPr>
          <p:cNvPr id="25" name="Shape 23">
            <a:extLst>
              <a:ext uri="{C183D7F6-B498-43B3-948B-1728B52AA6E4}">
                <adec:decorative xmlns:adec="http://schemas.microsoft.com/office/drawing/2017/decorative" val="1"/>
              </a:ext>
            </a:extLst>
          </p:cNvPr>
          <p:cNvSpPr/>
          <p:nvPr/>
        </p:nvSpPr>
        <p:spPr>
          <a:xfrm>
            <a:off x="960120" y="4489704"/>
            <a:ext cx="402336" cy="402336"/>
          </a:xfrm>
          <a:prstGeom prst="ellipse">
            <a:avLst/>
          </a:prstGeom>
          <a:solidFill>
            <a:srgbClr val="D5B979"/>
          </a:solidFill>
          <a:ln w="12700">
            <a:solidFill>
              <a:srgbClr val="D5B979"/>
            </a:solidFill>
            <a:prstDash val="solid"/>
          </a:ln>
        </p:spPr>
        <p:txBody>
          <a:bodyPr/>
          <a:lstStyle/>
          <a:p>
            <a:endParaRPr lang="en-US"/>
          </a:p>
        </p:txBody>
      </p:sp>
      <p:sp>
        <p:nvSpPr>
          <p:cNvPr id="26" name="Text 24"/>
          <p:cNvSpPr/>
          <p:nvPr/>
        </p:nvSpPr>
        <p:spPr>
          <a:xfrm>
            <a:off x="960120" y="4489704"/>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27" name="Text 25"/>
          <p:cNvSpPr/>
          <p:nvPr/>
        </p:nvSpPr>
        <p:spPr>
          <a:xfrm>
            <a:off x="1581912" y="4443984"/>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Creating meaning and belonging</a:t>
            </a:r>
            <a:endParaRPr lang="en-US" sz="1450" dirty="0"/>
          </a:p>
        </p:txBody>
      </p:sp>
      <p:sp>
        <p:nvSpPr>
          <p:cNvPr id="28" name="Shape 26">
            <a:extLst>
              <a:ext uri="{C183D7F6-B498-43B3-948B-1728B52AA6E4}">
                <adec:decorative xmlns:adec="http://schemas.microsoft.com/office/drawing/2017/decorative" val="1"/>
              </a:ext>
            </a:extLst>
          </p:cNvPr>
          <p:cNvSpPr/>
          <p:nvPr/>
        </p:nvSpPr>
        <p:spPr>
          <a:xfrm>
            <a:off x="6446520" y="4489704"/>
            <a:ext cx="402336" cy="402336"/>
          </a:xfrm>
          <a:prstGeom prst="ellipse">
            <a:avLst/>
          </a:prstGeom>
          <a:solidFill>
            <a:srgbClr val="D5B979"/>
          </a:solidFill>
          <a:ln w="12700">
            <a:solidFill>
              <a:srgbClr val="D5B979"/>
            </a:solidFill>
            <a:prstDash val="solid"/>
          </a:ln>
        </p:spPr>
        <p:txBody>
          <a:bodyPr/>
          <a:lstStyle/>
          <a:p>
            <a:endParaRPr lang="en-US"/>
          </a:p>
        </p:txBody>
      </p:sp>
      <p:sp>
        <p:nvSpPr>
          <p:cNvPr id="29" name="Text 27"/>
          <p:cNvSpPr/>
          <p:nvPr/>
        </p:nvSpPr>
        <p:spPr>
          <a:xfrm>
            <a:off x="6446520" y="4489704"/>
            <a:ext cx="402336" cy="402336"/>
          </a:xfrm>
          <a:prstGeom prst="rect">
            <a:avLst/>
          </a:prstGeom>
          <a:noFill/>
          <a:ln/>
        </p:spPr>
        <p:txBody>
          <a:bodyPr wrap="square" lIns="0" tIns="0" rIns="0" bIns="0" rtlCol="0" anchor="ctr">
            <a:normAutofit/>
          </a:bodyPr>
          <a:lstStyle/>
          <a:p>
            <a:pPr marL="0" indent="0" algn="ctr">
              <a:buNone/>
            </a:pPr>
            <a:r>
              <a:rPr lang="en-US" sz="1300" b="1" dirty="0">
                <a:solidFill>
                  <a:srgbClr val="17254E"/>
                </a:solidFill>
                <a:latin typeface="Aptos" pitchFamily="34" charset="0"/>
                <a:ea typeface="Aptos" pitchFamily="34" charset="-122"/>
                <a:cs typeface="Aptos" pitchFamily="34" charset="-120"/>
              </a:rPr>
              <a:t>✓</a:t>
            </a:r>
            <a:endParaRPr lang="en-US" sz="1300" dirty="0"/>
          </a:p>
        </p:txBody>
      </p:sp>
      <p:sp>
        <p:nvSpPr>
          <p:cNvPr id="30" name="Text 28"/>
          <p:cNvSpPr/>
          <p:nvPr/>
        </p:nvSpPr>
        <p:spPr>
          <a:xfrm>
            <a:off x="7068312" y="4443984"/>
            <a:ext cx="4526280" cy="566928"/>
          </a:xfrm>
          <a:prstGeom prst="rect">
            <a:avLst/>
          </a:prstGeom>
          <a:noFill/>
          <a:ln/>
        </p:spPr>
        <p:txBody>
          <a:bodyPr wrap="square" lIns="0" tIns="0" rIns="0" bIns="0" rtlCol="0" anchor="ctr">
            <a:normAutofit/>
          </a:bodyPr>
          <a:lstStyle/>
          <a:p>
            <a:pPr marL="0" indent="0">
              <a:buNone/>
            </a:pPr>
            <a:r>
              <a:rPr lang="en-US" sz="1450" b="1" dirty="0">
                <a:solidFill>
                  <a:srgbClr val="FFFFFF"/>
                </a:solidFill>
                <a:latin typeface="Aptos" pitchFamily="34" charset="0"/>
                <a:ea typeface="Aptos" pitchFamily="34" charset="-122"/>
                <a:cs typeface="Aptos" pitchFamily="34" charset="-120"/>
              </a:rPr>
              <a:t>Taking responsibility for consequences</a:t>
            </a:r>
            <a:endParaRPr lang="en-US" sz="1450" dirty="0"/>
          </a:p>
        </p:txBody>
      </p:sp>
      <p:sp>
        <p:nvSpPr>
          <p:cNvPr id="31" name="Shape 29">
            <a:extLst>
              <a:ext uri="{C183D7F6-B498-43B3-948B-1728B52AA6E4}">
                <adec:decorative xmlns:adec="http://schemas.microsoft.com/office/drawing/2017/decorative" val="1"/>
              </a:ext>
            </a:extLst>
          </p:cNvPr>
          <p:cNvSpPr/>
          <p:nvPr/>
        </p:nvSpPr>
        <p:spPr>
          <a:xfrm>
            <a:off x="1417320" y="5486400"/>
            <a:ext cx="82296" cy="548640"/>
          </a:xfrm>
          <a:prstGeom prst="rect">
            <a:avLst/>
          </a:prstGeom>
          <a:solidFill>
            <a:srgbClr val="D5B979"/>
          </a:solidFill>
          <a:ln w="12700">
            <a:solidFill>
              <a:srgbClr val="D5B979"/>
            </a:solidFill>
            <a:prstDash val="solid"/>
          </a:ln>
        </p:spPr>
        <p:txBody>
          <a:bodyPr/>
          <a:lstStyle/>
          <a:p>
            <a:endParaRPr lang="en-US"/>
          </a:p>
        </p:txBody>
      </p:sp>
      <p:sp>
        <p:nvSpPr>
          <p:cNvPr id="32" name="Text 30"/>
          <p:cNvSpPr/>
          <p:nvPr/>
        </p:nvSpPr>
        <p:spPr>
          <a:xfrm>
            <a:off x="1709928" y="5486400"/>
            <a:ext cx="9125712" cy="548640"/>
          </a:xfrm>
          <a:prstGeom prst="rect">
            <a:avLst/>
          </a:prstGeom>
          <a:noFill/>
          <a:ln/>
        </p:spPr>
        <p:txBody>
          <a:bodyPr wrap="square" lIns="0" tIns="0" rIns="0" bIns="0" rtlCol="0" anchor="ctr">
            <a:normAutofit fontScale="92500"/>
          </a:bodyPr>
          <a:lstStyle/>
          <a:p>
            <a:pPr marL="0" indent="0">
              <a:buNone/>
            </a:pPr>
            <a:r>
              <a:rPr lang="en-US" sz="2200" i="1" dirty="0">
                <a:solidFill>
                  <a:srgbClr val="FFFFFF"/>
                </a:solidFill>
                <a:latin typeface="Georgia" pitchFamily="34" charset="0"/>
                <a:ea typeface="Georgia" pitchFamily="34" charset="-122"/>
                <a:cs typeface="Georgia" pitchFamily="34" charset="-120"/>
              </a:rPr>
              <a:t>The faster implementation becomes, the more visible your judgment becomes.</a:t>
            </a:r>
            <a:endParaRPr lang="en-US" sz="220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7254E"/>
        </a:solidFill>
        <a:effectLst/>
      </p:bgPr>
    </p:bg>
    <p:spTree>
      <p:nvGrpSpPr>
        <p:cNvPr id="1" name=""/>
        <p:cNvGrpSpPr/>
        <p:nvPr/>
      </p:nvGrpSpPr>
      <p:grpSpPr>
        <a:xfrm>
          <a:off x="0" y="0"/>
          <a:ext cx="0" cy="0"/>
          <a:chOff x="0" y="0"/>
          <a:chExt cx="0" cy="0"/>
        </a:xfrm>
      </p:grpSpPr>
      <p:sp>
        <p:nvSpPr>
          <p:cNvPr id="19" name="Text 2">
            <a:extLst>
              <a:ext uri="{FF2B5EF4-FFF2-40B4-BE49-F238E27FC236}">
                <a16:creationId xmlns:a16="http://schemas.microsoft.com/office/drawing/2014/main" id="{B2515E2D-BE84-6770-0F27-0C567367D8B4}"/>
              </a:ext>
            </a:extLst>
          </p:cNvPr>
          <p:cNvSpPr txBox="1">
            <a:spLocks noGrp="1"/>
          </p:cNvSpPr>
          <p:nvPr>
            <p:ph type="title" idx="4294967295"/>
          </p:nvPr>
        </p:nvSpPr>
        <p:spPr>
          <a:xfrm>
            <a:off x="764842" y="-971744"/>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rgbClr val="FFFFFF"/>
                </a:solidFill>
                <a:latin typeface="Georgia" pitchFamily="34" charset="0"/>
                <a:ea typeface="Georgia" pitchFamily="34" charset="-122"/>
                <a:cs typeface="Georgia" pitchFamily="34" charset="-120"/>
              </a:rPr>
              <a:t>Conclusion</a:t>
            </a: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Shape 0">
            <a:extLst>
              <a:ext uri="{C183D7F6-B498-43B3-948B-1728B52AA6E4}">
                <adec:decorative xmlns:adec="http://schemas.microsoft.com/office/drawing/2017/decorative" val="1"/>
              </a:ext>
            </a:extLst>
          </p:cNvPr>
          <p:cNvSpPr/>
          <p:nvPr/>
        </p:nvSpPr>
        <p:spPr>
          <a:xfrm>
            <a:off x="594360" y="246888"/>
            <a:ext cx="1325880" cy="347472"/>
          </a:xfrm>
          <a:prstGeom prst="roundRect">
            <a:avLst>
              <a:gd name="adj" fmla="val 23684"/>
            </a:avLst>
          </a:prstGeom>
          <a:solidFill>
            <a:srgbClr val="AFB898"/>
          </a:solidFill>
          <a:ln w="12700">
            <a:solidFill>
              <a:srgbClr val="AFB898"/>
            </a:solidFill>
            <a:prstDash val="solid"/>
          </a:ln>
        </p:spPr>
        <p:txBody>
          <a:bodyPr/>
          <a:lstStyle/>
          <a:p>
            <a:endParaRPr lang="en-US"/>
          </a:p>
        </p:txBody>
      </p:sp>
      <p:sp>
        <p:nvSpPr>
          <p:cNvPr id="3" name="Text 1"/>
          <p:cNvSpPr/>
          <p:nvPr/>
        </p:nvSpPr>
        <p:spPr>
          <a:xfrm>
            <a:off x="667512" y="246888"/>
            <a:ext cx="1179576" cy="347472"/>
          </a:xfrm>
          <a:prstGeom prst="rect">
            <a:avLst/>
          </a:prstGeom>
          <a:solidFill>
            <a:srgbClr val="AFB898"/>
          </a:solidFill>
          <a:ln>
            <a:solidFill>
              <a:srgbClr val="AFB898"/>
            </a:solidFill>
          </a:ln>
        </p:spPr>
        <p:txBody>
          <a:bodyPr wrap="square" lIns="0" tIns="0" rIns="0" bIns="0" rtlCol="0" anchor="ctr">
            <a:normAutofit/>
          </a:bodyPr>
          <a:lstStyle/>
          <a:p>
            <a:pPr marL="0" indent="0" algn="ctr">
              <a:buNone/>
            </a:pPr>
            <a:r>
              <a:rPr lang="en-US" sz="900" b="1" kern="0" spc="120" dirty="0">
                <a:solidFill>
                  <a:srgbClr val="272727"/>
                </a:solidFill>
                <a:latin typeface="Aptos" pitchFamily="34" charset="0"/>
                <a:ea typeface="Aptos" pitchFamily="34" charset="-122"/>
                <a:cs typeface="Aptos" pitchFamily="34" charset="-120"/>
              </a:rPr>
              <a:t>CONCLUSION</a:t>
            </a:r>
            <a:endParaRPr lang="en-US" sz="900" dirty="0">
              <a:solidFill>
                <a:srgbClr val="272727"/>
              </a:solidFill>
            </a:endParaRPr>
          </a:p>
        </p:txBody>
      </p:sp>
      <p:sp>
        <p:nvSpPr>
          <p:cNvPr id="4" name="Text 2"/>
          <p:cNvSpPr>
            <a:spLocks/>
          </p:cNvSpPr>
          <p:nvPr/>
        </p:nvSpPr>
        <p:spPr>
          <a:xfrm>
            <a:off x="594360" y="640080"/>
            <a:ext cx="10972800" cy="594360"/>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Ideate. Iterate. Implement.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Text 3"/>
          <p:cNvSpPr/>
          <p:nvPr/>
        </p:nvSpPr>
        <p:spPr>
          <a:xfrm>
            <a:off x="612648" y="1243584"/>
            <a:ext cx="10789920" cy="384048"/>
          </a:xfrm>
          <a:prstGeom prst="rect">
            <a:avLst/>
          </a:prstGeom>
          <a:noFill/>
          <a:ln/>
        </p:spPr>
        <p:txBody>
          <a:bodyPr wrap="square" lIns="0" tIns="0" rIns="0" bIns="0" rtlCol="0" anchor="ctr">
            <a:normAutofit/>
          </a:bodyPr>
          <a:lstStyle/>
          <a:p>
            <a:pPr marL="0" indent="0">
              <a:buNone/>
            </a:pPr>
            <a:r>
              <a:rPr lang="en-US" sz="1500" dirty="0">
                <a:solidFill>
                  <a:srgbClr val="DCE4F2"/>
                </a:solidFill>
                <a:latin typeface="Aptos" pitchFamily="34" charset="0"/>
                <a:ea typeface="Aptos" pitchFamily="34" charset="-122"/>
                <a:cs typeface="Aptos" pitchFamily="34" charset="-120"/>
              </a:rPr>
              <a:t>AI accelerates implementation; instructional design remains fundamentally human</a:t>
            </a:r>
            <a:endParaRPr lang="en-US" sz="1500" dirty="0"/>
          </a:p>
        </p:txBody>
      </p:sp>
      <p:sp>
        <p:nvSpPr>
          <p:cNvPr id="27" name="Rounded Rectangle 26">
            <a:extLst>
              <a:ext uri="{FF2B5EF4-FFF2-40B4-BE49-F238E27FC236}">
                <a16:creationId xmlns:a16="http://schemas.microsoft.com/office/drawing/2014/main" id="{6072817F-6AFF-1E4D-547A-630355B8C508}"/>
              </a:ext>
              <a:ext uri="{C183D7F6-B498-43B3-948B-1728B52AA6E4}">
                <adec:decorative xmlns:adec="http://schemas.microsoft.com/office/drawing/2017/decorative" val="1"/>
              </a:ext>
            </a:extLst>
          </p:cNvPr>
          <p:cNvSpPr/>
          <p:nvPr/>
        </p:nvSpPr>
        <p:spPr>
          <a:xfrm>
            <a:off x="594360" y="2251904"/>
            <a:ext cx="10972800" cy="3182112"/>
          </a:xfrm>
          <a:prstGeom prst="roundRect">
            <a:avLst>
              <a:gd name="adj" fmla="val 2017"/>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5"/>
          <p:cNvSpPr/>
          <p:nvPr/>
        </p:nvSpPr>
        <p:spPr>
          <a:xfrm>
            <a:off x="1051560" y="2251903"/>
            <a:ext cx="10058400" cy="640080"/>
          </a:xfrm>
          <a:prstGeom prst="rect">
            <a:avLst/>
          </a:prstGeom>
          <a:noFill/>
          <a:ln/>
        </p:spPr>
        <p:txBody>
          <a:bodyPr wrap="square" lIns="0" tIns="0" rIns="0" bIns="0" rtlCol="0" anchor="ctr">
            <a:normAutofit/>
          </a:bodyPr>
          <a:lstStyle/>
          <a:p>
            <a:pPr marL="0" indent="0" algn="ctr">
              <a:buNone/>
            </a:pPr>
            <a:r>
              <a:rPr lang="en-US" sz="2600" b="1" dirty="0">
                <a:solidFill>
                  <a:srgbClr val="FFFFFF"/>
                </a:solidFill>
                <a:latin typeface="Georgia" pitchFamily="34" charset="0"/>
                <a:ea typeface="Georgia" pitchFamily="34" charset="-122"/>
                <a:cs typeface="Georgia" pitchFamily="34" charset="-120"/>
              </a:rPr>
              <a:t>Companion Resources</a:t>
            </a:r>
            <a:endParaRPr lang="en-US" sz="2600" dirty="0"/>
          </a:p>
        </p:txBody>
      </p:sp>
      <p:sp>
        <p:nvSpPr>
          <p:cNvPr id="9" name="Shape 7">
            <a:extLst>
              <a:ext uri="{C183D7F6-B498-43B3-948B-1728B52AA6E4}">
                <adec:decorative xmlns:adec="http://schemas.microsoft.com/office/drawing/2017/decorative" val="1"/>
              </a:ext>
            </a:extLst>
          </p:cNvPr>
          <p:cNvSpPr/>
          <p:nvPr/>
        </p:nvSpPr>
        <p:spPr>
          <a:xfrm>
            <a:off x="4213412" y="2891983"/>
            <a:ext cx="3765176" cy="0"/>
          </a:xfrm>
          <a:prstGeom prst="line">
            <a:avLst/>
          </a:prstGeom>
          <a:noFill/>
          <a:ln w="50800">
            <a:solidFill>
              <a:srgbClr val="149966"/>
            </a:solidFill>
            <a:prstDash val="solid"/>
            <a:headEnd type="none"/>
            <a:tailEnd type="none"/>
          </a:ln>
        </p:spPr>
        <p:txBody>
          <a:bodyPr/>
          <a:lstStyle/>
          <a:p>
            <a:endParaRPr lang="en-US" dirty="0"/>
          </a:p>
        </p:txBody>
      </p:sp>
      <p:sp>
        <p:nvSpPr>
          <p:cNvPr id="10" name="Shape 8">
            <a:extLst>
              <a:ext uri="{C183D7F6-B498-43B3-948B-1728B52AA6E4}">
                <adec:decorative xmlns:adec="http://schemas.microsoft.com/office/drawing/2017/decorative" val="1"/>
              </a:ext>
            </a:extLst>
          </p:cNvPr>
          <p:cNvSpPr/>
          <p:nvPr/>
        </p:nvSpPr>
        <p:spPr>
          <a:xfrm>
            <a:off x="1005840" y="3340039"/>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1" name="Text 9"/>
          <p:cNvSpPr/>
          <p:nvPr/>
        </p:nvSpPr>
        <p:spPr>
          <a:xfrm>
            <a:off x="1115568" y="3340039"/>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Interactive Design Map</a:t>
            </a:r>
            <a:endParaRPr lang="en-US" sz="1100" dirty="0"/>
          </a:p>
        </p:txBody>
      </p:sp>
      <p:sp>
        <p:nvSpPr>
          <p:cNvPr id="12" name="Shape 10">
            <a:extLst>
              <a:ext uri="{C183D7F6-B498-43B3-948B-1728B52AA6E4}">
                <adec:decorative xmlns:adec="http://schemas.microsoft.com/office/drawing/2017/decorative" val="1"/>
              </a:ext>
            </a:extLst>
          </p:cNvPr>
          <p:cNvSpPr/>
          <p:nvPr/>
        </p:nvSpPr>
        <p:spPr>
          <a:xfrm>
            <a:off x="6263640" y="3340039"/>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3" name="Text 11"/>
          <p:cNvSpPr/>
          <p:nvPr/>
        </p:nvSpPr>
        <p:spPr>
          <a:xfrm>
            <a:off x="6373368" y="3340039"/>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Interaction Design Guide</a:t>
            </a:r>
            <a:endParaRPr lang="en-US" sz="1100" dirty="0"/>
          </a:p>
        </p:txBody>
      </p:sp>
      <p:sp>
        <p:nvSpPr>
          <p:cNvPr id="14" name="Shape 12">
            <a:extLst>
              <a:ext uri="{C183D7F6-B498-43B3-948B-1728B52AA6E4}">
                <adec:decorative xmlns:adec="http://schemas.microsoft.com/office/drawing/2017/decorative" val="1"/>
              </a:ext>
            </a:extLst>
          </p:cNvPr>
          <p:cNvSpPr/>
          <p:nvPr/>
        </p:nvSpPr>
        <p:spPr>
          <a:xfrm>
            <a:off x="1005840" y="3961831"/>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5" name="Text 13"/>
          <p:cNvSpPr/>
          <p:nvPr/>
        </p:nvSpPr>
        <p:spPr>
          <a:xfrm>
            <a:off x="1115568" y="3961831"/>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Iteration Checklist</a:t>
            </a:r>
            <a:endParaRPr lang="en-US" sz="1100" dirty="0"/>
          </a:p>
        </p:txBody>
      </p:sp>
      <p:sp>
        <p:nvSpPr>
          <p:cNvPr id="16" name="Shape 14">
            <a:extLst>
              <a:ext uri="{C183D7F6-B498-43B3-948B-1728B52AA6E4}">
                <adec:decorative xmlns:adec="http://schemas.microsoft.com/office/drawing/2017/decorative" val="1"/>
              </a:ext>
            </a:extLst>
          </p:cNvPr>
          <p:cNvSpPr/>
          <p:nvPr/>
        </p:nvSpPr>
        <p:spPr>
          <a:xfrm>
            <a:off x="6263640" y="3961831"/>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17" name="Text 15"/>
          <p:cNvSpPr/>
          <p:nvPr/>
        </p:nvSpPr>
        <p:spPr>
          <a:xfrm>
            <a:off x="6373368" y="3961831"/>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rPr>
              <a:t>Placement Guide</a:t>
            </a:r>
            <a:endParaRPr lang="en-US" sz="1100" dirty="0"/>
          </a:p>
        </p:txBody>
      </p:sp>
      <p:sp>
        <p:nvSpPr>
          <p:cNvPr id="23" name="Shape 12">
            <a:extLst>
              <a:ext uri="{FF2B5EF4-FFF2-40B4-BE49-F238E27FC236}">
                <a16:creationId xmlns:a16="http://schemas.microsoft.com/office/drawing/2014/main" id="{A0406736-BDF9-1E0C-F523-1E3F22CC7006}"/>
              </a:ext>
              <a:ext uri="{C183D7F6-B498-43B3-948B-1728B52AA6E4}">
                <adec:decorative xmlns:adec="http://schemas.microsoft.com/office/drawing/2017/decorative" val="1"/>
              </a:ext>
            </a:extLst>
          </p:cNvPr>
          <p:cNvSpPr/>
          <p:nvPr/>
        </p:nvSpPr>
        <p:spPr>
          <a:xfrm>
            <a:off x="1005840" y="4583623"/>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4" name="Text 13">
            <a:extLst>
              <a:ext uri="{FF2B5EF4-FFF2-40B4-BE49-F238E27FC236}">
                <a16:creationId xmlns:a16="http://schemas.microsoft.com/office/drawing/2014/main" id="{C1443E81-F3B8-056F-0EE5-8B99BE40C61F}"/>
              </a:ext>
            </a:extLst>
          </p:cNvPr>
          <p:cNvSpPr/>
          <p:nvPr/>
        </p:nvSpPr>
        <p:spPr>
          <a:xfrm>
            <a:off x="1115568" y="4583623"/>
            <a:ext cx="4581144" cy="384048"/>
          </a:xfrm>
          <a:prstGeom prst="rect">
            <a:avLst/>
          </a:prstGeom>
          <a:noFill/>
          <a:ln/>
        </p:spPr>
        <p:txBody>
          <a:bodyPr wrap="square" lIns="0" tIns="0" rIns="0" bIns="0" rtlCol="0" anchor="ctr">
            <a:normAutofit/>
          </a:bodyPr>
          <a:lstStyle/>
          <a:p>
            <a:pPr algn="ctr"/>
            <a:r>
              <a:rPr lang="en-US" sz="1100" b="1" dirty="0">
                <a:solidFill>
                  <a:srgbClr val="17254E"/>
                </a:solidFill>
                <a:latin typeface="Aptos" pitchFamily="34" charset="0"/>
                <a:ea typeface="Aptos" pitchFamily="34" charset="-122"/>
                <a:cs typeface="Aptos" pitchFamily="34" charset="-120"/>
              </a:rPr>
              <a:t>Companion handout · A Simple Project Workflow</a:t>
            </a:r>
            <a:endParaRPr lang="en-US" sz="1100" dirty="0"/>
          </a:p>
        </p:txBody>
      </p:sp>
      <p:sp>
        <p:nvSpPr>
          <p:cNvPr id="25" name="Shape 14">
            <a:extLst>
              <a:ext uri="{FF2B5EF4-FFF2-40B4-BE49-F238E27FC236}">
                <a16:creationId xmlns:a16="http://schemas.microsoft.com/office/drawing/2014/main" id="{5EB8DFE1-1FAF-0F2B-41AD-BD07DF24E4AA}"/>
              </a:ext>
              <a:ext uri="{C183D7F6-B498-43B3-948B-1728B52AA6E4}">
                <adec:decorative xmlns:adec="http://schemas.microsoft.com/office/drawing/2017/decorative" val="1"/>
              </a:ext>
            </a:extLst>
          </p:cNvPr>
          <p:cNvSpPr/>
          <p:nvPr/>
        </p:nvSpPr>
        <p:spPr>
          <a:xfrm>
            <a:off x="6263640" y="4583623"/>
            <a:ext cx="4800600" cy="384048"/>
          </a:xfrm>
          <a:prstGeom prst="roundRect">
            <a:avLst>
              <a:gd name="adj" fmla="val 28571"/>
            </a:avLst>
          </a:prstGeom>
          <a:solidFill>
            <a:srgbClr val="F4EEDD"/>
          </a:solidFill>
          <a:ln w="12700">
            <a:solidFill>
              <a:srgbClr val="F4EEDD"/>
            </a:solidFill>
            <a:prstDash val="solid"/>
          </a:ln>
        </p:spPr>
        <p:txBody>
          <a:bodyPr/>
          <a:lstStyle/>
          <a:p>
            <a:endParaRPr lang="en-US"/>
          </a:p>
        </p:txBody>
      </p:sp>
      <p:sp>
        <p:nvSpPr>
          <p:cNvPr id="26" name="Text 15">
            <a:extLst>
              <a:ext uri="{FF2B5EF4-FFF2-40B4-BE49-F238E27FC236}">
                <a16:creationId xmlns:a16="http://schemas.microsoft.com/office/drawing/2014/main" id="{DBFE81A8-42AE-F2FC-A409-ECDF42AB6B41}"/>
              </a:ext>
            </a:extLst>
          </p:cNvPr>
          <p:cNvSpPr/>
          <p:nvPr/>
        </p:nvSpPr>
        <p:spPr>
          <a:xfrm>
            <a:off x="6373368" y="4583623"/>
            <a:ext cx="4581144" cy="384048"/>
          </a:xfrm>
          <a:prstGeom prst="rect">
            <a:avLst/>
          </a:prstGeom>
          <a:noFill/>
          <a:ln/>
        </p:spPr>
        <p:txBody>
          <a:bodyPr wrap="square" lIns="0" tIns="0" rIns="0" bIns="0" rtlCol="0" anchor="ctr">
            <a:normAutofit/>
          </a:bodyPr>
          <a:lstStyle/>
          <a:p>
            <a:pPr marL="0" indent="0" algn="ctr">
              <a:buNone/>
            </a:pPr>
            <a:r>
              <a:rPr lang="en-US" sz="1100" b="1" dirty="0">
                <a:solidFill>
                  <a:srgbClr val="17254E"/>
                </a:solidFill>
                <a:latin typeface="Aptos" pitchFamily="34" charset="0"/>
                <a:ea typeface="Aptos" pitchFamily="34" charset="-122"/>
                <a:cs typeface="Aptos" pitchFamily="34" charset="-120"/>
                <a:hlinkClick r:id="rId3"/>
              </a:rPr>
              <a:t>AWS Design Map Builder</a:t>
            </a:r>
            <a:endParaRPr lang="en-US" sz="1100" dirty="0"/>
          </a:p>
        </p:txBody>
      </p:sp>
      <p:sp>
        <p:nvSpPr>
          <p:cNvPr id="6" name="Text 4"/>
          <p:cNvSpPr/>
          <p:nvPr/>
        </p:nvSpPr>
        <p:spPr>
          <a:xfrm>
            <a:off x="594360" y="6510528"/>
            <a:ext cx="5943600" cy="164592"/>
          </a:xfrm>
          <a:prstGeom prst="rect">
            <a:avLst/>
          </a:prstGeom>
          <a:noFill/>
          <a:ln/>
        </p:spPr>
        <p:txBody>
          <a:bodyPr wrap="square" lIns="0" tIns="0" rIns="0" bIns="0" rtlCol="0" anchor="ctr">
            <a:normAutofit/>
          </a:bodyPr>
          <a:lstStyle/>
          <a:p>
            <a:pPr marL="0" indent="0">
              <a:buNone/>
            </a:pPr>
            <a:r>
              <a:rPr lang="en-US" sz="800" dirty="0">
                <a:solidFill>
                  <a:srgbClr val="BFC9DB"/>
                </a:solidFill>
                <a:latin typeface="Aptos" pitchFamily="34" charset="0"/>
                <a:ea typeface="Aptos" pitchFamily="34" charset="-122"/>
                <a:cs typeface="Aptos" pitchFamily="34" charset="-120"/>
              </a:rPr>
              <a:t>Hillsborough College  |  Summer Institute 2026</a:t>
            </a:r>
            <a:endParaRPr lang="en-US" sz="800" dirty="0"/>
          </a:p>
        </p:txBody>
      </p:sp>
      <p:sp>
        <p:nvSpPr>
          <p:cNvPr id="18" name="Text 16"/>
          <p:cNvSpPr/>
          <p:nvPr/>
        </p:nvSpPr>
        <p:spPr>
          <a:xfrm>
            <a:off x="3101340" y="6347012"/>
            <a:ext cx="5989320" cy="384048"/>
          </a:xfrm>
          <a:prstGeom prst="rect">
            <a:avLst/>
          </a:prstGeom>
          <a:noFill/>
          <a:ln/>
        </p:spPr>
        <p:txBody>
          <a:bodyPr wrap="square" lIns="0" tIns="0" rIns="0" bIns="0" rtlCol="0" anchor="ctr">
            <a:normAutofit/>
          </a:bodyPr>
          <a:lstStyle/>
          <a:p>
            <a:pPr marL="0" indent="0" algn="ctr">
              <a:buNone/>
            </a:pPr>
            <a:r>
              <a:rPr lang="en-US" sz="1400" b="1">
                <a:solidFill>
                  <a:srgbClr val="DCE4F2"/>
                </a:solidFill>
                <a:latin typeface="Aptos" pitchFamily="34" charset="0"/>
                <a:ea typeface="Aptos" pitchFamily="34" charset="-122"/>
                <a:cs typeface="Aptos" pitchFamily="34" charset="-120"/>
              </a:rPr>
              <a:t>Questions  •  Ideas  •  One more small build?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698</TotalTime>
  <Words>5155</Words>
  <Application>Microsoft Macintosh PowerPoint</Application>
  <PresentationFormat>Widescreen</PresentationFormat>
  <Paragraphs>652</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Mono</vt:lpstr>
      <vt:lpstr>Arial</vt:lpstr>
      <vt:lpstr>Georgia</vt:lpstr>
      <vt:lpstr>Office Theme</vt:lpstr>
      <vt:lpstr>Ideate. Iterate. Implement.</vt:lpstr>
      <vt:lpstr>Everything is retrieval-augmented (RAG) now</vt:lpstr>
      <vt:lpstr>Use SCORM as a media container</vt:lpstr>
      <vt:lpstr>Preserve the project as you iterate</vt:lpstr>
      <vt:lpstr>Caution: every idea has a different cost profile</vt:lpstr>
      <vt:lpstr>Which one required more prompting?</vt:lpstr>
      <vt:lpstr>Where one-shot prompting works—and where it breaks</vt:lpstr>
      <vt:lpstr>One workflow, three recurring phases</vt:lpstr>
      <vt:lpstr>Evaluate your ideas with your available assets.</vt:lpstr>
      <vt:lpstr>Four Lenses for Interactive Design</vt:lpstr>
      <vt:lpstr>Bucket 1 — Learning Context</vt:lpstr>
      <vt:lpstr>Bucket 2 — Interaction Design</vt:lpstr>
      <vt:lpstr>Bucket 3 — Expert Content</vt:lpstr>
      <vt:lpstr>Bucket 4 — Artifact Specification</vt:lpstr>
      <vt:lpstr>The same four lenses, used differently</vt:lpstr>
      <vt:lpstr>Lens 1 — Learning Context</vt:lpstr>
      <vt:lpstr>Lens 2 — Interaction Design</vt:lpstr>
      <vt:lpstr>Lens 3 — Expert Content</vt:lpstr>
      <vt:lpstr>Lens 4 — Artifact Specification</vt:lpstr>
      <vt:lpstr>The iteration loop</vt:lpstr>
      <vt:lpstr>Testing and troubleshooting through the lenses</vt:lpstr>
      <vt:lpstr>Intentional placement completes the synthetic object</vt:lpstr>
      <vt:lpstr>Now that we have a process, let’s push the envelope</vt:lpstr>
      <vt:lpstr>Art history: from one image to guided visual analysis</vt:lpstr>
      <vt:lpstr>Art history: diagnose, revise, test, and place</vt:lpstr>
      <vt:lpstr>Physics: from a source to an interactive mission planner</vt:lpstr>
      <vt:lpstr>Physics: the prompt becomes a test specification</vt:lpstr>
      <vt:lpstr>Let’s build one together</vt:lpstr>
      <vt:lpstr>If AI became perfect tomorrow, what would still be missing?</vt:lpstr>
      <vt:lpstr>Conclusion.</vt:lpstr>
    </vt:vector>
  </TitlesOfParts>
  <Company>Hillsborough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Interactive and Visual Media with AI: Ideate, Iterate, and Implement</dc:title>
  <dc:subject>Faculty workshop on AI-assisted interactive learning media</dc:subject>
  <dc:creator>Hillsborough College</dc:creator>
  <cp:lastModifiedBy>Allan, John</cp:lastModifiedBy>
  <cp:revision>12</cp:revision>
  <dcterms:created xsi:type="dcterms:W3CDTF">2026-07-16T18:57:41Z</dcterms:created>
  <dcterms:modified xsi:type="dcterms:W3CDTF">2026-07-17T07:42:52Z</dcterms:modified>
</cp:coreProperties>
</file>